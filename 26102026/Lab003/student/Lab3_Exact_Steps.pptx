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ab 3" id="{d43921bb-e43e-6b60-4769-bb121df935be}">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format as the Lab 2 exact-steps deck. Numbers shown are real runs in LLM_MODE=mock, which is deterministic. With the real model (enterprise or direct) students should see similar numbers; small differences between runs are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check_setup.py must end with 'All good' (or 'Mock mode works'). The table is the whole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lines expect invoice-summary-formatter (should load). 5 are near-misses: a purchase order, a payment, a GST question, a GST return and an invoice we send to our own client. Students may reword prompts, as long as check_lab3 stays 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edit anything yet: this run is the 'before' number. The tool sends each prompt to the model together with the four skill descriptions and asks which skill should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capitalised words are what users actually type. They are exactly what step 4a puts into the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5 missed triggers are fixed by adding the users' own words. The new false trigger is the lesson of step 4b: 'Use when' alone makes the skill too eager.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near-miss named in 'Do not use' (an invoice for our own client) no longer loads the skill. The other near-misses also stay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 mode gives exactly 30/30. With the enterprise model, 27/30 or more passes. A detailed CSV of every run is saved as trigger_results.csv.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students edit the decoy skills to raise their score: in real life other teams own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tx2"/>
                </a:solidFill>
              </a:rPr>
              <a:t>Lab 3  ·  Exact steps   |   FIL Gurgaon  ·  AI Specialisation</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lIns="0" tIns="0" rIns="0" bIns="0" rtlCol="0" anchor="ctr"/>
          <a:lstStyle/>
          <a:p>
            <a:pPr algn="l" indent="0" marL="0">
              <a:buNone/>
            </a:pPr>
            <a:r>
              <a:rPr lang="en-US" sz="4400" b="1" dirty="0">
                <a:solidFill>
                  <a:schemeClr val="bg1"/>
                </a:solidFill>
              </a:rPr>
              <a:t>Lab 3 · Load at the right time</a:t>
            </a:r>
            <a:endParaRPr lang="en-US" sz="4400" dirty="0"/>
          </a:p>
        </p:txBody>
      </p:sp>
      <p:sp>
        <p:nvSpPr>
          <p:cNvPr id="3" name="Text 0"/>
          <p:cNvSpPr/>
          <p:nvPr>
            <p:ph idx="101" type="body" hasCustomPrompt="1"/>
          </p:nvPr>
        </p:nvSpPr>
        <p:spPr>
          <a:xfrm>
            <a:off x="731520" y="3611880"/>
            <a:ext cx="10698480" cy="1097280"/>
          </a:xfrm>
          <a:prstGeom prst="rect">
            <a:avLst/>
          </a:prstGeom>
          <a:noFill/>
          <a:ln/>
        </p:spPr>
        <p:txBody>
          <a:bodyPr wrap="square" lIns="0" tIns="0" rIns="0" bIns="0" rtlCol="0" anchor="t"/>
          <a:lstStyle/>
          <a:p>
            <a:pPr indent="0" marL="0">
              <a:buNone/>
            </a:pPr>
            <a:r>
              <a:rPr lang="en-US" sz="2000" dirty="0">
                <a:solidFill>
                  <a:schemeClr val="accent1"/>
                </a:solidFill>
              </a:rPr>
              <a:t>Write 10 test prompts, measure, fix the description, measure again: from 5/10 to 10/10.</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777240"/>
          </a:xfrm>
          <a:prstGeom prst="rect">
            <a:avLst/>
          </a:prstGeom>
          <a:noFill/>
          <a:ln/>
        </p:spPr>
        <p:txBody>
          <a:bodyPr wrap="square" lIns="0" tIns="0" rIns="0" bIns="0" rtlCol="0" anchor="ctr"/>
          <a:lstStyle/>
          <a:p>
            <a:pPr algn="l" indent="0" marL="0">
              <a:buNone/>
            </a:pPr>
            <a:r>
              <a:rPr lang="en-US" sz="3200" b="1" dirty="0">
                <a:solidFill>
                  <a:schemeClr val="tx1"/>
                </a:solidFill>
              </a:rPr>
              <a:t>Before you start</a:t>
            </a:r>
            <a:endParaRPr lang="en-US" sz="3200" dirty="0"/>
          </a:p>
        </p:txBody>
      </p:sp>
      <p:sp>
        <p:nvSpPr>
          <p:cNvPr id="3" name="Shape 1"/>
          <p:cNvSpPr/>
          <p:nvPr/>
        </p:nvSpPr>
        <p:spPr>
          <a:xfrm>
            <a:off x="548640" y="1298448"/>
            <a:ext cx="384048" cy="384048"/>
          </a:xfrm>
          <a:prstGeom prst="ellipse">
            <a:avLst/>
          </a:prstGeom>
          <a:solidFill>
            <a:schemeClr val="accent4"/>
          </a:solidFill>
          <a:ln/>
        </p:spPr>
      </p:sp>
      <p:sp>
        <p:nvSpPr>
          <p:cNvPr id="4" name="Text 2"/>
          <p:cNvSpPr txBox="1"/>
          <p:nvPr/>
        </p:nvSpPr>
        <p:spPr>
          <a:xfrm>
            <a:off x="548640" y="12984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51560" y="1280160"/>
            <a:ext cx="10515600" cy="411480"/>
          </a:xfrm>
          <a:prstGeom prst="rect">
            <a:avLst/>
          </a:prstGeom>
          <a:noFill/>
          <a:ln/>
        </p:spPr>
        <p:txBody>
          <a:bodyPr wrap="square" lIns="0" tIns="0" rIns="0" bIns="0" rtlCol="0" anchor="ctr"/>
          <a:lstStyle/>
          <a:p>
            <a:pPr indent="0" marL="0">
              <a:buNone/>
            </a:pPr>
            <a:r>
              <a:rPr lang="en-US" sz="1500" b="1" dirty="0">
                <a:solidFill>
                  <a:schemeClr val="tx1"/>
                </a:solidFill>
              </a:rPr>
              <a:t>Open a terminal in the Lab 3 student folder</a:t>
            </a:r>
            <a:endParaRPr lang="en-US" sz="1500" dirty="0"/>
          </a:p>
        </p:txBody>
      </p:sp>
      <p:sp>
        <p:nvSpPr>
          <p:cNvPr id="6" name="Text 4"/>
          <p:cNvSpPr txBox="1"/>
          <p:nvPr/>
        </p:nvSpPr>
        <p:spPr>
          <a:xfrm>
            <a:off x="1051560" y="1691640"/>
            <a:ext cx="10515600" cy="640080"/>
          </a:xfrm>
          <a:prstGeom prst="rect">
            <a:avLst/>
          </a:prstGeom>
          <a:noFill/>
          <a:ln/>
        </p:spPr>
        <p:txBody>
          <a:bodyPr wrap="square" lIns="0" tIns="0" rIns="0" bIns="0" rtlCol="0" anchor="t"/>
          <a:lstStyle/>
          <a:p>
            <a:pPr indent="0" marL="0">
              <a:buNone/>
            </a:pPr>
            <a:r>
              <a:rPr lang="en-US" sz="1400" dirty="0">
                <a:solidFill>
                  <a:schemeClr val="tx2"/>
                </a:solidFill>
              </a:rPr>
              <a:t>The folder that contains  skills/  evals/  tools/</a:t>
            </a:r>
            <a:endParaRPr lang="en-US" sz="1400" dirty="0"/>
          </a:p>
        </p:txBody>
      </p:sp>
      <p:sp>
        <p:nvSpPr>
          <p:cNvPr id="7" name="Shape 5"/>
          <p:cNvSpPr/>
          <p:nvPr/>
        </p:nvSpPr>
        <p:spPr>
          <a:xfrm>
            <a:off x="548640" y="2212848"/>
            <a:ext cx="384048" cy="384048"/>
          </a:xfrm>
          <a:prstGeom prst="ellipse">
            <a:avLst/>
          </a:prstGeom>
          <a:solidFill>
            <a:schemeClr val="accent4"/>
          </a:solidFill>
          <a:ln/>
        </p:spPr>
      </p:sp>
      <p:sp>
        <p:nvSpPr>
          <p:cNvPr id="8" name="Text 6"/>
          <p:cNvSpPr txBox="1"/>
          <p:nvPr/>
        </p:nvSpPr>
        <p:spPr>
          <a:xfrm>
            <a:off x="54864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1051560" y="2194560"/>
            <a:ext cx="10515600" cy="411480"/>
          </a:xfrm>
          <a:prstGeom prst="rect">
            <a:avLst/>
          </a:prstGeom>
          <a:noFill/>
          <a:ln/>
        </p:spPr>
        <p:txBody>
          <a:bodyPr wrap="square" lIns="0" tIns="0" rIns="0" bIns="0" rtlCol="0" anchor="ctr"/>
          <a:lstStyle/>
          <a:p>
            <a:pPr indent="0" marL="0">
              <a:buNone/>
            </a:pPr>
            <a:r>
              <a:rPr lang="en-US" sz="1500" b="1" dirty="0">
                <a:solidFill>
                  <a:schemeClr val="tx1"/>
                </a:solidFill>
              </a:rPr>
              <a:t>Install once</a:t>
            </a:r>
            <a:endParaRPr lang="en-US" sz="1500" dirty="0"/>
          </a:p>
        </p:txBody>
      </p:sp>
      <p:sp>
        <p:nvSpPr>
          <p:cNvPr id="10" name="Text 8"/>
          <p:cNvSpPr txBox="1"/>
          <p:nvPr/>
        </p:nvSpPr>
        <p:spPr>
          <a:xfrm>
            <a:off x="1051560" y="2606040"/>
            <a:ext cx="10515600" cy="64008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pip install -r tools/requirements.txt</a:t>
            </a:r>
            <a:endParaRPr lang="en-US" sz="1200" dirty="0"/>
          </a:p>
        </p:txBody>
      </p:sp>
      <p:sp>
        <p:nvSpPr>
          <p:cNvPr id="11" name="Shape 9"/>
          <p:cNvSpPr/>
          <p:nvPr/>
        </p:nvSpPr>
        <p:spPr>
          <a:xfrm>
            <a:off x="548640" y="3127248"/>
            <a:ext cx="384048" cy="384048"/>
          </a:xfrm>
          <a:prstGeom prst="ellipse">
            <a:avLst/>
          </a:prstGeom>
          <a:solidFill>
            <a:schemeClr val="accent4"/>
          </a:solidFill>
          <a:ln/>
        </p:spPr>
      </p:sp>
      <p:sp>
        <p:nvSpPr>
          <p:cNvPr id="12" name="Text 10"/>
          <p:cNvSpPr txBox="1"/>
          <p:nvPr/>
        </p:nvSpPr>
        <p:spPr>
          <a:xfrm>
            <a:off x="548640" y="31272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051560" y="3108960"/>
            <a:ext cx="4937760" cy="411480"/>
          </a:xfrm>
          <a:prstGeom prst="rect">
            <a:avLst/>
          </a:prstGeom>
          <a:noFill/>
          <a:ln/>
        </p:spPr>
        <p:txBody>
          <a:bodyPr wrap="square" lIns="0" tIns="0" rIns="0" bIns="0" rtlCol="0" anchor="ctr"/>
          <a:lstStyle/>
          <a:p>
            <a:pPr indent="0" marL="0">
              <a:buNone/>
            </a:pPr>
            <a:r>
              <a:rPr lang="en-US" sz="1500" b="1" dirty="0">
                <a:solidFill>
                  <a:schemeClr val="tx1"/>
                </a:solidFill>
              </a:rPr>
              <a:t>Copy your .env from Lab 1 into this folder</a:t>
            </a:r>
            <a:endParaRPr lang="en-US" sz="1500" dirty="0"/>
          </a:p>
        </p:txBody>
      </p:sp>
      <p:sp>
        <p:nvSpPr>
          <p:cNvPr id="14" name="Text 12"/>
          <p:cNvSpPr txBox="1"/>
          <p:nvPr/>
        </p:nvSpPr>
        <p:spPr>
          <a:xfrm>
            <a:off x="1051560" y="3520440"/>
            <a:ext cx="4937760" cy="685800"/>
          </a:xfrm>
          <a:prstGeom prst="rect">
            <a:avLst/>
          </a:prstGeom>
          <a:noFill/>
          <a:ln/>
        </p:spPr>
        <p:txBody>
          <a:bodyPr wrap="square" lIns="0" tIns="0" rIns="0" bIns="0" rtlCol="0" anchor="t"/>
          <a:lstStyle/>
          <a:p>
            <a:pPr indent="0" marL="0">
              <a:buNone/>
            </a:pPr>
            <a:r>
              <a:rPr lang="en-US" sz="1400" dirty="0">
                <a:solidFill>
                  <a:schemeClr val="tx2"/>
                </a:solidFill>
              </a:rPr>
              <a:t>No credentials? Put  LLM_MODE=mock  in .env (works offline)</a:t>
            </a:r>
            <a:endParaRPr lang="en-US" sz="1400" dirty="0"/>
          </a:p>
        </p:txBody>
      </p:sp>
      <p:sp>
        <p:nvSpPr>
          <p:cNvPr id="15" name="Shape 13"/>
          <p:cNvSpPr/>
          <p:nvPr/>
        </p:nvSpPr>
        <p:spPr>
          <a:xfrm>
            <a:off x="548640" y="4178808"/>
            <a:ext cx="384048" cy="384048"/>
          </a:xfrm>
          <a:prstGeom prst="ellipse">
            <a:avLst/>
          </a:prstGeom>
          <a:solidFill>
            <a:schemeClr val="accent4"/>
          </a:solidFill>
          <a:ln/>
        </p:spPr>
      </p:sp>
      <p:sp>
        <p:nvSpPr>
          <p:cNvPr id="16" name="Text 14"/>
          <p:cNvSpPr txBox="1"/>
          <p:nvPr/>
        </p:nvSpPr>
        <p:spPr>
          <a:xfrm>
            <a:off x="548640" y="41788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5"/>
          <p:cNvSpPr txBox="1"/>
          <p:nvPr/>
        </p:nvSpPr>
        <p:spPr>
          <a:xfrm>
            <a:off x="1051560" y="4160520"/>
            <a:ext cx="4572000" cy="411480"/>
          </a:xfrm>
          <a:prstGeom prst="rect">
            <a:avLst/>
          </a:prstGeom>
          <a:noFill/>
          <a:ln/>
        </p:spPr>
        <p:txBody>
          <a:bodyPr wrap="square" lIns="0" tIns="0" rIns="0" bIns="0" rtlCol="0" anchor="ctr"/>
          <a:lstStyle/>
          <a:p>
            <a:pPr indent="0" marL="0">
              <a:buNone/>
            </a:pPr>
            <a:r>
              <a:rPr lang="en-US" sz="1500" b="1" dirty="0">
                <a:solidFill>
                  <a:schemeClr val="tx1"/>
                </a:solidFill>
              </a:rPr>
              <a:t>Check the connection</a:t>
            </a:r>
            <a:endParaRPr lang="en-US" sz="1500" dirty="0"/>
          </a:p>
        </p:txBody>
      </p:sp>
      <p:sp>
        <p:nvSpPr>
          <p:cNvPr id="18" name="Text 16"/>
          <p:cNvSpPr txBox="1"/>
          <p:nvPr/>
        </p:nvSpPr>
        <p:spPr>
          <a:xfrm>
            <a:off x="1051560" y="4572000"/>
            <a:ext cx="4572000" cy="64008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python tools/check_setup.py</a:t>
            </a:r>
            <a:endParaRPr lang="en-US" sz="1200" dirty="0"/>
          </a:p>
        </p:txBody>
      </p:sp>
      <p:sp>
        <p:nvSpPr>
          <p:cNvPr id="19" name="Shape 17"/>
          <p:cNvSpPr/>
          <p:nvPr/>
        </p:nvSpPr>
        <p:spPr>
          <a:xfrm>
            <a:off x="548640" y="5138928"/>
            <a:ext cx="384048" cy="384048"/>
          </a:xfrm>
          <a:prstGeom prst="ellipse">
            <a:avLst/>
          </a:prstGeom>
          <a:solidFill>
            <a:schemeClr val="accent4"/>
          </a:solidFill>
          <a:ln/>
        </p:spPr>
      </p:sp>
      <p:sp>
        <p:nvSpPr>
          <p:cNvPr id="20" name="Text 18"/>
          <p:cNvSpPr txBox="1"/>
          <p:nvPr/>
        </p:nvSpPr>
        <p:spPr>
          <a:xfrm>
            <a:off x="548640" y="51389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1" name="Text 19"/>
          <p:cNvSpPr txBox="1"/>
          <p:nvPr/>
        </p:nvSpPr>
        <p:spPr>
          <a:xfrm>
            <a:off x="1051560" y="5120640"/>
            <a:ext cx="4572000" cy="411480"/>
          </a:xfrm>
          <a:prstGeom prst="rect">
            <a:avLst/>
          </a:prstGeom>
          <a:noFill/>
          <a:ln/>
        </p:spPr>
        <p:txBody>
          <a:bodyPr wrap="square" lIns="0" tIns="0" rIns="0" bIns="0" rtlCol="0" anchor="ctr"/>
          <a:lstStyle/>
          <a:p>
            <a:pPr indent="0" marL="0">
              <a:buNone/>
            </a:pPr>
            <a:r>
              <a:rPr lang="en-US" sz="1500" b="1" dirty="0">
                <a:solidFill>
                  <a:schemeClr val="tx1"/>
                </a:solidFill>
              </a:rPr>
              <a:t>After EVERY edit: [OK] or what to fix</a:t>
            </a:r>
            <a:endParaRPr lang="en-US" sz="1500" dirty="0"/>
          </a:p>
        </p:txBody>
      </p:sp>
      <p:sp>
        <p:nvSpPr>
          <p:cNvPr id="22" name="Text 20"/>
          <p:cNvSpPr txBox="1"/>
          <p:nvPr/>
        </p:nvSpPr>
        <p:spPr>
          <a:xfrm>
            <a:off x="1051560" y="5532120"/>
            <a:ext cx="4572000" cy="64008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python tools/check_lab3.py</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035040" y="3108960"/>
          <a:ext cx="5623560" cy="914400"/>
        </p:xfrm>
        <a:graphic>
          <a:graphicData uri="http://schemas.openxmlformats.org/drawingml/2006/table">
            <a:tbl>
              <a:tblPr/>
              <a:tblGrid>
                <a:gridCol w="640080"/>
                <a:gridCol w="2971800"/>
                <a:gridCol w="2011680"/>
              </a:tblGrid>
              <a:tr h="393192">
                <a:tc>
                  <a:txBody>
                    <a:bodyPr/>
                    <a:lstStyle/>
                    <a:p>
                      <a:pPr indent="0" marL="0">
                        <a:buNone/>
                      </a:pPr>
                      <a:r>
                        <a:rPr lang="en-US" sz="1200" b="1" dirty="0">
                          <a:solidFill>
                            <a:schemeClr val="bg1"/>
                          </a:solidFill>
                        </a:rPr>
                        <a:t>Step</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200" b="1" dirty="0">
                          <a:solidFill>
                            <a:schemeClr val="bg1"/>
                          </a:solidFill>
                        </a:rPr>
                        <a:t>What you do</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200" b="1" dirty="0">
                          <a:solidFill>
                            <a:schemeClr val="bg1"/>
                          </a:solidFill>
                        </a:rPr>
                        <a:t>You should see</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tx1"/>
                    </a:solidFill>
                  </a:tcPr>
                </a:tc>
              </a:tr>
              <a:tr h="393192">
                <a:tc>
                  <a:txBody>
                    <a:bodyPr/>
                    <a:lstStyle/>
                    <a:p>
                      <a:pPr indent="0" marL="0">
                        <a:buNone/>
                      </a:pPr>
                      <a:r>
                        <a:rPr lang="en-US" sz="1200" b="1" dirty="0">
                          <a:solidFill>
                            <a:schemeClr val="tx1"/>
                          </a:solidFill>
                        </a:rPr>
                        <a:t>1</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Create evals/triggers.jsonl</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b="1" dirty="0">
                          <a:solidFill>
                            <a:schemeClr val="accent5"/>
                          </a:solidFill>
                        </a:rPr>
                        <a:t>[OK] Step 1</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indent="0" marL="0">
                        <a:buNone/>
                      </a:pPr>
                      <a:r>
                        <a:rPr lang="en-US" sz="1200" b="1" dirty="0">
                          <a:solidFill>
                            <a:schemeClr val="tx1"/>
                          </a:solidFill>
                        </a:rPr>
                        <a:t>2</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Baseline run</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b="1" dirty="0">
                          <a:solidFill>
                            <a:schemeClr val="accent5"/>
                          </a:solidFill>
                        </a:rPr>
                        <a:t>Score 5/10</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indent="0" marL="0">
                        <a:buNone/>
                      </a:pPr>
                      <a:r>
                        <a:rPr lang="en-US" sz="1200" b="1" dirty="0">
                          <a:solidFill>
                            <a:schemeClr val="tx1"/>
                          </a:solidFill>
                        </a:rPr>
                        <a:t>3</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Read the result</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b="1" dirty="0">
                          <a:solidFill>
                            <a:schemeClr val="accent5"/>
                          </a:solidFill>
                        </a:rPr>
                        <a:t>5 missed triggers</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indent="0" marL="0">
                        <a:buNone/>
                      </a:pPr>
                      <a:r>
                        <a:rPr lang="en-US" sz="1200" b="1" dirty="0">
                          <a:solidFill>
                            <a:schemeClr val="tx1"/>
                          </a:solidFill>
                        </a:rPr>
                        <a:t>4a</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Add 'Use when …'</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b="1" dirty="0">
                          <a:solidFill>
                            <a:schemeClr val="accent5"/>
                          </a:solidFill>
                        </a:rPr>
                        <a:t>Score 9/10</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indent="0" marL="0">
                        <a:buNone/>
                      </a:pPr>
                      <a:r>
                        <a:rPr lang="en-US" sz="1200" b="1" dirty="0">
                          <a:solidFill>
                            <a:schemeClr val="tx1"/>
                          </a:solidFill>
                        </a:rPr>
                        <a:t>4b</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Add 'Do not use …'</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b="1" dirty="0">
                          <a:solidFill>
                            <a:schemeClr val="accent5"/>
                          </a:solidFill>
                        </a:rPr>
                        <a:t>Score 10/10</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indent="0" marL="0">
                        <a:buNone/>
                      </a:pPr>
                      <a:r>
                        <a:rPr lang="en-US" sz="1200" b="1" dirty="0">
                          <a:solidFill>
                            <a:schemeClr val="tx1"/>
                          </a:solidFill>
                        </a:rPr>
                        <a:t>5</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Final run x3, post score</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b="1" dirty="0">
                          <a:solidFill>
                            <a:schemeClr val="accent5"/>
                          </a:solidFill>
                        </a:rPr>
                        <a:t>30/30</a:t>
                      </a:r>
                      <a:endParaRPr lang="en-US" sz="1200" dirty="0"/>
                    </a:p>
                  </a:txBody>
                  <a:tcPr marL="73152" marR="73152" marT="27432" marB="27432"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777240"/>
          </a:xfrm>
          <a:prstGeom prst="rect">
            <a:avLst/>
          </a:prstGeom>
          <a:noFill/>
          <a:ln/>
        </p:spPr>
        <p:txBody>
          <a:bodyPr wrap="square" lIns="0" tIns="0" rIns="0" bIns="0" rtlCol="0" anchor="ctr"/>
          <a:lstStyle/>
          <a:p>
            <a:pPr algn="l" indent="0" marL="0">
              <a:buNone/>
            </a:pPr>
            <a:r>
              <a:rPr lang="en-US" sz="3200" b="1" dirty="0">
                <a:solidFill>
                  <a:schemeClr val="tx1"/>
                </a:solidFill>
              </a:rPr>
              <a:t>Step 1 · Create the test prompts</a:t>
            </a:r>
            <a:endParaRPr lang="en-US" sz="3200" dirty="0"/>
          </a:p>
        </p:txBody>
      </p:sp>
      <p:sp>
        <p:nvSpPr>
          <p:cNvPr id="3" name="Shape 1"/>
          <p:cNvSpPr/>
          <p:nvPr/>
        </p:nvSpPr>
        <p:spPr>
          <a:xfrm>
            <a:off x="548640" y="1188720"/>
            <a:ext cx="11109960" cy="457200"/>
          </a:xfrm>
          <a:prstGeom prst="roundRect">
            <a:avLst>
              <a:gd name="adj" fmla="val 20000"/>
            </a:avLst>
          </a:prstGeom>
          <a:solidFill>
            <a:schemeClr val="accent1"/>
          </a:solidFill>
          <a:ln/>
        </p:spPr>
      </p:sp>
      <p:sp>
        <p:nvSpPr>
          <p:cNvPr id="4" name="Text 2"/>
          <p:cNvSpPr txBox="1"/>
          <p:nvPr/>
        </p:nvSpPr>
        <p:spPr>
          <a:xfrm>
            <a:off x="731520" y="1188720"/>
            <a:ext cx="10789920" cy="457200"/>
          </a:xfrm>
          <a:prstGeom prst="rect">
            <a:avLst/>
          </a:prstGeom>
          <a:noFill/>
          <a:ln/>
        </p:spPr>
        <p:txBody>
          <a:bodyPr wrap="square" lIns="0" tIns="0" rIns="0" bIns="0" rtlCol="0" anchor="ctr"/>
          <a:lstStyle/>
          <a:p>
            <a:pPr indent="0" marL="0">
              <a:buNone/>
            </a:pPr>
            <a:r>
              <a:rPr lang="en-US" sz="1500" b="1" dirty="0">
                <a:solidFill>
                  <a:schemeClr val="tx1"/>
                </a:solidFill>
              </a:rPr>
              <a:t>File:  </a:t>
            </a:r>
            <a:pPr indent="0" marL="0">
              <a:buNone/>
            </a:pPr>
            <a:r>
              <a:rPr lang="en-US" sz="1500" b="1" dirty="0">
                <a:solidFill>
                  <a:schemeClr val="tx1"/>
                </a:solidFill>
                <a:latin typeface="Courier New" pitchFamily="34" charset="0"/>
                <a:ea typeface="Courier New" pitchFamily="34" charset="-122"/>
                <a:cs typeface="Courier New" pitchFamily="34" charset="-120"/>
              </a:rPr>
              <a:t>evals/triggers.jsonl</a:t>
            </a:r>
            <a:endParaRPr lang="en-US" sz="1500" dirty="0"/>
          </a:p>
        </p:txBody>
      </p:sp>
      <p:sp>
        <p:nvSpPr>
          <p:cNvPr id="5" name="Text 3"/>
          <p:cNvSpPr txBox="1"/>
          <p:nvPr/>
        </p:nvSpPr>
        <p:spPr>
          <a:xfrm>
            <a:off x="548640" y="1783080"/>
            <a:ext cx="11109960" cy="365760"/>
          </a:xfrm>
          <a:prstGeom prst="rect">
            <a:avLst/>
          </a:prstGeom>
          <a:noFill/>
          <a:ln/>
        </p:spPr>
        <p:txBody>
          <a:bodyPr wrap="square" lIns="0" tIns="0" rIns="0" bIns="0" rtlCol="0" anchor="ctr"/>
          <a:lstStyle/>
          <a:p>
            <a:pPr indent="0" marL="0">
              <a:buNone/>
            </a:pPr>
            <a:r>
              <a:rPr lang="en-US" sz="1400" b="1" dirty="0">
                <a:solidFill>
                  <a:schemeClr val="tx1"/>
                </a:solidFill>
              </a:rPr>
              <a:t>1  Copy the template to a new file (pick your terminal):</a:t>
            </a:r>
            <a:endParaRPr lang="en-US" sz="1400" dirty="0"/>
          </a:p>
        </p:txBody>
      </p:sp>
      <p:sp>
        <p:nvSpPr>
          <p:cNvPr id="6" name="Shape 4"/>
          <p:cNvSpPr/>
          <p:nvPr/>
        </p:nvSpPr>
        <p:spPr>
          <a:xfrm>
            <a:off x="548640" y="2148840"/>
            <a:ext cx="11109960" cy="640080"/>
          </a:xfrm>
          <a:prstGeom prst="roundRect">
            <a:avLst>
              <a:gd name="adj" fmla="val 11429"/>
            </a:avLst>
          </a:prstGeom>
          <a:solidFill>
            <a:schemeClr val="accent6"/>
          </a:solidFill>
          <a:ln/>
        </p:spPr>
      </p:sp>
      <p:sp>
        <p:nvSpPr>
          <p:cNvPr id="7" name="Text 5"/>
          <p:cNvSpPr txBox="1"/>
          <p:nvPr/>
        </p:nvSpPr>
        <p:spPr>
          <a:xfrm>
            <a:off x="731520" y="2148840"/>
            <a:ext cx="10789920" cy="640080"/>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bash / Git Bash :  cp evals/triggers_template.jsonl evals/triggers.jsonl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Windows cmd    :  copy evals\triggers_template.jsonl evals\triggers.jsonl</a:t>
            </a:r>
            <a:endParaRPr lang="en-US" sz="1200" dirty="0"/>
          </a:p>
        </p:txBody>
      </p:sp>
      <p:sp>
        <p:nvSpPr>
          <p:cNvPr id="8" name="Text 6"/>
          <p:cNvSpPr txBox="1"/>
          <p:nvPr/>
        </p:nvSpPr>
        <p:spPr>
          <a:xfrm>
            <a:off x="548640" y="2834640"/>
            <a:ext cx="11109960" cy="365760"/>
          </a:xfrm>
          <a:prstGeom prst="rect">
            <a:avLst/>
          </a:prstGeom>
          <a:noFill/>
          <a:ln/>
        </p:spPr>
        <p:txBody>
          <a:bodyPr wrap="square" lIns="0" tIns="0" rIns="0" bIns="0" rtlCol="0" anchor="ctr"/>
          <a:lstStyle/>
          <a:p>
            <a:pPr indent="0" marL="0">
              <a:buNone/>
            </a:pPr>
            <a:r>
              <a:rPr lang="en-US" sz="1400" b="1" dirty="0">
                <a:solidFill>
                  <a:schemeClr val="tx1"/>
                </a:solidFill>
              </a:rPr>
              <a:t>2  Open evals/triggers.jsonl. It has 3 lines. Paste these 7 lines at the end (one prompt per line):</a:t>
            </a:r>
            <a:endParaRPr lang="en-US" sz="1400" dirty="0"/>
          </a:p>
        </p:txBody>
      </p:sp>
      <p:sp>
        <p:nvSpPr>
          <p:cNvPr id="9" name="code"/>
          <p:cNvSpPr/>
          <p:nvPr/>
        </p:nvSpPr>
        <p:spPr>
          <a:xfrm>
            <a:off x="548640" y="3246120"/>
            <a:ext cx="11109960" cy="2011680"/>
          </a:xfrm>
          <a:prstGeom prst="roundRect">
            <a:avLst>
              <a:gd name="adj" fmla="val 4545"/>
            </a:avLst>
          </a:prstGeom>
          <a:solidFill>
            <a:schemeClr val="tx1"/>
          </a:solidFill>
          <a:ln/>
        </p:spPr>
      </p:sp>
      <p:sp>
        <p:nvSpPr>
          <p:cNvPr id="10" name="Text 8"/>
          <p:cNvSpPr txBox="1"/>
          <p:nvPr/>
        </p:nvSpPr>
        <p:spPr>
          <a:xfrm>
            <a:off x="777240" y="3410712"/>
            <a:ext cx="10652760" cy="1682496"/>
          </a:xfrm>
          <a:prstGeom prst="rect">
            <a:avLst/>
          </a:prstGeom>
          <a:noFill/>
          <a:ln/>
        </p:spPr>
        <p:txBody>
          <a:bodyPr wrap="square" lIns="0" tIns="0" rIns="0" bIns="0" rtlCol="0" anchor="t"/>
          <a:lstStyle/>
          <a:p>
            <a:pPr indent="0" marL="0">
              <a:buNone/>
            </a:pPr>
            <a:r>
              <a:rPr lang="en-US" sz="900" dirty="0">
                <a:solidFill>
                  <a:schemeClr val="bg1"/>
                </a:solidFill>
                <a:latin typeface="Courier New" pitchFamily="34" charset="0"/>
                <a:ea typeface="Courier New" pitchFamily="34" charset="-122"/>
                <a:cs typeface="Courier New" pitchFamily="34" charset="-120"/>
              </a:rPr>
              <a:t>{"prompt": "Check if the totals on this vendor invoice add up", "expected": "invoice-summary-formatter"}</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{"prompt": "Format this tax invoice from NetLink into our AP summary", "expected": "invoice-summary-formatter"}</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{"prompt": "Vendor sent invoice GCC-1187, please put it in the standard invoice summary", "expected": "invoice-summary-formatter"}</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{"prompt": "Can you review this supplier bill and flag anything missing before I approve it?", "expected": "invoice-summary-formatter"}</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{"prompt": "Schedule payment for invoice SOS/2026/0412 next Friday", "expected": "payment-scheduler"}</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{"prompt": "What GST rate applies to catering services?", "expected": "gst-faq-answerer"}</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{"prompt": "Create an invoice to bill our client for consulting work", "expected": "NONE"}</a:t>
            </a:r>
            <a:endParaRPr lang="en-US" sz="900" dirty="0"/>
          </a:p>
        </p:txBody>
      </p:sp>
      <p:sp>
        <p:nvSpPr>
          <p:cNvPr id="11" name="Text 9"/>
          <p:cNvSpPr txBox="1"/>
          <p:nvPr/>
        </p:nvSpPr>
        <p:spPr>
          <a:xfrm>
            <a:off x="548640" y="5349240"/>
            <a:ext cx="11109960" cy="365760"/>
          </a:xfrm>
          <a:prstGeom prst="rect">
            <a:avLst/>
          </a:prstGeom>
          <a:noFill/>
          <a:ln/>
        </p:spPr>
        <p:txBody>
          <a:bodyPr wrap="square" lIns="0" tIns="0" rIns="0" bIns="0" rtlCol="0" anchor="ctr"/>
          <a:lstStyle/>
          <a:p>
            <a:pPr indent="0" marL="0">
              <a:buNone/>
            </a:pPr>
            <a:r>
              <a:rPr lang="en-US" sz="1400" b="1" dirty="0">
                <a:solidFill>
                  <a:schemeClr val="accent5"/>
                </a:solidFill>
              </a:rPr>
              <a:t>3  Save, then run:   python tools/check_lab3.py      →  [OK] Step 1  triggers.jsonl has 10 prompts</a:t>
            </a:r>
            <a:endParaRPr lang="en-US" sz="1400" dirty="0"/>
          </a:p>
        </p:txBody>
      </p:sp>
      <p:sp>
        <p:nvSpPr>
          <p:cNvPr id="12" name="Text 10"/>
          <p:cNvSpPr txBox="1"/>
          <p:nvPr/>
        </p:nvSpPr>
        <p:spPr>
          <a:xfrm>
            <a:off x="548640" y="5715000"/>
            <a:ext cx="11109960" cy="365760"/>
          </a:xfrm>
          <a:prstGeom prst="rect">
            <a:avLst/>
          </a:prstGeom>
          <a:noFill/>
          <a:ln/>
        </p:spPr>
        <p:txBody>
          <a:bodyPr wrap="square" lIns="0" tIns="0" rIns="0" bIns="0" rtlCol="0" anchor="ctr"/>
          <a:lstStyle/>
          <a:p>
            <a:pPr indent="0" marL="0">
              <a:buNone/>
            </a:pPr>
            <a:r>
              <a:rPr lang="en-US" sz="1300" i="1" dirty="0">
                <a:solidFill>
                  <a:schemeClr val="tx2"/>
                </a:solidFill>
              </a:rPr>
              <a:t>Format of every line:  {"prompt": "what a user types", "expected": "skill that should load, or NONE"}</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777240"/>
          </a:xfrm>
          <a:prstGeom prst="rect">
            <a:avLst/>
          </a:prstGeom>
          <a:noFill/>
          <a:ln/>
        </p:spPr>
        <p:txBody>
          <a:bodyPr wrap="square" lIns="0" tIns="0" rIns="0" bIns="0" rtlCol="0" anchor="ctr"/>
          <a:lstStyle/>
          <a:p>
            <a:pPr algn="l" indent="0" marL="0">
              <a:buNone/>
            </a:pPr>
            <a:r>
              <a:rPr lang="en-US" sz="3200" b="1" dirty="0">
                <a:solidFill>
                  <a:schemeClr val="tx1"/>
                </a:solidFill>
              </a:rPr>
              <a:t>Step 2 · Measure the starting point</a:t>
            </a:r>
            <a:endParaRPr lang="en-US" sz="3200" dirty="0"/>
          </a:p>
        </p:txBody>
      </p:sp>
      <p:sp>
        <p:nvSpPr>
          <p:cNvPr id="3" name="Text 1"/>
          <p:cNvSpPr txBox="1"/>
          <p:nvPr/>
        </p:nvSpPr>
        <p:spPr>
          <a:xfrm>
            <a:off x="548640" y="1234440"/>
            <a:ext cx="11109960" cy="365760"/>
          </a:xfrm>
          <a:prstGeom prst="rect">
            <a:avLst/>
          </a:prstGeom>
          <a:noFill/>
          <a:ln/>
        </p:spPr>
        <p:txBody>
          <a:bodyPr wrap="square" lIns="0" tIns="0" rIns="0" bIns="0" rtlCol="0" anchor="ctr"/>
          <a:lstStyle/>
          <a:p>
            <a:pPr indent="0" marL="0">
              <a:buNone/>
            </a:pPr>
            <a:r>
              <a:rPr lang="en-US" sz="1400" b="1" dirty="0">
                <a:solidFill>
                  <a:schemeClr val="tx1"/>
                </a:solidFill>
              </a:rPr>
              <a:t>1  Run the trigger eval (one line):</a:t>
            </a:r>
            <a:endParaRPr lang="en-US" sz="1400" dirty="0"/>
          </a:p>
        </p:txBody>
      </p:sp>
      <p:sp>
        <p:nvSpPr>
          <p:cNvPr id="4" name="Shape 2"/>
          <p:cNvSpPr/>
          <p:nvPr/>
        </p:nvSpPr>
        <p:spPr>
          <a:xfrm>
            <a:off x="548640" y="1627632"/>
            <a:ext cx="11109960" cy="502920"/>
          </a:xfrm>
          <a:prstGeom prst="roundRect">
            <a:avLst>
              <a:gd name="adj" fmla="val 14545"/>
            </a:avLst>
          </a:prstGeom>
          <a:solidFill>
            <a:schemeClr val="accent6"/>
          </a:solidFill>
          <a:ln/>
        </p:spPr>
      </p:sp>
      <p:sp>
        <p:nvSpPr>
          <p:cNvPr id="5" name="Text 3"/>
          <p:cNvSpPr txBox="1"/>
          <p:nvPr/>
        </p:nvSpPr>
        <p:spPr>
          <a:xfrm>
            <a:off x="731520" y="1627632"/>
            <a:ext cx="10789920" cy="502920"/>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python tools/trigger_eval.py --skills skills --evals evals/triggers.jsonl --target invoice-summary-formatter</a:t>
            </a:r>
            <a:endParaRPr lang="en-US" sz="1100" dirty="0"/>
          </a:p>
        </p:txBody>
      </p:sp>
      <p:sp>
        <p:nvSpPr>
          <p:cNvPr id="6" name="Text 4"/>
          <p:cNvSpPr txBox="1"/>
          <p:nvPr/>
        </p:nvSpPr>
        <p:spPr>
          <a:xfrm>
            <a:off x="548640" y="2286000"/>
            <a:ext cx="11109960" cy="365760"/>
          </a:xfrm>
          <a:prstGeom prst="rect">
            <a:avLst/>
          </a:prstGeom>
          <a:noFill/>
          <a:ln/>
        </p:spPr>
        <p:txBody>
          <a:bodyPr wrap="square" lIns="0" tIns="0" rIns="0" bIns="0" rtlCol="0" anchor="ctr"/>
          <a:lstStyle/>
          <a:p>
            <a:pPr indent="0" marL="0">
              <a:buNone/>
            </a:pPr>
            <a:r>
              <a:rPr lang="en-US" sz="1400" b="1" dirty="0">
                <a:solidFill>
                  <a:schemeClr val="tx1"/>
                </a:solidFill>
              </a:rPr>
              <a:t>2  You should see (end of the output):</a:t>
            </a:r>
            <a:endParaRPr lang="en-US" sz="1400" dirty="0"/>
          </a:p>
        </p:txBody>
      </p:sp>
      <p:sp>
        <p:nvSpPr>
          <p:cNvPr id="7" name="code"/>
          <p:cNvSpPr/>
          <p:nvPr/>
        </p:nvSpPr>
        <p:spPr>
          <a:xfrm>
            <a:off x="548640" y="2697480"/>
            <a:ext cx="6949440" cy="1828800"/>
          </a:xfrm>
          <a:prstGeom prst="roundRect">
            <a:avLst>
              <a:gd name="adj" fmla="val 5000"/>
            </a:avLst>
          </a:prstGeom>
          <a:solidFill>
            <a:schemeClr val="tx1"/>
          </a:solidFill>
          <a:ln/>
        </p:spPr>
      </p:sp>
      <p:sp>
        <p:nvSpPr>
          <p:cNvPr id="8" name="Text 6"/>
          <p:cNvSpPr txBox="1"/>
          <p:nvPr/>
        </p:nvSpPr>
        <p:spPr>
          <a:xfrm>
            <a:off x="777240" y="2862072"/>
            <a:ext cx="6492240" cy="1499616"/>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XX missed trigger   expected=invoice-summary-formatter  got=NONE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XX missed trigger   expected=invoice-summary-formatter  got=payment-scheduler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Score: 5/10</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Missed triggers: 5   False triggers: 0</a:t>
            </a:r>
            <a:endParaRPr lang="en-US" sz="1100" dirty="0"/>
          </a:p>
        </p:txBody>
      </p:sp>
      <p:sp>
        <p:nvSpPr>
          <p:cNvPr id="9" name="Shape 7"/>
          <p:cNvSpPr/>
          <p:nvPr/>
        </p:nvSpPr>
        <p:spPr>
          <a:xfrm>
            <a:off x="7772400" y="2697480"/>
            <a:ext cx="3886200" cy="1828800"/>
          </a:xfrm>
          <a:prstGeom prst="roundRect">
            <a:avLst>
              <a:gd name="adj" fmla="val 5000"/>
            </a:avLst>
          </a:prstGeom>
          <a:solidFill>
            <a:schemeClr val="tx1"/>
          </a:solidFill>
          <a:ln/>
        </p:spPr>
      </p:sp>
      <p:sp>
        <p:nvSpPr>
          <p:cNvPr id="10" name="Text 8"/>
          <p:cNvSpPr txBox="1"/>
          <p:nvPr/>
        </p:nvSpPr>
        <p:spPr>
          <a:xfrm>
            <a:off x="7955280" y="2697480"/>
            <a:ext cx="3520440" cy="1828800"/>
          </a:xfrm>
          <a:prstGeom prst="rect">
            <a:avLst/>
          </a:prstGeom>
          <a:noFill/>
          <a:ln/>
        </p:spPr>
        <p:txBody>
          <a:bodyPr wrap="square" lIns="0" tIns="0" rIns="0" bIns="0" rtlCol="0" anchor="ctr"/>
          <a:lstStyle/>
          <a:p>
            <a:pPr indent="0" marL="0">
              <a:buNone/>
            </a:pPr>
            <a:r>
              <a:rPr lang="en-US" sz="2200" b="1" dirty="0">
                <a:solidFill>
                  <a:schemeClr val="accent1"/>
                </a:solidFill>
              </a:rPr>
              <a:t>Before: 5/10</a:t>
            </a:r>
            <a:endParaRPr lang="en-US" sz="2200" dirty="0"/>
          </a:p>
          <a:p>
            <a:pPr indent="0" marL="0">
              <a:buNone/>
            </a:pPr>
            <a:r>
              <a:rPr lang="en-US" sz="1300" dirty="0">
                <a:solidFill>
                  <a:schemeClr val="bg1"/>
                </a:solidFill>
              </a:rPr>
              <a:t>Write it on the class board.</a:t>
            </a:r>
            <a:endParaRPr lang="en-US" sz="2200" dirty="0"/>
          </a:p>
        </p:txBody>
      </p:sp>
      <p:sp>
        <p:nvSpPr>
          <p:cNvPr id="11" name="Text 9"/>
          <p:cNvSpPr txBox="1"/>
          <p:nvPr/>
        </p:nvSpPr>
        <p:spPr>
          <a:xfrm>
            <a:off x="548640" y="4800600"/>
            <a:ext cx="11109960" cy="822960"/>
          </a:xfrm>
          <a:prstGeom prst="rect">
            <a:avLst/>
          </a:prstGeom>
          <a:noFill/>
          <a:ln/>
        </p:spPr>
        <p:txBody>
          <a:bodyPr wrap="square" lIns="0" tIns="0" rIns="0" bIns="0" rtlCol="0" anchor="ctr"/>
          <a:lstStyle/>
          <a:p>
            <a:pPr indent="0" marL="0">
              <a:buNone/>
            </a:pPr>
            <a:r>
              <a:rPr lang="en-US" sz="1500" b="1" dirty="0">
                <a:solidFill>
                  <a:schemeClr val="accent3"/>
                </a:solidFill>
              </a:rPr>
              <a:t>Why so low? </a:t>
            </a:r>
            <a:pPr indent="0" marL="0">
              <a:buNone/>
            </a:pPr>
            <a:r>
              <a:rPr lang="en-US" sz="1500" dirty="0">
                <a:solidFill>
                  <a:schemeClr val="tx1"/>
                </a:solidFill>
              </a:rPr>
              <a:t>The starter description is only  "Helps with invoices and finance stuff."  The model cannot tell when this skill is the right one.</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777240"/>
          </a:xfrm>
          <a:prstGeom prst="rect">
            <a:avLst/>
          </a:prstGeom>
          <a:noFill/>
          <a:ln/>
        </p:spPr>
        <p:txBody>
          <a:bodyPr wrap="square" lIns="0" tIns="0" rIns="0" bIns="0" rtlCol="0" anchor="ctr"/>
          <a:lstStyle/>
          <a:p>
            <a:pPr algn="l" indent="0" marL="0">
              <a:buNone/>
            </a:pPr>
            <a:r>
              <a:rPr lang="en-US" sz="3200" b="1" dirty="0">
                <a:solidFill>
                  <a:schemeClr val="tx1"/>
                </a:solidFill>
              </a:rPr>
              <a:t>Step 3 · Read the result</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109960" cy="914400"/>
        </p:xfrm>
        <a:graphic>
          <a:graphicData uri="http://schemas.openxmlformats.org/drawingml/2006/table">
            <a:tbl>
              <a:tblPr/>
              <a:tblGrid>
                <a:gridCol w="2743200"/>
                <a:gridCol w="4206240"/>
                <a:gridCol w="4160520"/>
              </a:tblGrid>
              <a:tr h="594360">
                <a:tc>
                  <a:txBody>
                    <a:bodyPr/>
                    <a:lstStyle/>
                    <a:p>
                      <a:pPr indent="0" marL="0">
                        <a:buNone/>
                      </a:pPr>
                      <a:r>
                        <a:rPr lang="en-US" sz="1400" b="1" dirty="0">
                          <a:solidFill>
                            <a:schemeClr val="bg1"/>
                          </a:solidFill>
                        </a:rPr>
                        <a:t>Line starts with</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Meaning</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What to change</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1"/>
                    </a:solidFill>
                  </a:tcPr>
                </a:tc>
              </a:tr>
              <a:tr h="594360">
                <a:tc>
                  <a:txBody>
                    <a:bodyPr/>
                    <a:lstStyle/>
                    <a:p>
                      <a:pPr indent="0" marL="0">
                        <a:buNone/>
                      </a:pPr>
                      <a:r>
                        <a:rPr lang="en-US" sz="1400" b="1" dirty="0">
                          <a:solidFill>
                            <a:schemeClr val="accent5"/>
                          </a:solidFill>
                          <a:latin typeface="Courier New" pitchFamily="34" charset="0"/>
                          <a:ea typeface="Courier New" pitchFamily="34" charset="-122"/>
                          <a:cs typeface="Courier New" pitchFamily="34" charset="-120"/>
                        </a:rPr>
                        <a:t>OK  correct</a:t>
                      </a:r>
                      <a:endParaRPr lang="en-US" sz="1400" dirty="0">
                        <a:latin typeface="Courier New" charset="0"/>
                        <a:ea typeface="Courier New" charset="0"/>
                        <a:cs typeface="Courier New" charset="0"/>
                      </a:endParaRPr>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The right skill loaded (or none, when none should)</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tx1"/>
                          </a:solidFill>
                        </a:rPr>
                        <a:t>Nothing</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594360">
                <a:tc>
                  <a:txBody>
                    <a:bodyPr/>
                    <a:lstStyle/>
                    <a:p>
                      <a:pPr indent="0" marL="0">
                        <a:buNone/>
                      </a:pPr>
                      <a:r>
                        <a:rPr lang="en-US" sz="1400" b="1" dirty="0">
                          <a:solidFill>
                            <a:schemeClr val="accent3"/>
                          </a:solidFill>
                          <a:latin typeface="Courier New" pitchFamily="34" charset="0"/>
                          <a:ea typeface="Courier New" pitchFamily="34" charset="-122"/>
                          <a:cs typeface="Courier New" pitchFamily="34" charset="-120"/>
                        </a:rPr>
                        <a:t>XX  missed trigger</a:t>
                      </a:r>
                      <a:endParaRPr lang="en-US" sz="1400" dirty="0">
                        <a:latin typeface="Courier New" charset="0"/>
                        <a:ea typeface="Courier New" charset="0"/>
                        <a:cs typeface="Courier New" charset="0"/>
                      </a:endParaRPr>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Your skill SHOULD have loaded but did not</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tx1"/>
                          </a:solidFill>
                        </a:rPr>
                        <a:t>Add the user's words to 'Use when …'  (step 4a)</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r h="594360">
                <a:tc>
                  <a:txBody>
                    <a:bodyPr/>
                    <a:lstStyle/>
                    <a:p>
                      <a:pPr indent="0" marL="0">
                        <a:buNone/>
                      </a:pPr>
                      <a:r>
                        <a:rPr lang="en-US" sz="1400" b="1" dirty="0">
                          <a:solidFill>
                            <a:schemeClr val="accent3"/>
                          </a:solidFill>
                          <a:latin typeface="Courier New" pitchFamily="34" charset="0"/>
                          <a:ea typeface="Courier New" pitchFamily="34" charset="-122"/>
                          <a:cs typeface="Courier New" pitchFamily="34" charset="-120"/>
                        </a:rPr>
                        <a:t>XX  false trigger</a:t>
                      </a:r>
                      <a:endParaRPr lang="en-US" sz="1400" dirty="0">
                        <a:latin typeface="Courier New" charset="0"/>
                        <a:ea typeface="Courier New" charset="0"/>
                        <a:cs typeface="Courier New" charset="0"/>
                      </a:endParaRPr>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Your skill loaded when it should NOT</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tx1"/>
                          </a:solidFill>
                        </a:rPr>
                        <a:t>Name that case in 'Do not use …'  (step 4b)</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Text 1"/>
          <p:cNvSpPr txBox="1"/>
          <p:nvPr/>
        </p:nvSpPr>
        <p:spPr>
          <a:xfrm>
            <a:off x="548640" y="3886200"/>
            <a:ext cx="11109960" cy="365760"/>
          </a:xfrm>
          <a:prstGeom prst="rect">
            <a:avLst/>
          </a:prstGeom>
          <a:noFill/>
          <a:ln/>
        </p:spPr>
        <p:txBody>
          <a:bodyPr wrap="square" lIns="0" tIns="0" rIns="0" bIns="0" rtlCol="0" anchor="ctr"/>
          <a:lstStyle/>
          <a:p>
            <a:pPr indent="0" marL="0">
              <a:buNone/>
            </a:pPr>
            <a:r>
              <a:rPr lang="en-US" sz="1400" b="1" dirty="0">
                <a:solidFill>
                  <a:schemeClr val="tx1"/>
                </a:solidFill>
              </a:rPr>
              <a:t>Your baseline: 5 missed triggers. Look at the words in those 5 prompts:</a:t>
            </a:r>
            <a:endParaRPr lang="en-US" sz="1400" dirty="0"/>
          </a:p>
        </p:txBody>
      </p:sp>
      <p:sp>
        <p:nvSpPr>
          <p:cNvPr id="5" name="code"/>
          <p:cNvSpPr/>
          <p:nvPr/>
        </p:nvSpPr>
        <p:spPr>
          <a:xfrm>
            <a:off x="548640" y="4297680"/>
            <a:ext cx="11109960" cy="1737360"/>
          </a:xfrm>
          <a:prstGeom prst="roundRect">
            <a:avLst>
              <a:gd name="adj" fmla="val 5263"/>
            </a:avLst>
          </a:prstGeom>
          <a:solidFill>
            <a:schemeClr val="tx1"/>
          </a:solidFill>
          <a:ln/>
        </p:spPr>
      </p:sp>
      <p:sp>
        <p:nvSpPr>
          <p:cNvPr id="6" name="Text 3"/>
          <p:cNvSpPr txBox="1"/>
          <p:nvPr/>
        </p:nvSpPr>
        <p:spPr>
          <a:xfrm>
            <a:off x="777240" y="4462272"/>
            <a:ext cx="10652760" cy="1408176"/>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Here's the BILL from Shakti … can you SUMMARISE it for approval?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CHECK if the TOTALS on this VENDOR INVOICE ADD UP</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FORMAT this tax INVOICE from NetLink into our AP SUMMARY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put it in the standard INVOICE SUMMARY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Can you REVIEW this SUPPLIER BILL …</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777240"/>
          </a:xfrm>
          <a:prstGeom prst="rect">
            <a:avLst/>
          </a:prstGeom>
          <a:noFill/>
          <a:ln/>
        </p:spPr>
        <p:txBody>
          <a:bodyPr wrap="square" lIns="0" tIns="0" rIns="0" bIns="0" rtlCol="0" anchor="ctr"/>
          <a:lstStyle/>
          <a:p>
            <a:pPr algn="l" indent="0" marL="0">
              <a:buNone/>
            </a:pPr>
            <a:r>
              <a:rPr lang="en-US" sz="3200" b="1" dirty="0">
                <a:solidFill>
                  <a:schemeClr val="tx1"/>
                </a:solidFill>
              </a:rPr>
              <a:t>Step 4a · Add "Use when …"</a:t>
            </a:r>
            <a:endParaRPr lang="en-US" sz="3200" dirty="0"/>
          </a:p>
        </p:txBody>
      </p:sp>
      <p:sp>
        <p:nvSpPr>
          <p:cNvPr id="3" name="Shape 1"/>
          <p:cNvSpPr/>
          <p:nvPr/>
        </p:nvSpPr>
        <p:spPr>
          <a:xfrm>
            <a:off x="548640" y="1188720"/>
            <a:ext cx="11109960" cy="457200"/>
          </a:xfrm>
          <a:prstGeom prst="roundRect">
            <a:avLst>
              <a:gd name="adj" fmla="val 20000"/>
            </a:avLst>
          </a:prstGeom>
          <a:solidFill>
            <a:schemeClr val="accent1"/>
          </a:solidFill>
          <a:ln/>
        </p:spPr>
      </p:sp>
      <p:sp>
        <p:nvSpPr>
          <p:cNvPr id="4" name="Text 2"/>
          <p:cNvSpPr txBox="1"/>
          <p:nvPr/>
        </p:nvSpPr>
        <p:spPr>
          <a:xfrm>
            <a:off x="731520" y="1188720"/>
            <a:ext cx="10789920" cy="457200"/>
          </a:xfrm>
          <a:prstGeom prst="rect">
            <a:avLst/>
          </a:prstGeom>
          <a:noFill/>
          <a:ln/>
        </p:spPr>
        <p:txBody>
          <a:bodyPr wrap="square" lIns="0" tIns="0" rIns="0" bIns="0" rtlCol="0" anchor="ctr"/>
          <a:lstStyle/>
          <a:p>
            <a:pPr indent="0" marL="0">
              <a:buNone/>
            </a:pPr>
            <a:r>
              <a:rPr lang="en-US" sz="1500" b="1" dirty="0">
                <a:solidFill>
                  <a:schemeClr val="tx1"/>
                </a:solidFill>
              </a:rPr>
              <a:t>File:  </a:t>
            </a:r>
            <a:pPr indent="0" marL="0">
              <a:buNone/>
            </a:pPr>
            <a:r>
              <a:rPr lang="en-US" sz="1500" b="1" dirty="0">
                <a:solidFill>
                  <a:schemeClr val="tx1"/>
                </a:solidFill>
                <a:latin typeface="Courier New" pitchFamily="34" charset="0"/>
                <a:ea typeface="Courier New" pitchFamily="34" charset="-122"/>
                <a:cs typeface="Courier New" pitchFamily="34" charset="-120"/>
              </a:rPr>
              <a:t>skills/invoice-summary-formatter/SKILL.md</a:t>
            </a:r>
            <a:endParaRPr lang="en-US" sz="1500" dirty="0"/>
          </a:p>
        </p:txBody>
      </p:sp>
      <p:sp>
        <p:nvSpPr>
          <p:cNvPr id="5" name="Text 3"/>
          <p:cNvSpPr txBox="1"/>
          <p:nvPr/>
        </p:nvSpPr>
        <p:spPr>
          <a:xfrm>
            <a:off x="548640" y="1783080"/>
            <a:ext cx="11109960" cy="365760"/>
          </a:xfrm>
          <a:prstGeom prst="rect">
            <a:avLst/>
          </a:prstGeom>
          <a:noFill/>
          <a:ln/>
        </p:spPr>
        <p:txBody>
          <a:bodyPr wrap="square" lIns="0" tIns="0" rIns="0" bIns="0" rtlCol="0" anchor="ctr"/>
          <a:lstStyle/>
          <a:p>
            <a:pPr indent="0" marL="0">
              <a:buNone/>
            </a:pPr>
            <a:r>
              <a:rPr lang="en-US" sz="1400" b="1" dirty="0">
                <a:solidFill>
                  <a:schemeClr val="accent3"/>
                </a:solidFill>
              </a:rPr>
              <a:t>Find line 3:</a:t>
            </a:r>
            <a:endParaRPr lang="en-US" sz="1400" dirty="0"/>
          </a:p>
        </p:txBody>
      </p:sp>
      <p:sp>
        <p:nvSpPr>
          <p:cNvPr id="6" name="code"/>
          <p:cNvSpPr/>
          <p:nvPr/>
        </p:nvSpPr>
        <p:spPr>
          <a:xfrm>
            <a:off x="548640" y="2148840"/>
            <a:ext cx="11109960" cy="502920"/>
          </a:xfrm>
          <a:prstGeom prst="roundRect">
            <a:avLst>
              <a:gd name="adj" fmla="val 18182"/>
            </a:avLst>
          </a:prstGeom>
          <a:solidFill>
            <a:schemeClr val="tx1"/>
          </a:solidFill>
          <a:ln/>
        </p:spPr>
      </p:sp>
      <p:sp>
        <p:nvSpPr>
          <p:cNvPr id="7" name="Text 5"/>
          <p:cNvSpPr txBox="1"/>
          <p:nvPr/>
        </p:nvSpPr>
        <p:spPr>
          <a:xfrm>
            <a:off x="777240" y="2313432"/>
            <a:ext cx="10652760" cy="173736"/>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description: Helps with invoices and finance stuff.</a:t>
            </a:r>
            <a:endParaRPr lang="en-US" sz="1200" dirty="0"/>
          </a:p>
        </p:txBody>
      </p:sp>
      <p:sp>
        <p:nvSpPr>
          <p:cNvPr id="8" name="Text 6"/>
          <p:cNvSpPr txBox="1"/>
          <p:nvPr/>
        </p:nvSpPr>
        <p:spPr>
          <a:xfrm>
            <a:off x="548640" y="2743200"/>
            <a:ext cx="11109960" cy="365760"/>
          </a:xfrm>
          <a:prstGeom prst="rect">
            <a:avLst/>
          </a:prstGeom>
          <a:noFill/>
          <a:ln/>
        </p:spPr>
        <p:txBody>
          <a:bodyPr wrap="square" lIns="0" tIns="0" rIns="0" bIns="0" rtlCol="0" anchor="ctr"/>
          <a:lstStyle/>
          <a:p>
            <a:pPr indent="0" marL="0">
              <a:buNone/>
            </a:pPr>
            <a:r>
              <a:rPr lang="en-US" sz="1400" b="1" dirty="0">
                <a:solidFill>
                  <a:schemeClr val="accent5"/>
                </a:solidFill>
              </a:rPr>
              <a:t>Replace it with (this is ONE line in the file):</a:t>
            </a:r>
            <a:endParaRPr lang="en-US" sz="1400" dirty="0"/>
          </a:p>
        </p:txBody>
      </p:sp>
      <p:sp>
        <p:nvSpPr>
          <p:cNvPr id="9" name="code"/>
          <p:cNvSpPr/>
          <p:nvPr/>
        </p:nvSpPr>
        <p:spPr>
          <a:xfrm>
            <a:off x="548640" y="3108960"/>
            <a:ext cx="11109960" cy="914400"/>
          </a:xfrm>
          <a:prstGeom prst="roundRect">
            <a:avLst>
              <a:gd name="adj" fmla="val 10000"/>
            </a:avLst>
          </a:prstGeom>
          <a:solidFill>
            <a:schemeClr val="tx1"/>
          </a:solidFill>
          <a:ln/>
        </p:spPr>
      </p:sp>
      <p:sp>
        <p:nvSpPr>
          <p:cNvPr id="10" name="Text 8"/>
          <p:cNvSpPr txBox="1"/>
          <p:nvPr/>
        </p:nvSpPr>
        <p:spPr>
          <a:xfrm>
            <a:off x="777240" y="3273552"/>
            <a:ext cx="10652760" cy="585216"/>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description: Use when the user shares a vendor or supplier invoice or bill they received and asks to summarise, check, review or format it into the FIL AP invoice summary, or to check whether its totals add up.</a:t>
            </a:r>
            <a:endParaRPr lang="en-US" sz="1200" dirty="0"/>
          </a:p>
        </p:txBody>
      </p:sp>
      <p:sp>
        <p:nvSpPr>
          <p:cNvPr id="11" name="Text 9"/>
          <p:cNvSpPr txBox="1"/>
          <p:nvPr/>
        </p:nvSpPr>
        <p:spPr>
          <a:xfrm>
            <a:off x="548640" y="4160520"/>
            <a:ext cx="11109960" cy="365760"/>
          </a:xfrm>
          <a:prstGeom prst="rect">
            <a:avLst/>
          </a:prstGeom>
          <a:noFill/>
          <a:ln/>
        </p:spPr>
        <p:txBody>
          <a:bodyPr wrap="square" lIns="0" tIns="0" rIns="0" bIns="0" rtlCol="0" anchor="ctr"/>
          <a:lstStyle/>
          <a:p>
            <a:pPr indent="0" marL="0">
              <a:buNone/>
            </a:pPr>
            <a:r>
              <a:rPr lang="en-US" sz="1400" b="1" dirty="0">
                <a:solidFill>
                  <a:schemeClr val="tx1"/>
                </a:solidFill>
              </a:rPr>
              <a:t>Save, then run:   python tools/check_lab3.py   →  [OK] 4a, [FIX] 4b (correct for now)</a:t>
            </a:r>
            <a:endParaRPr lang="en-US" sz="1400" dirty="0"/>
          </a:p>
        </p:txBody>
      </p:sp>
      <p:sp>
        <p:nvSpPr>
          <p:cNvPr id="12" name="Text 10"/>
          <p:cNvSpPr txBox="1"/>
          <p:nvPr/>
        </p:nvSpPr>
        <p:spPr>
          <a:xfrm>
            <a:off x="548640" y="4526280"/>
            <a:ext cx="11109960" cy="365760"/>
          </a:xfrm>
          <a:prstGeom prst="rect">
            <a:avLst/>
          </a:prstGeom>
          <a:noFill/>
          <a:ln/>
        </p:spPr>
        <p:txBody>
          <a:bodyPr wrap="square" lIns="0" tIns="0" rIns="0" bIns="0" rtlCol="0" anchor="ctr"/>
          <a:lstStyle/>
          <a:p>
            <a:pPr indent="0" marL="0">
              <a:buNone/>
            </a:pPr>
            <a:r>
              <a:rPr lang="en-US" sz="1400" b="1" dirty="0">
                <a:solidFill>
                  <a:schemeClr val="tx1"/>
                </a:solidFill>
              </a:rPr>
              <a:t>Then run the trigger eval again (same command as step 2).</a:t>
            </a:r>
            <a:endParaRPr lang="en-US" sz="1400" dirty="0"/>
          </a:p>
        </p:txBody>
      </p:sp>
      <p:sp>
        <p:nvSpPr>
          <p:cNvPr id="13" name="Shape 11"/>
          <p:cNvSpPr/>
          <p:nvPr/>
        </p:nvSpPr>
        <p:spPr>
          <a:xfrm>
            <a:off x="548640" y="4983480"/>
            <a:ext cx="4754880" cy="1097280"/>
          </a:xfrm>
          <a:prstGeom prst="roundRect">
            <a:avLst>
              <a:gd name="adj" fmla="val 8333"/>
            </a:avLst>
          </a:prstGeom>
          <a:solidFill>
            <a:schemeClr val="tx1"/>
          </a:solidFill>
          <a:ln/>
        </p:spPr>
      </p:sp>
      <p:sp>
        <p:nvSpPr>
          <p:cNvPr id="14" name="Text 12"/>
          <p:cNvSpPr txBox="1"/>
          <p:nvPr/>
        </p:nvSpPr>
        <p:spPr>
          <a:xfrm>
            <a:off x="731520" y="4983480"/>
            <a:ext cx="4389120" cy="1097280"/>
          </a:xfrm>
          <a:prstGeom prst="rect">
            <a:avLst/>
          </a:prstGeom>
          <a:noFill/>
          <a:ln/>
        </p:spPr>
        <p:txBody>
          <a:bodyPr wrap="square" lIns="0" tIns="0" rIns="0" bIns="0" rtlCol="0" anchor="ctr"/>
          <a:lstStyle/>
          <a:p>
            <a:pPr indent="0" marL="0">
              <a:buNone/>
            </a:pPr>
            <a:r>
              <a:rPr lang="en-US" sz="2200" b="1" dirty="0">
                <a:solidFill>
                  <a:schemeClr val="accent1"/>
                </a:solidFill>
              </a:rPr>
              <a:t>Score: 9/10</a:t>
            </a:r>
            <a:endParaRPr lang="en-US" sz="2200" dirty="0"/>
          </a:p>
          <a:p>
            <a:pPr indent="0" marL="0">
              <a:buNone/>
            </a:pPr>
            <a:r>
              <a:rPr lang="en-US" sz="1300" dirty="0">
                <a:solidFill>
                  <a:schemeClr val="bg1"/>
                </a:solidFill>
              </a:rPr>
              <a:t>Missed triggers: 0   False triggers: 1</a:t>
            </a:r>
            <a:endParaRPr lang="en-US" sz="2200" dirty="0"/>
          </a:p>
        </p:txBody>
      </p:sp>
      <p:sp>
        <p:nvSpPr>
          <p:cNvPr id="15" name="Text 13"/>
          <p:cNvSpPr txBox="1"/>
          <p:nvPr/>
        </p:nvSpPr>
        <p:spPr>
          <a:xfrm>
            <a:off x="5577840" y="4983480"/>
            <a:ext cx="6080760" cy="1097280"/>
          </a:xfrm>
          <a:prstGeom prst="rect">
            <a:avLst/>
          </a:prstGeom>
          <a:noFill/>
          <a:ln/>
        </p:spPr>
        <p:txBody>
          <a:bodyPr wrap="square" lIns="0" tIns="0" rIns="0" bIns="0" rtlCol="0" anchor="ctr"/>
          <a:lstStyle/>
          <a:p>
            <a:pPr indent="0" marL="0">
              <a:buNone/>
            </a:pPr>
            <a:r>
              <a:rPr lang="en-US" sz="1400" b="1" dirty="0">
                <a:solidFill>
                  <a:schemeClr val="accent3"/>
                </a:solidFill>
              </a:rPr>
              <a:t>The 1 false trigger:  </a:t>
            </a:r>
            <a:pPr indent="0" marL="0">
              <a:buNone/>
            </a:pPr>
            <a:r>
              <a:rPr lang="en-US" sz="1400" dirty="0">
                <a:solidFill>
                  <a:schemeClr val="tx1"/>
                </a:solidFill>
              </a:rPr>
              <a:t>"Create an invoice to bill our client for consulting work". It also says invoice and bill, but it is an invoice WE send. Step 4b fixes it.</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777240"/>
          </a:xfrm>
          <a:prstGeom prst="rect">
            <a:avLst/>
          </a:prstGeom>
          <a:noFill/>
          <a:ln/>
        </p:spPr>
        <p:txBody>
          <a:bodyPr wrap="square" lIns="0" tIns="0" rIns="0" bIns="0" rtlCol="0" anchor="ctr"/>
          <a:lstStyle/>
          <a:p>
            <a:pPr algn="l" indent="0" marL="0">
              <a:buNone/>
            </a:pPr>
            <a:r>
              <a:rPr lang="en-US" sz="3200" b="1" dirty="0">
                <a:solidFill>
                  <a:schemeClr val="tx1"/>
                </a:solidFill>
              </a:rPr>
              <a:t>Step 4b · Add "Do not use …"</a:t>
            </a:r>
            <a:endParaRPr lang="en-US" sz="3200" dirty="0"/>
          </a:p>
        </p:txBody>
      </p:sp>
      <p:sp>
        <p:nvSpPr>
          <p:cNvPr id="3" name="Shape 1"/>
          <p:cNvSpPr/>
          <p:nvPr/>
        </p:nvSpPr>
        <p:spPr>
          <a:xfrm>
            <a:off x="548640" y="1188720"/>
            <a:ext cx="11109960" cy="457200"/>
          </a:xfrm>
          <a:prstGeom prst="roundRect">
            <a:avLst>
              <a:gd name="adj" fmla="val 20000"/>
            </a:avLst>
          </a:prstGeom>
          <a:solidFill>
            <a:schemeClr val="accent1"/>
          </a:solidFill>
          <a:ln/>
        </p:spPr>
      </p:sp>
      <p:sp>
        <p:nvSpPr>
          <p:cNvPr id="4" name="Text 2"/>
          <p:cNvSpPr txBox="1"/>
          <p:nvPr/>
        </p:nvSpPr>
        <p:spPr>
          <a:xfrm>
            <a:off x="731520" y="1188720"/>
            <a:ext cx="10789920" cy="457200"/>
          </a:xfrm>
          <a:prstGeom prst="rect">
            <a:avLst/>
          </a:prstGeom>
          <a:noFill/>
          <a:ln/>
        </p:spPr>
        <p:txBody>
          <a:bodyPr wrap="square" lIns="0" tIns="0" rIns="0" bIns="0" rtlCol="0" anchor="ctr"/>
          <a:lstStyle/>
          <a:p>
            <a:pPr indent="0" marL="0">
              <a:buNone/>
            </a:pPr>
            <a:r>
              <a:rPr lang="en-US" sz="1500" b="1" dirty="0">
                <a:solidFill>
                  <a:schemeClr val="tx1"/>
                </a:solidFill>
              </a:rPr>
              <a:t>File:  </a:t>
            </a:r>
            <a:pPr indent="0" marL="0">
              <a:buNone/>
            </a:pPr>
            <a:r>
              <a:rPr lang="en-US" sz="1500" b="1" dirty="0">
                <a:solidFill>
                  <a:schemeClr val="tx1"/>
                </a:solidFill>
                <a:latin typeface="Courier New" pitchFamily="34" charset="0"/>
                <a:ea typeface="Courier New" pitchFamily="34" charset="-122"/>
                <a:cs typeface="Courier New" pitchFamily="34" charset="-120"/>
              </a:rPr>
              <a:t>skills/invoice-summary-formatter/SKILL.md</a:t>
            </a:r>
            <a:endParaRPr lang="en-US" sz="1500" dirty="0"/>
          </a:p>
        </p:txBody>
      </p:sp>
      <p:sp>
        <p:nvSpPr>
          <p:cNvPr id="5" name="Text 3"/>
          <p:cNvSpPr txBox="1"/>
          <p:nvPr/>
        </p:nvSpPr>
        <p:spPr>
          <a:xfrm>
            <a:off x="548640" y="1783080"/>
            <a:ext cx="11109960" cy="365760"/>
          </a:xfrm>
          <a:prstGeom prst="rect">
            <a:avLst/>
          </a:prstGeom>
          <a:noFill/>
          <a:ln/>
        </p:spPr>
        <p:txBody>
          <a:bodyPr wrap="square" lIns="0" tIns="0" rIns="0" bIns="0" rtlCol="0" anchor="ctr"/>
          <a:lstStyle/>
          <a:p>
            <a:pPr indent="0" marL="0">
              <a:buNone/>
            </a:pPr>
            <a:r>
              <a:rPr lang="en-US" sz="1400" b="1" dirty="0">
                <a:solidFill>
                  <a:schemeClr val="accent5"/>
                </a:solidFill>
              </a:rPr>
              <a:t>On the same description line, put the cursor after  …totals add up.  type one space and paste:</a:t>
            </a:r>
            <a:endParaRPr lang="en-US" sz="1400" dirty="0"/>
          </a:p>
        </p:txBody>
      </p:sp>
      <p:sp>
        <p:nvSpPr>
          <p:cNvPr id="6" name="code"/>
          <p:cNvSpPr/>
          <p:nvPr/>
        </p:nvSpPr>
        <p:spPr>
          <a:xfrm>
            <a:off x="548640" y="2194560"/>
            <a:ext cx="11109960" cy="777240"/>
          </a:xfrm>
          <a:prstGeom prst="roundRect">
            <a:avLst>
              <a:gd name="adj" fmla="val 11765"/>
            </a:avLst>
          </a:prstGeom>
          <a:solidFill>
            <a:schemeClr val="tx1"/>
          </a:solidFill>
          <a:ln/>
        </p:spPr>
      </p:sp>
      <p:sp>
        <p:nvSpPr>
          <p:cNvPr id="7" name="Text 5"/>
          <p:cNvSpPr txBox="1"/>
          <p:nvPr/>
        </p:nvSpPr>
        <p:spPr>
          <a:xfrm>
            <a:off x="777240" y="2359152"/>
            <a:ext cx="10652760" cy="448056"/>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Do not use to create or raise an invoice for our own clients or customers, for purchase orders, for scheduling or making payments, for general GST rate questions, or for filing GST returns.</a:t>
            </a:r>
            <a:endParaRPr lang="en-US" sz="1200" dirty="0"/>
          </a:p>
        </p:txBody>
      </p:sp>
      <p:sp>
        <p:nvSpPr>
          <p:cNvPr id="8" name="Text 6"/>
          <p:cNvSpPr txBox="1"/>
          <p:nvPr/>
        </p:nvSpPr>
        <p:spPr>
          <a:xfrm>
            <a:off x="548640" y="3108960"/>
            <a:ext cx="11109960" cy="365760"/>
          </a:xfrm>
          <a:prstGeom prst="rect">
            <a:avLst/>
          </a:prstGeom>
          <a:noFill/>
          <a:ln/>
        </p:spPr>
        <p:txBody>
          <a:bodyPr wrap="square" lIns="0" tIns="0" rIns="0" bIns="0" rtlCol="0" anchor="ctr"/>
          <a:lstStyle/>
          <a:p>
            <a:pPr indent="0" marL="0">
              <a:buNone/>
            </a:pPr>
            <a:r>
              <a:rPr lang="en-US" sz="1400" b="1" dirty="0">
                <a:solidFill>
                  <a:schemeClr val="tx1"/>
                </a:solidFill>
              </a:rPr>
              <a:t>The finished line 3 (still ONE line):</a:t>
            </a:r>
            <a:endParaRPr lang="en-US" sz="1400" dirty="0"/>
          </a:p>
        </p:txBody>
      </p:sp>
      <p:sp>
        <p:nvSpPr>
          <p:cNvPr id="9" name="code"/>
          <p:cNvSpPr/>
          <p:nvPr/>
        </p:nvSpPr>
        <p:spPr>
          <a:xfrm>
            <a:off x="548640" y="3520440"/>
            <a:ext cx="11109960" cy="1280160"/>
          </a:xfrm>
          <a:prstGeom prst="roundRect">
            <a:avLst>
              <a:gd name="adj" fmla="val 7143"/>
            </a:avLst>
          </a:prstGeom>
          <a:solidFill>
            <a:schemeClr val="tx1"/>
          </a:solidFill>
          <a:ln/>
        </p:spPr>
      </p:sp>
      <p:sp>
        <p:nvSpPr>
          <p:cNvPr id="10" name="Text 8"/>
          <p:cNvSpPr txBox="1"/>
          <p:nvPr/>
        </p:nvSpPr>
        <p:spPr>
          <a:xfrm>
            <a:off x="777240" y="3685032"/>
            <a:ext cx="10652760" cy="950976"/>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description: Use when the user shares a vendor or supplier invoice or bill they received and asks to summarise, check, review or format it into the FIL AP invoice summary, or to check whether its totals add up. Do not use to create or raise an invoice for our own clients or customers, for purchase orders, for scheduling or making payments, for general GST rate questions, or for filing GST returns.</a:t>
            </a:r>
            <a:endParaRPr lang="en-US" sz="1100" dirty="0"/>
          </a:p>
        </p:txBody>
      </p:sp>
      <p:sp>
        <p:nvSpPr>
          <p:cNvPr id="11" name="Text 9"/>
          <p:cNvSpPr txBox="1"/>
          <p:nvPr/>
        </p:nvSpPr>
        <p:spPr>
          <a:xfrm>
            <a:off x="548640" y="4937760"/>
            <a:ext cx="11109960" cy="365760"/>
          </a:xfrm>
          <a:prstGeom prst="rect">
            <a:avLst/>
          </a:prstGeom>
          <a:noFill/>
          <a:ln/>
        </p:spPr>
        <p:txBody>
          <a:bodyPr wrap="square" lIns="0" tIns="0" rIns="0" bIns="0" rtlCol="0" anchor="ctr"/>
          <a:lstStyle/>
          <a:p>
            <a:pPr indent="0" marL="0">
              <a:buNone/>
            </a:pPr>
            <a:r>
              <a:rPr lang="en-US" sz="1400" b="1" dirty="0">
                <a:solidFill>
                  <a:schemeClr val="tx1"/>
                </a:solidFill>
              </a:rPr>
              <a:t>Save, then run:   python tools/check_lab3.py   →  All edits done</a:t>
            </a:r>
            <a:endParaRPr lang="en-US" sz="1400" dirty="0"/>
          </a:p>
        </p:txBody>
      </p:sp>
      <p:sp>
        <p:nvSpPr>
          <p:cNvPr id="12" name="Shape 10"/>
          <p:cNvSpPr/>
          <p:nvPr/>
        </p:nvSpPr>
        <p:spPr>
          <a:xfrm>
            <a:off x="548640" y="5349240"/>
            <a:ext cx="4754880" cy="777240"/>
          </a:xfrm>
          <a:prstGeom prst="roundRect">
            <a:avLst>
              <a:gd name="adj" fmla="val 11765"/>
            </a:avLst>
          </a:prstGeom>
          <a:solidFill>
            <a:schemeClr val="accent5"/>
          </a:solidFill>
          <a:ln/>
        </p:spPr>
      </p:sp>
      <p:sp>
        <p:nvSpPr>
          <p:cNvPr id="13" name="Text 11"/>
          <p:cNvSpPr txBox="1"/>
          <p:nvPr/>
        </p:nvSpPr>
        <p:spPr>
          <a:xfrm>
            <a:off x="731520" y="5349240"/>
            <a:ext cx="4389120" cy="777240"/>
          </a:xfrm>
          <a:prstGeom prst="rect">
            <a:avLst/>
          </a:prstGeom>
          <a:noFill/>
          <a:ln/>
        </p:spPr>
        <p:txBody>
          <a:bodyPr wrap="square" lIns="0" tIns="0" rIns="0" bIns="0" rtlCol="0" anchor="ctr"/>
          <a:lstStyle/>
          <a:p>
            <a:pPr indent="0" marL="0">
              <a:buNone/>
            </a:pPr>
            <a:r>
              <a:rPr lang="en-US" sz="2200" b="1" dirty="0">
                <a:solidFill>
                  <a:schemeClr val="bg1"/>
                </a:solidFill>
              </a:rPr>
              <a:t>Score: 10/10</a:t>
            </a:r>
            <a:endParaRPr lang="en-US" sz="2200" dirty="0"/>
          </a:p>
          <a:p>
            <a:pPr indent="0" marL="0">
              <a:buNone/>
            </a:pPr>
            <a:r>
              <a:rPr lang="en-US" sz="1300" dirty="0">
                <a:solidFill>
                  <a:schemeClr val="bg1"/>
                </a:solidFill>
              </a:rPr>
              <a:t>Run the trigger eval again: no XX lines left.</a:t>
            </a:r>
            <a:endParaRPr lang="en-US" sz="2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777240"/>
          </a:xfrm>
          <a:prstGeom prst="rect">
            <a:avLst/>
          </a:prstGeom>
          <a:noFill/>
          <a:ln/>
        </p:spPr>
        <p:txBody>
          <a:bodyPr wrap="square" lIns="0" tIns="0" rIns="0" bIns="0" rtlCol="0" anchor="ctr"/>
          <a:lstStyle/>
          <a:p>
            <a:pPr algn="l" indent="0" marL="0">
              <a:buNone/>
            </a:pPr>
            <a:r>
              <a:rPr lang="en-US" sz="3200" b="1" dirty="0">
                <a:solidFill>
                  <a:schemeClr val="tx1"/>
                </a:solidFill>
              </a:rPr>
              <a:t>Step 5 · Final run and post your score</a:t>
            </a:r>
            <a:endParaRPr lang="en-US" sz="3200" dirty="0"/>
          </a:p>
        </p:txBody>
      </p:sp>
      <p:sp>
        <p:nvSpPr>
          <p:cNvPr id="3" name="Text 1"/>
          <p:cNvSpPr txBox="1"/>
          <p:nvPr/>
        </p:nvSpPr>
        <p:spPr>
          <a:xfrm>
            <a:off x="548640" y="1234440"/>
            <a:ext cx="11109960" cy="365760"/>
          </a:xfrm>
          <a:prstGeom prst="rect">
            <a:avLst/>
          </a:prstGeom>
          <a:noFill/>
          <a:ln/>
        </p:spPr>
        <p:txBody>
          <a:bodyPr wrap="square" lIns="0" tIns="0" rIns="0" bIns="0" rtlCol="0" anchor="ctr"/>
          <a:lstStyle/>
          <a:p>
            <a:pPr indent="0" marL="0">
              <a:buNone/>
            </a:pPr>
            <a:r>
              <a:rPr lang="en-US" sz="1400" b="1" dirty="0">
                <a:solidFill>
                  <a:schemeClr val="tx1"/>
                </a:solidFill>
              </a:rPr>
              <a:t>1  Run 3 times per prompt (real models can vary between runs):</a:t>
            </a:r>
            <a:endParaRPr lang="en-US" sz="1400" dirty="0"/>
          </a:p>
        </p:txBody>
      </p:sp>
      <p:sp>
        <p:nvSpPr>
          <p:cNvPr id="4" name="Shape 2"/>
          <p:cNvSpPr/>
          <p:nvPr/>
        </p:nvSpPr>
        <p:spPr>
          <a:xfrm>
            <a:off x="548640" y="1627632"/>
            <a:ext cx="11109960" cy="502920"/>
          </a:xfrm>
          <a:prstGeom prst="roundRect">
            <a:avLst>
              <a:gd name="adj" fmla="val 14545"/>
            </a:avLst>
          </a:prstGeom>
          <a:solidFill>
            <a:schemeClr val="accent6"/>
          </a:solidFill>
          <a:ln/>
        </p:spPr>
      </p:sp>
      <p:sp>
        <p:nvSpPr>
          <p:cNvPr id="5" name="Text 3"/>
          <p:cNvSpPr txBox="1"/>
          <p:nvPr/>
        </p:nvSpPr>
        <p:spPr>
          <a:xfrm>
            <a:off x="731520" y="1627632"/>
            <a:ext cx="10789920" cy="502920"/>
          </a:xfrm>
          <a:prstGeom prst="rect">
            <a:avLst/>
          </a:prstGeom>
          <a:noFill/>
          <a:ln/>
        </p:spPr>
        <p:txBody>
          <a:bodyPr wrap="square" lIns="0" tIns="0" rIns="0" bIns="0" rtlCol="0" anchor="ctr"/>
          <a:lstStyle/>
          <a:p>
            <a:pPr indent="0" marL="0">
              <a:buNone/>
            </a:pPr>
            <a:r>
              <a:rPr lang="en-US" sz="1050" dirty="0">
                <a:solidFill>
                  <a:schemeClr val="bg1"/>
                </a:solidFill>
                <a:latin typeface="Courier New" pitchFamily="34" charset="0"/>
                <a:ea typeface="Courier New" pitchFamily="34" charset="-122"/>
                <a:cs typeface="Courier New" pitchFamily="34" charset="-120"/>
              </a:rPr>
              <a:t>python tools/trigger_eval.py --skills skills --evals evals/triggers.jsonl --target invoice-summary-formatter --runs 3</a:t>
            </a:r>
            <a:endParaRPr lang="en-US" sz="1050" dirty="0"/>
          </a:p>
        </p:txBody>
      </p:sp>
      <p:sp>
        <p:nvSpPr>
          <p:cNvPr id="6" name="Text 4"/>
          <p:cNvSpPr txBox="1"/>
          <p:nvPr/>
        </p:nvSpPr>
        <p:spPr>
          <a:xfrm>
            <a:off x="548640" y="2331720"/>
            <a:ext cx="11109960" cy="365760"/>
          </a:xfrm>
          <a:prstGeom prst="rect">
            <a:avLst/>
          </a:prstGeom>
          <a:noFill/>
          <a:ln/>
        </p:spPr>
        <p:txBody>
          <a:bodyPr wrap="square" lIns="0" tIns="0" rIns="0" bIns="0" rtlCol="0" anchor="ctr"/>
          <a:lstStyle/>
          <a:p>
            <a:pPr indent="0" marL="0">
              <a:buNone/>
            </a:pPr>
            <a:r>
              <a:rPr lang="en-US" sz="1400" b="1" dirty="0">
                <a:solidFill>
                  <a:schemeClr val="tx1"/>
                </a:solidFill>
              </a:rPr>
              <a:t>2  You should see:</a:t>
            </a:r>
            <a:endParaRPr lang="en-US" sz="1400" dirty="0"/>
          </a:p>
        </p:txBody>
      </p:sp>
      <p:sp>
        <p:nvSpPr>
          <p:cNvPr id="7" name="code"/>
          <p:cNvSpPr/>
          <p:nvPr/>
        </p:nvSpPr>
        <p:spPr>
          <a:xfrm>
            <a:off x="548640" y="2743200"/>
            <a:ext cx="6949440" cy="1097280"/>
          </a:xfrm>
          <a:prstGeom prst="roundRect">
            <a:avLst>
              <a:gd name="adj" fmla="val 8333"/>
            </a:avLst>
          </a:prstGeom>
          <a:solidFill>
            <a:schemeClr val="tx1"/>
          </a:solidFill>
          <a:ln/>
        </p:spPr>
      </p:sp>
      <p:sp>
        <p:nvSpPr>
          <p:cNvPr id="8" name="Text 6"/>
          <p:cNvSpPr txBox="1"/>
          <p:nvPr/>
        </p:nvSpPr>
        <p:spPr>
          <a:xfrm>
            <a:off x="777240" y="2907792"/>
            <a:ext cx="6492240" cy="768096"/>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Score: 30/30</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Missed triggers: 0   False triggers: 0</a:t>
            </a:r>
            <a:endParaRPr lang="en-US" sz="1300" dirty="0"/>
          </a:p>
        </p:txBody>
      </p:sp>
      <p:sp>
        <p:nvSpPr>
          <p:cNvPr id="9" name="Text 7"/>
          <p:cNvSpPr txBox="1"/>
          <p:nvPr/>
        </p:nvSpPr>
        <p:spPr>
          <a:xfrm>
            <a:off x="548640" y="4023360"/>
            <a:ext cx="11109960" cy="365760"/>
          </a:xfrm>
          <a:prstGeom prst="rect">
            <a:avLst/>
          </a:prstGeom>
          <a:noFill/>
          <a:ln/>
        </p:spPr>
        <p:txBody>
          <a:bodyPr wrap="square" lIns="0" tIns="0" rIns="0" bIns="0" rtlCol="0" anchor="ctr"/>
          <a:lstStyle/>
          <a:p>
            <a:pPr indent="0" marL="0">
              <a:buNone/>
            </a:pPr>
            <a:r>
              <a:rPr lang="en-US" sz="1400" b="1" dirty="0">
                <a:solidFill>
                  <a:schemeClr val="tx1"/>
                </a:solidFill>
              </a:rPr>
              <a:t>3  Write on the class board:   before 5/10  →  after 10/10 (30/30)</a:t>
            </a:r>
            <a:endParaRPr lang="en-US" sz="1400" dirty="0"/>
          </a:p>
        </p:txBody>
      </p:sp>
      <p:sp>
        <p:nvSpPr>
          <p:cNvPr id="10" name="Shape 8"/>
          <p:cNvSpPr/>
          <p:nvPr/>
        </p:nvSpPr>
        <p:spPr>
          <a:xfrm>
            <a:off x="7772400" y="2743200"/>
            <a:ext cx="3886200" cy="1097280"/>
          </a:xfrm>
          <a:prstGeom prst="roundRect">
            <a:avLst>
              <a:gd name="adj" fmla="val 8333"/>
            </a:avLst>
          </a:prstGeom>
          <a:solidFill>
            <a:schemeClr val="tx1"/>
          </a:solidFill>
          <a:ln/>
        </p:spPr>
      </p:sp>
      <p:sp>
        <p:nvSpPr>
          <p:cNvPr id="11" name="Text 9"/>
          <p:cNvSpPr txBox="1"/>
          <p:nvPr/>
        </p:nvSpPr>
        <p:spPr>
          <a:xfrm>
            <a:off x="7955280" y="2743200"/>
            <a:ext cx="3520440" cy="1097280"/>
          </a:xfrm>
          <a:prstGeom prst="rect">
            <a:avLst/>
          </a:prstGeom>
          <a:noFill/>
          <a:ln/>
        </p:spPr>
        <p:txBody>
          <a:bodyPr wrap="square" lIns="0" tIns="0" rIns="0" bIns="0" rtlCol="0" anchor="ctr"/>
          <a:lstStyle/>
          <a:p>
            <a:pPr indent="0" marL="0">
              <a:buNone/>
            </a:pPr>
            <a:r>
              <a:rPr lang="en-US" sz="2200" b="1" dirty="0">
                <a:solidFill>
                  <a:schemeClr val="accent1"/>
                </a:solidFill>
              </a:rPr>
              <a:t>Target: 27/30 or more</a:t>
            </a:r>
            <a:endParaRPr lang="en-US" sz="2200" dirty="0"/>
          </a:p>
          <a:p>
            <a:pPr indent="0" marL="0">
              <a:buNone/>
            </a:pPr>
            <a:r>
              <a:rPr lang="en-US" sz="1300" dirty="0">
                <a:solidFill>
                  <a:schemeClr val="bg1"/>
                </a:solidFill>
              </a:rPr>
              <a:t>With the real model, small differences are normal.</a:t>
            </a:r>
            <a:endParaRPr lang="en-US" sz="2200" dirty="0"/>
          </a:p>
        </p:txBody>
      </p:sp>
      <p:sp>
        <p:nvSpPr>
          <p:cNvPr id="12" name="badge"/>
          <p:cNvSpPr/>
          <p:nvPr/>
        </p:nvSpPr>
        <p:spPr>
          <a:xfrm>
            <a:off x="548640" y="4754880"/>
            <a:ext cx="3566160" cy="731520"/>
          </a:xfrm>
          <a:prstGeom prst="roundRect">
            <a:avLst>
              <a:gd name="adj" fmla="val 50000"/>
            </a:avLst>
          </a:prstGeom>
          <a:solidFill>
            <a:schemeClr val="accent1"/>
          </a:solidFill>
          <a:ln/>
        </p:spPr>
      </p:sp>
      <p:pic>
        <p:nvPicPr>
          <p:cNvPr id="13" name="Image 0" descr="preencoded.png">    </p:cNvPr>
          <p:cNvPicPr>
            <a:picLocks noChangeAspect="1"/>
          </p:cNvPicPr>
          <p:nvPr/>
        </p:nvPicPr>
        <p:blipFill>
          <a:blip r:embed="rId1"/>
          <a:stretch>
            <a:fillRect/>
          </a:stretch>
        </p:blipFill>
        <p:spPr>
          <a:xfrm>
            <a:off x="749808" y="4919472"/>
            <a:ext cx="402336" cy="402336"/>
          </a:xfrm>
          <a:prstGeom prst="rect">
            <a:avLst/>
          </a:prstGeom>
        </p:spPr>
      </p:pic>
      <p:sp>
        <p:nvSpPr>
          <p:cNvPr id="14" name="Text 11"/>
          <p:cNvSpPr txBox="1"/>
          <p:nvPr/>
        </p:nvSpPr>
        <p:spPr>
          <a:xfrm>
            <a:off x="1280160" y="4754880"/>
            <a:ext cx="2743200" cy="731520"/>
          </a:xfrm>
          <a:prstGeom prst="rect">
            <a:avLst/>
          </a:prstGeom>
          <a:noFill/>
          <a:ln/>
        </p:spPr>
        <p:txBody>
          <a:bodyPr wrap="square" lIns="0" tIns="0" rIns="0" bIns="0" rtlCol="0" anchor="ctr"/>
          <a:lstStyle/>
          <a:p>
            <a:pPr indent="0" marL="0">
              <a:buNone/>
            </a:pPr>
            <a:r>
              <a:rPr lang="en-US" sz="1100" dirty="0">
                <a:solidFill>
                  <a:schemeClr val="tx1"/>
                </a:solidFill>
              </a:rPr>
              <a:t>Badge unlocked</a:t>
            </a:r>
            <a:endParaRPr lang="en-US" sz="1100" dirty="0"/>
          </a:p>
          <a:p>
            <a:pPr indent="0" marL="0">
              <a:buNone/>
            </a:pPr>
            <a:r>
              <a:rPr lang="en-US" sz="1600" b="1" dirty="0">
                <a:solidFill>
                  <a:schemeClr val="tx1"/>
                </a:solidFill>
              </a:rPr>
              <a:t>Trigger Tuner</a:t>
            </a:r>
            <a:endParaRPr lang="en-US" sz="1100" dirty="0"/>
          </a:p>
        </p:txBody>
      </p:sp>
      <p:sp>
        <p:nvSpPr>
          <p:cNvPr id="15" name="Text 12"/>
          <p:cNvSpPr txBox="1"/>
          <p:nvPr/>
        </p:nvSpPr>
        <p:spPr>
          <a:xfrm>
            <a:off x="4389120" y="4754880"/>
            <a:ext cx="7269480" cy="731520"/>
          </a:xfrm>
          <a:prstGeom prst="rect">
            <a:avLst/>
          </a:prstGeom>
          <a:noFill/>
          <a:ln/>
        </p:spPr>
        <p:txBody>
          <a:bodyPr wrap="square" lIns="0" tIns="0" rIns="0" bIns="0" rtlCol="0" anchor="ctr"/>
          <a:lstStyle/>
          <a:p>
            <a:pPr indent="0" marL="0">
              <a:buNone/>
            </a:pPr>
            <a:r>
              <a:rPr lang="en-US" sz="1500" b="1" dirty="0">
                <a:solidFill>
                  <a:schemeClr val="tx1"/>
                </a:solidFill>
              </a:rPr>
              <a:t>Done when: 10 prompts in triggers.jsonl, final score 27/30 or more, and you can say which words fixed the false trigger.</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777240"/>
          </a:xfrm>
          <a:prstGeom prst="rect">
            <a:avLst/>
          </a:prstGeom>
          <a:noFill/>
          <a:ln/>
        </p:spPr>
        <p:txBody>
          <a:bodyPr wrap="square" lIns="0" tIns="0" rIns="0" bIns="0" rtlCol="0" anchor="ctr"/>
          <a:lstStyle/>
          <a:p>
            <a:pPr algn="l" indent="0" marL="0">
              <a:buNone/>
            </a:pPr>
            <a:r>
              <a:rPr lang="en-US" sz="3200" b="1" dirty="0">
                <a:solidFill>
                  <a:schemeClr val="tx1"/>
                </a:solidFill>
              </a:rPr>
              <a:t>If something does not match</a:t>
            </a:r>
            <a:endParaRPr lang="en-US" sz="3200" dirty="0"/>
          </a:p>
        </p:txBody>
      </p:sp>
      <p:sp>
        <p:nvSpPr>
          <p:cNvPr id="3" name="Text 1"/>
          <p:cNvSpPr txBox="1"/>
          <p:nvPr/>
        </p:nvSpPr>
        <p:spPr>
          <a:xfrm>
            <a:off x="548640" y="1143000"/>
            <a:ext cx="11109960" cy="411480"/>
          </a:xfrm>
          <a:prstGeom prst="rect">
            <a:avLst/>
          </a:prstGeom>
          <a:noFill/>
          <a:ln/>
        </p:spPr>
        <p:txBody>
          <a:bodyPr wrap="square" lIns="0" tIns="0" rIns="0" bIns="0" rtlCol="0" anchor="ctr"/>
          <a:lstStyle/>
          <a:p>
            <a:pPr indent="0" marL="0">
              <a:buNone/>
            </a:pPr>
            <a:r>
              <a:rPr lang="en-US" sz="1500" b="1" dirty="0">
                <a:solidFill>
                  <a:schemeClr val="accent4"/>
                </a:solidFill>
              </a:rPr>
              <a:t>First run  python tools/check_lab3.py : it names the step and the line to fix.</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4572000"/>
                <a:gridCol w="6537960"/>
              </a:tblGrid>
              <a:tr h="502920">
                <a:tc>
                  <a:txBody>
                    <a:bodyPr/>
                    <a:lstStyle/>
                    <a:p>
                      <a:pPr indent="0" marL="0">
                        <a:buNone/>
                      </a:pPr>
                      <a:r>
                        <a:rPr lang="en-US" sz="1300" b="1" dirty="0">
                          <a:solidFill>
                            <a:schemeClr val="bg1"/>
                          </a:solidFill>
                        </a:rPr>
                        <a:t>You see</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rPr>
                        <a:t>Do this</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tx1"/>
                    </a:solidFill>
                  </a:tcPr>
                </a:tc>
              </a:tr>
              <a:tr h="502920">
                <a:tc>
                  <a:txBody>
                    <a:bodyPr/>
                    <a:lstStyle/>
                    <a:p>
                      <a:pPr indent="0" marL="0">
                        <a:buNone/>
                      </a:pPr>
                      <a:r>
                        <a:rPr lang="en-US" sz="1300" b="1" dirty="0">
                          <a:solidFill>
                            <a:schemeClr val="tx1"/>
                          </a:solidFill>
                        </a:rPr>
                        <a:t>JSONDecodeError … triggers.jsonl</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A line is broken. check_lab3 shows the line number: fix quotes or commas</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300" b="1" dirty="0">
                          <a:solidFill>
                            <a:schemeClr val="tx1"/>
                          </a:solidFill>
                        </a:rPr>
                        <a:t>Target 'invoice-summary-formatter' not found</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Run from the Lab 3 student folder; do not rename the skill folder</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300" b="1" dirty="0">
                          <a:solidFill>
                            <a:schemeClr val="tx1"/>
                          </a:solidFill>
                        </a:rPr>
                        <a:t>Score did not change after editing SKILL.md</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File not saved, or you edited a different SKILL.md</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300" b="1" dirty="0">
                          <a:solidFill>
                            <a:schemeClr val="tx1"/>
                          </a:solidFill>
                        </a:rPr>
                        <a:t>check_skill says the name or description is broken</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The description must stay on ONE line, starting with  description:</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300" b="1" dirty="0">
                          <a:solidFill>
                            <a:schemeClr val="tx1"/>
                          </a:solidFill>
                        </a:rPr>
                        <a:t>Missing setting 'FIL_CLIENT_ID'</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Copy your .env into this folder, or use LLM_MODE=mock</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300" b="1" dirty="0">
                          <a:solidFill>
                            <a:schemeClr val="tx1"/>
                          </a:solidFill>
                        </a:rPr>
                        <a:t>Real model: score changes between runs</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Normal. Use --runs 3 and aim for 27/30 or more</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300" b="1" dirty="0">
                          <a:solidFill>
                            <a:schemeClr val="tx1"/>
                          </a:solidFill>
                        </a:rPr>
                        <a:t>A different prompt fails for you</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Read its XX line: missed → add words to 'Use when', false → add to 'Do not use'</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Skill Blocks">
  <a:themeElements>
    <a:clrScheme name="Skill Blocks">
      <a:dk1>
        <a:srgbClr val="1B1F3B"/>
      </a:dk1>
      <a:lt1>
        <a:srgbClr val="FFFFFF"/>
      </a:lt1>
      <a:dk2>
        <a:srgbClr val="4A5170"/>
      </a:dk2>
      <a:lt2>
        <a:srgbClr val="F1F3F8"/>
      </a:lt2>
      <a:accent1>
        <a:srgbClr val="F2A541"/>
      </a:accent1>
      <a:accent2>
        <a:srgbClr val="2A9D8F"/>
      </a:accent2>
      <a:accent3>
        <a:srgbClr val="E76F51"/>
      </a:accent3>
      <a:accent4>
        <a:srgbClr val="6C63FF"/>
      </a:accent4>
      <a:accent5>
        <a:srgbClr val="3FA34D"/>
      </a:accent5>
      <a:accent6>
        <a:srgbClr val="264653"/>
      </a:accent6>
      <a:hlink>
        <a:srgbClr val="2A9D8F"/>
      </a:hlink>
      <a:folHlink>
        <a:srgbClr val="6C63FF"/>
      </a:folHlink>
    </a:clrScheme>
    <a:fontScheme name="Skill Block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FIL Gurgaon - AI Specialisation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3 - Exact steps</dc:title>
  <dc:subject>PptxGenJS Presentation</dc:subject>
  <dc:creator>Abinash Kumar Mishra</dc:creator>
  <cp:lastModifiedBy>Abinash Kumar Mishra</cp:lastModifiedBy>
  <cp:revision>1</cp:revision>
  <dcterms:created xsi:type="dcterms:W3CDTF">2026-10-25T13:46:18Z</dcterms:created>
  <dcterms:modified xsi:type="dcterms:W3CDTF">2026-10-25T13:46:18Z</dcterms:modified>
</cp:coreProperties>
</file>