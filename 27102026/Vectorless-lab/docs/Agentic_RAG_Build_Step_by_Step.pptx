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73aa11d-7486-788d-b74b-96b1a40b4424}">
          <p14:sldIdLst>
            <p14:sldId id="256"/>
            <p14:sldId id="257"/>
            <p14:sldId id="258"/>
            <p14:sldId id="259"/>
          </p14:sldIdLst>
        </p14:section>
        <p14:section name="Tools" id="{a9afc850-1e06-85ac-6331-03ae328fee8b}">
          <p14:sldIdLst>
            <p14:sldId id="260"/>
            <p14:sldId id="261"/>
          </p14:sldIdLst>
        </p14:section>
        <p14:section name="Wiring" id="{13571d9a-665d-6741-535b-5bd6071e27f9}">
          <p14:sldIdLst>
            <p14:sldId id="262"/>
          </p14:sldIdLst>
        </p14:section>
        <p14:section name="Nodes" id="{5366d758-8cec-fe07-d22b-6c2a8cc50b98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un and verify" id="{a5b771c1-e73d-77d9-5fa6-a4a191d2ae1b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the hands-on guide. Each slide = one step, with the file, the TODO number, the code shape and the tests that turn green. Students keep this open next to VS Code. The order is deliberate: tools first (pure functions, easy wins), then wire the whole graph so it compiles, then fill nodes one at a time and watch the trace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from Lab 1 stays and keeps working: the Lab 1 Chat, Compare, Evaluate and Knowledge base tabs, and the 25 Lab 1 tests (now regression tests). The new code lives in one package, app/agent. requirements.txt gains one line (langgraph). .env gains an 'Agentic RAG' block with the safety rails. main.py creates the AgentService next to the RagService, sharing the same FAISS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Unzip, install, copy .env, check setup, run pytest: 22 failed, 28 passed. The 3 Graph RAG lite tests already pass because that file is provided. Start the server: Lab 1 tabs work; the Agentic tab says 'Agent not ready yet (501): TODO 12'.
Order: tools first (pure Python, quick wins), then TODO 12 so the graph compiles, then the nodes in the order a question flows through them. Clarify (TODO 11) last because it needs the whole graph and a checkpointer.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writing any node, read state.py together. Point at the three groups. Conversation: messages with add_messages, saved per thread. This turn: plain fields that nodes overwrite. Parallel-safe: evidence, tried_queries and steps use accumulate because retrieve runs in parallel.
SubQuery and Evidence are small TypedDicts; tests compare them as plain dicts. start_turn (provided) resets the per-turn fields at the start of every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LLMs are bad at arithmetic and the answer prompt tells the model to write &lt;calc&gt;expr&lt;/calc&gt;. apply_calculations (provided) calls your function for each tag.
The security lesson: the expression comes from an LLM, which reads user text. eval() would run anything, e.g. __import__('os').system(...). Parse with ast and allow only numbers, + - * / // % **, unary minus, parentheses and four functions. Reject the rest. Also cap the exponent: 2 ** 10**9 would freeze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agent's default search tool. It reuses three Lab 1 functions. One important difference from Lab 1: BM25 runs over the WHOLE corpus, not just over the semantic pool. In Lab 1 BM25 could only re-rank what FAISS had already found; here it can find an exact code FAISS never returned.
Why not MQR inside the agent? The planner already writes focused sub-questions, which is MQR's job. AGENT_SEARCH_MODE=mqr_rrf switches back to the full Lab 1 pipeline if you want to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 everything now, even though the nodes still raise NotImplementedError. Why first? The graph compiles, /api/agent/graph shows the diagram, and from now on every node you finish becomes visible in the trace.
Three rules: give every conditional edge its list of possible targets (LangGraph validates and draws them); the loop edges are just conditional edges pointing backwards; compile WITH a checkpointer, otherwise memory and interrupt will not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LLM call with the ROUTER prompt; the model replies with JSON. The skill: never trust the router. Unparsable reply or unknown route means 'simple' (when unsure, retrieve). Clarify only once and only with a question to ask. Direct with no reply gets a default. A gateway error also falls back to simple.
after_route is the routing function for the conditional edge: it only maps the route to a node name. It must not call the LLM or update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 simple → one sub-query, no LLM call. Complex → PLANNER prompt with the list of known entities so the model can pick the entity tool. Validate every item: skip junk, unknown tool → search, unknown entity → search, dedupe, cap at AGENT_MAX_SUBQUESTIONS. If nothing valid: fall back to the simple plan.
fan_out is a routing function that returns a LIST of Send objects: one parallel retrieve per new sub-query. Nothing new → 'generate'. The same function is reused by after_assess for the second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retrieve receives the Send payload {'sub': ...}, NOT the whole state. Choose the tool: entity → entity_tool (falls back to search if the entity has no chunks); search → search_tool. Return evidence, the query key in tried_queries (so we never repeat a search) and a trace step.
The reducer on evidence is what lets 2-3 of these run in the same step without overwriting each other. Students who forget the reducer get InvalidUpdateError: show that error on purpose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agentic RAG. assess: number the unique evidence, ask the ASSESS prompt which passages are relevant, whether they are sufficient, and what is missing. Map passage numbers (1-based) to chunk ids; ignore anything invalid. Missing queries become round-2 sub-queries (max 2, never ones already tried). Fail OPEN: if the grader breaks, keep everything and move on.
after_assess is the loop: generate if sufficient, out of rounds, or nothing pending; else fan_out again. Walk through the S4 trace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Lab 1: build_context_block for numbered passages within the budget, extract_citations to verify [n]. New: only RELEVANT evidence goes in (assess decided), capped at AGENT_MAX_CONTEXT_CHUNKS; the ANSWER prompt asks for &lt;calc&gt; tags; apply_calculations replaces them using your safe_calculate. If the check node sent feedback, append it so the rewrite fixes the problem. No relevant evidence → NOT_FOUND without any LLM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Self-RAG style. Skip (no LLM call) when the check is disabled, nothing was used, or the answer is NOT_FOUND. Otherwise ask CHECK for grounded / complete / problem. Retry only if something failed AND regenerations &lt; max. Important LangGraph detail: the routing function cannot update state, so the CHECK NODE increments regenerations and stores the feedback; after_check just reads check['retry'].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lines of real code. interrupt(payload) stops the graph; the API sees the pending interrupt and returns status needs_clarification. When the user replies, the API calls invoke(Command(resume=answer)) with the same thread_id and interrupt() returns that answer. Append it to the standalone question, increment clarifications, and the edge goes back to route (which will not clarify twice).
Show the screenshot: the trace has route twice, clarify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to code here, but explain how it fits. service.py runs the graph: ask() for a new message, resume() after a clarification, stream() yields one event per node. routes.py exposes them; /api/agent/stream sends Server-Sent Events. The React tab draws the live timeline, lights up visited nodes, and has a Compare with MQR + RRF button under every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pytest -k to run a group: pytest -k A0 for tools, etc. Checkpoints: A after tools, B after the graph compiles and route/plan/retrieve/assess work, C when everything is green. The tests use a fake LLM that answers each TASK prompt, so they run offline and cost nothing. Lab 1's 25 tests must stay green: they protect the tools the agent reuses.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acceptance test. Click each scenario in the Agentic RAG tab, check the route and the trace, then press Compare with MQR + RRF. Fill in the last column as a team. Expected behaviour comes from data/agent_scenarios.json; with the real model some routes may differ: discuss why rather than forcing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during the lab. Every error here is a classic LangGraph mistake and maps to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what they built, the cost trade-off and the stretch goals. Remind: secrets only in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9E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62179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9E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Lab 2 · Agentic RAG · Build it step by step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8745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it: Lab 1 → Agentic RAG</a:t>
            </a:r>
            <a:endParaRPr lang="en-US" sz="48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LAB 2 · STEP BY STEP</a:t>
            </a:r>
            <a:endParaRPr lang="en-US" sz="1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3429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9E5"/>
                </a:solidFill>
              </a:rPr>
              <a:t>12 TODOs, one at a time: tools → wiring → nodes. Every step has tests that turn green.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LangChain · LangGraph · FAISS · React · azure/gpt-6-luna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the project (and what stays)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(Lab 1, reused as tools)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llm_client.py         shared gateway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app/llm.py            chat_complete, embeddings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app/ingest.py         chunking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app/vector_store.py   FAISS in memory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app/basic_rag.py      basic_retrieve, with_meta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app/rerank.py         bm25_rank, RRF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app/generation.py     build_context_block,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extract_citations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(Lab 1)        25 regression tests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requirements.txt: langgraph   + .env: AGENT_* block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app/agent/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0116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     AGENT_* settings        provided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      AgentState + reducers   provided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prompts.py    one prompt per decision provided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parsing.py    parse_json              provided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graph_rag.py  entity graph (lite)     provided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      calc, hybrid search     TODO 1-2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      nodes + routing         TODO 3-11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graph.py      StateGraph wiring       TODO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service.py    run / resume / stream   provided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routes.py     /api/agent/*            provided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frontend: Agentic RAG tab · data/agent_scenarios.json · tests/test_agent_*.py (25)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point and the order of work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1206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    # enterprise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00_check_setup.py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                 # 22 failed, 28 passed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 --port 8000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5120640" cy="201168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tab right now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480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 not ready yet (501): TODO 12 build_graph". Lab 1 tabs work as before. That is expected.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2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7160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1–2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137160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784080" y="137160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879092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1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87909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187909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784080" y="187909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5040" y="2386584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2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2386584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3–4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238658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784080" y="238658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0" y="2894076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1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0" y="289407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5–6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289407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Send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784080" y="289407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3401568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2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0" y="340156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7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340156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784080" y="3401568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035040" y="3909060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1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17920" y="390906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8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390906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loop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784080" y="390906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035040" y="4416552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2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17920" y="441655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9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589520" y="441655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784080" y="441655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035040" y="4924044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1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17920" y="4924044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10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589520" y="492404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9784080" y="492404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035040" y="5431536"/>
            <a:ext cx="5577840" cy="429768"/>
          </a:xfrm>
          <a:prstGeom prst="roundRect">
            <a:avLst>
              <a:gd name="adj" fmla="val 25532"/>
            </a:avLst>
          </a:prstGeom>
          <a:solidFill>
            <a:schemeClr val="bg2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17920" y="543153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11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589520" y="543153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9784080" y="543153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nodes.py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first: the state every node shares (provided)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011680"/>
                <a:gridCol w="15544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(input), finalize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add_messages: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contextualize, clarify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route, route_reason, direct_reply, clarify_question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pending, rounds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assess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evidence, tried_queries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(parallel!)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 reducer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relevant_ids, sufficient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answer, citations, calculations, used_ids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check, regenerations,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accumulate: the UI trace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37160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73568" y="15087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SubQuery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"r1-q2",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"tool": "search" | "entity",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"entity": "graduate trainee",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"round": 1 }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772400" y="3657600"/>
            <a:ext cx="3840480" cy="2240280"/>
          </a:xfrm>
          <a:prstGeom prst="roundRect">
            <a:avLst>
              <a:gd name="adj" fmla="val 489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46720" y="3913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449884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returns ONLY the keys it changes. Returning None for an accumulate field resets it (start_turn does that).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1 · safe_calculate(): a calculator tool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safe_calculate(expr: str) -&gt; str: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 = ast.parse(expr, mode="eval")  # else CalcError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ev(node):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isinstance(node, ast.Expression):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ev(node.body)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is_number_constant(node):         # not bool/str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node.value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isinstance(node, ast.BinOp) and op_ok(node):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...  # exponent &lt;= 100, catch ZeroDivisionError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isinstance(node, ast.UnaryOp) and op_ok(node):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is_allowed_call(node):     # round/min/max/abs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CalcError("not allowed")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format_number(ev(tree))     # 10.0 -&gt; "10"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*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"10.5"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* (2000 + 7500)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"28500"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round(50000/12)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"4167"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__import__('os')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+ 1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A01, A02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2 · hybrid_search(): Lab 1 parts, zero LLM calls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hybrid_search(store, query, k_each=10,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final_k=5, rrf_k=60):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query.strip() or store.size == 0: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Lab 1: FAISS cosine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semantic = basic_retrieve(store, query, k_each)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Lab 1: BM25 over ALL chunks (not just the pool)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ranked = bm25_rank([query], list(store.docs.values()))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bm25 = [d for d in ranked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d.metadata["bm25_score"] &gt; 0][:k_each]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Lab 1: fuse with RRF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reciprocal_rank_fusion([semantic, bm25],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k=rrf_k, top_n=final_k)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178308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526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top-10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37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50008" y="4983480"/>
            <a:ext cx="237744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06040" y="4434840"/>
            <a:ext cx="178308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4526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top-10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4937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corpus · exact words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07408" y="4983480"/>
            <a:ext cx="237744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663440" y="4434840"/>
            <a:ext cx="178308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526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4937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0" y="137160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0" y="16276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Lab 1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221284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over all 59 chunks, so PAY-E4035 is found even when the embedding ranks it nowhere.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0" y="365760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32320" y="39136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tools (provided)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449884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search_tool(): hybrid or mqr_rrf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entity_tool(): Graph RAG lite lookup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A03, A04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12 · build_graph(): wire the StateGraph first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94360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5778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StateGraph(AgentState)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 in NODE_NAMES:          # the 11 node names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g.add_node(name, getattr(nodes, name))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g.add_edge(START, "start_turn")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g.add_edge("start_turn", "contextualize")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g.add_edge("contextualize", "route")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g.add_conditional_edges("route", nodes.after_route,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["direct_answer", "clarify", "plan"])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g.add_edge("clarify", "route")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g.add_edge("direct_answer", "finalize")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g.add_conditional_edges("plan", nodes.fan_out,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["retrieve", "generate"])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g.add_edge("retrieve", "assess")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g.add_conditional_edges("assess", nodes.after_assess,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["retrieve", "generate"])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g.add_edge("generate", "check")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g.add_conditional_edges("check", nodes.after_check,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["generate", "finalize"])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g.add_edge("finalize", END)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g.compile(checkpointer=checkpointer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or InMemorySaver())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20840" y="1828800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1828800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start_turn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7573792" y="1828800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73792" y="1828800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contextualize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8426745" y="1828800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26745" y="1828800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9376258" y="1828800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76258" y="1828800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direct_answer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11082162" y="1828800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082162" y="1828800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finalize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9376258" y="2291486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76258" y="2291486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clarify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8426745" y="2472538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26745" y="2472538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8475025" y="2967411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50885" y="2991551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26745" y="3015691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26745" y="3015691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550" dirty="0"/>
          </a:p>
        </p:txBody>
      </p:sp>
      <p:sp>
        <p:nvSpPr>
          <p:cNvPr id="26" name="Shape 23"/>
          <p:cNvSpPr/>
          <p:nvPr/>
        </p:nvSpPr>
        <p:spPr>
          <a:xfrm>
            <a:off x="9376258" y="3015691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376258" y="3015691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</a:t>
            </a:r>
            <a:endParaRPr lang="en-US" sz="550" dirty="0"/>
          </a:p>
        </p:txBody>
      </p:sp>
      <p:sp>
        <p:nvSpPr>
          <p:cNvPr id="28" name="Shape 25"/>
          <p:cNvSpPr/>
          <p:nvPr/>
        </p:nvSpPr>
        <p:spPr>
          <a:xfrm>
            <a:off x="10229210" y="3015691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229210" y="3015691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550" dirty="0"/>
          </a:p>
        </p:txBody>
      </p:sp>
      <p:sp>
        <p:nvSpPr>
          <p:cNvPr id="30" name="Shape 27"/>
          <p:cNvSpPr/>
          <p:nvPr/>
        </p:nvSpPr>
        <p:spPr>
          <a:xfrm>
            <a:off x="11082162" y="3015691"/>
            <a:ext cx="651784" cy="249448"/>
          </a:xfrm>
          <a:prstGeom prst="roundRect">
            <a:avLst>
              <a:gd name="adj" fmla="val 29326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1082162" y="3015691"/>
            <a:ext cx="651784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550" dirty="0"/>
          </a:p>
        </p:txBody>
      </p:sp>
      <p:sp>
        <p:nvSpPr>
          <p:cNvPr id="32" name="Shape 29"/>
          <p:cNvSpPr/>
          <p:nvPr/>
        </p:nvSpPr>
        <p:spPr>
          <a:xfrm>
            <a:off x="7372624" y="1953524"/>
            <a:ext cx="201168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225577" y="1953524"/>
            <a:ext cx="201168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078529" y="1953524"/>
            <a:ext cx="297729" cy="914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980761" y="2078248"/>
            <a:ext cx="914" cy="337962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8980761" y="2416211"/>
            <a:ext cx="395496" cy="914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7" name="Shape 34"/>
          <p:cNvSpPr/>
          <p:nvPr/>
        </p:nvSpPr>
        <p:spPr>
          <a:xfrm flipV="1">
            <a:off x="9454472" y="2158716"/>
            <a:ext cx="914" cy="132771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9058975" y="2158716"/>
            <a:ext cx="395496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9058975" y="2087392"/>
            <a:ext cx="914" cy="71323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8687458" y="2078248"/>
            <a:ext cx="914" cy="394289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687458" y="2721986"/>
            <a:ext cx="914" cy="23737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9078529" y="3140415"/>
            <a:ext cx="297729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702150" y="3265140"/>
            <a:ext cx="914" cy="128748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 flipH="1">
            <a:off x="8817815" y="3393887"/>
            <a:ext cx="884335" cy="914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 flipV="1">
            <a:off x="8817815" y="3283428"/>
            <a:ext cx="914" cy="110460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0028042" y="3140415"/>
            <a:ext cx="201168" cy="914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10880994" y="3140415"/>
            <a:ext cx="201168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11408054" y="3265140"/>
            <a:ext cx="914" cy="128748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 flipH="1">
            <a:off x="10555102" y="3393887"/>
            <a:ext cx="852952" cy="914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 flipV="1">
            <a:off x="10555102" y="3283428"/>
            <a:ext cx="914" cy="110460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51" name="Shape 48"/>
          <p:cNvSpPr/>
          <p:nvPr/>
        </p:nvSpPr>
        <p:spPr>
          <a:xfrm flipV="1">
            <a:off x="11408054" y="2078248"/>
            <a:ext cx="914" cy="937443"/>
          </a:xfrm>
          <a:prstGeom prst="line">
            <a:avLst/>
          </a:prstGeom>
          <a:noFill/>
          <a:ln w="2032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10028042" y="1953524"/>
            <a:ext cx="1054120" cy="914"/>
          </a:xfrm>
          <a:prstGeom prst="line">
            <a:avLst/>
          </a:prstGeom>
          <a:noFill/>
          <a:ln w="2032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3" name="Text 50"/>
          <p:cNvSpPr txBox="1"/>
          <p:nvPr/>
        </p:nvSpPr>
        <p:spPr>
          <a:xfrm>
            <a:off x="9188257" y="1832823"/>
            <a:ext cx="91440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2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462" dirty="0"/>
          </a:p>
        </p:txBody>
      </p:sp>
      <p:sp>
        <p:nvSpPr>
          <p:cNvPr id="54" name="Text 51"/>
          <p:cNvSpPr txBox="1"/>
          <p:nvPr/>
        </p:nvSpPr>
        <p:spPr>
          <a:xfrm>
            <a:off x="9053913" y="2295510"/>
            <a:ext cx="91440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2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462" dirty="0"/>
          </a:p>
        </p:txBody>
      </p:sp>
      <p:sp>
        <p:nvSpPr>
          <p:cNvPr id="55" name="Text 52"/>
          <p:cNvSpPr txBox="1"/>
          <p:nvPr/>
        </p:nvSpPr>
        <p:spPr>
          <a:xfrm>
            <a:off x="7087258" y="2306848"/>
            <a:ext cx="150876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62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/ complex</a:t>
            </a:r>
            <a:endParaRPr lang="en-US" sz="462" dirty="0"/>
          </a:p>
        </p:txBody>
      </p:sp>
      <p:sp>
        <p:nvSpPr>
          <p:cNvPr id="56" name="Text 53"/>
          <p:cNvSpPr txBox="1"/>
          <p:nvPr/>
        </p:nvSpPr>
        <p:spPr>
          <a:xfrm>
            <a:off x="6812938" y="2904866"/>
            <a:ext cx="178308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62" b="1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×N (parallel)</a:t>
            </a:r>
            <a:endParaRPr lang="en-US" sz="462" dirty="0"/>
          </a:p>
        </p:txBody>
      </p:sp>
      <p:sp>
        <p:nvSpPr>
          <p:cNvPr id="57" name="Text 54"/>
          <p:cNvSpPr txBox="1"/>
          <p:nvPr/>
        </p:nvSpPr>
        <p:spPr>
          <a:xfrm>
            <a:off x="8909255" y="3401934"/>
            <a:ext cx="219456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2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→ next hop</a:t>
            </a:r>
            <a:endParaRPr lang="en-US" sz="462" dirty="0"/>
          </a:p>
        </p:txBody>
      </p:sp>
      <p:sp>
        <p:nvSpPr>
          <p:cNvPr id="58" name="Text 55"/>
          <p:cNvSpPr txBox="1"/>
          <p:nvPr/>
        </p:nvSpPr>
        <p:spPr>
          <a:xfrm>
            <a:off x="10055474" y="3019715"/>
            <a:ext cx="50292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2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</a:t>
            </a:r>
            <a:endParaRPr lang="en-US" sz="462" dirty="0"/>
          </a:p>
        </p:txBody>
      </p:sp>
      <p:sp>
        <p:nvSpPr>
          <p:cNvPr id="59" name="Text 56"/>
          <p:cNvSpPr txBox="1"/>
          <p:nvPr/>
        </p:nvSpPr>
        <p:spPr>
          <a:xfrm>
            <a:off x="10646542" y="3401934"/>
            <a:ext cx="219456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2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rewrite once</a:t>
            </a:r>
            <a:endParaRPr lang="en-US" sz="462" dirty="0"/>
          </a:p>
        </p:txBody>
      </p:sp>
      <p:sp>
        <p:nvSpPr>
          <p:cNvPr id="60" name="Text 57"/>
          <p:cNvSpPr txBox="1"/>
          <p:nvPr/>
        </p:nvSpPr>
        <p:spPr>
          <a:xfrm>
            <a:off x="11481206" y="2633472"/>
            <a:ext cx="45720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2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462" dirty="0"/>
          </a:p>
        </p:txBody>
      </p:sp>
      <p:sp>
        <p:nvSpPr>
          <p:cNvPr id="61" name="Text 58"/>
          <p:cNvSpPr txBox="1"/>
          <p:nvPr/>
        </p:nvSpPr>
        <p:spPr>
          <a:xfrm>
            <a:off x="9527624" y="2174809"/>
            <a:ext cx="1280160" cy="11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2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answered</a:t>
            </a:r>
            <a:endParaRPr lang="en-US" sz="462" dirty="0"/>
          </a:p>
        </p:txBody>
      </p:sp>
      <p:sp>
        <p:nvSpPr>
          <p:cNvPr id="62" name="Text 59"/>
          <p:cNvSpPr txBox="1"/>
          <p:nvPr/>
        </p:nvSpPr>
        <p:spPr>
          <a:xfrm>
            <a:off x="6720840" y="4480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GET /api/agent/graph returns this graph as Mermaid.</a:t>
            </a:r>
            <a:endParaRPr lang="en-US" sz="1350" dirty="0"/>
          </a:p>
        </p:txBody>
      </p:sp>
      <p:sp>
        <p:nvSpPr>
          <p:cNvPr id="63" name="Text 60"/>
          <p:cNvSpPr txBox="1"/>
          <p:nvPr/>
        </p:nvSpPr>
        <p:spPr>
          <a:xfrm>
            <a:off x="6720840" y="5029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checkpointer = no memory and no interrupt.</a:t>
            </a:r>
            <a:endParaRPr lang="en-US" sz="1350" dirty="0"/>
          </a:p>
        </p:txBody>
      </p:sp>
      <p:sp>
        <p:nvSpPr>
          <p:cNvPr id="64" name="Shape 61"/>
          <p:cNvSpPr/>
          <p:nvPr/>
        </p:nvSpPr>
        <p:spPr>
          <a:xfrm>
            <a:off x="6720840" y="576072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72084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A20–A25 need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3–4 · route(): decide how to handle it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clarified = state.get("clarifications", 0) &gt;=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(f"ALREADY_CLARIFIED: {'yes' if clarified else 'no'}\n"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f"Question: {state['standalone']}")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parse_json(chat_complete([ROUTER, user])) or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= data.get("route")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route not in ROUTES: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 = "simple"                  # unsure: retrieve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route == "clarify" and (clarified or not question):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 = "simple"                  # ask at most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route == "direct" and not reply_text: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reply_text = DEFAULT_DIRECT_REPLY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6035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5720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after_route(self, state)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state.get("route")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 == "direct":  return "direct_answer"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 == "clarify": return "clarify"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"plan"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"hi", a Python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direct_answer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is the limit?"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"hotel cap in Pune?"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(no LLM)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multi-part, "every", maths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(LLM)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858000" y="3886200"/>
            <a:ext cx="4754880" cy="18288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132320" y="4142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trick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47274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writes the direct reply itself, so small talk costs exactly 1 LLM call.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A08, A09, A10, A20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5–6 · plan() and fan_out() with Send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data.get("sub_questions") or []: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isinstance(item, dict) or not item.get("question"):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 = item.get("tool")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tool not in ("search", "entity"):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 = "search"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tool == "entity":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entity = self.graph.resolve(item.get("entity", ""))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entity: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tool = "search"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...dedupe by query_key(), stop at max_subquestions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6035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2062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fan_out(self, state):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tried = set(state.get("tried_queries") or [])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sends = [Send("retrieve", {"sub": s})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s in state["pending"]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if query_key(s) not in tried]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sends or "generate"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1371600"/>
            <a:ext cx="47548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86600" y="1508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S5: "List every rule that applies to graduate trainees"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21488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{"sub_questions":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{"question": "rules for graduate trainees",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"tool": "entity",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"entity": "graduate trainee"}]}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S6: "3 days and 3 nights in Pune, max claim?"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39319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r1-q1 search: daily per diem metro Pune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r1-q2 search: hotel cap per night metro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 × Send("retrieve", ...) in parallel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A11, A12, A13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7 · retrieve(): one sub-query, chosen tool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retrieve(self, payload: dict) -&gt; dict: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 = payload["sub"]              # only the payload!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sub["tool"] == "entity":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docs, info = entity_tool(self.graph, sub["entity"])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docs:                      # fallback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docs = search_tool(self.store, sub["question"],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self.rag_cfg, self.cfg.search_mode)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"evidence": [evidence_from(d, sub) for d in docs],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"tried_queries": [query_key(sub)],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"steps": [self._step("retrieve", ..., sub_id=...)],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1371600"/>
            <a:ext cx="4754880" cy="18288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6276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Payload, not state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128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parallel copy sees only {"sub": ...}. Results flow back via reducers.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0" y="3383280"/>
            <a:ext cx="4754880" cy="164592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6393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tool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42245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trainee → 5 chunks from 4 documents, one per document first.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257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Trace: retrieve  entity: graduate trainee → 5 chunks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A14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8 · assess(): the Corrective RAG loop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rounds = state.get("rounds", 0)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unique_evidence(state["evidence"])[:16]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parse_json(chat_complete([ASSESS, passages(items)]))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data:                          # FAIL OPEN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{"relevant_ids": all_ids, "sufficient": True}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= [items[n - 1]["chunk_id"] for n in valid_nums]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 = [SubQuery(id=f"r{rounds+1}-q{i}", question=m)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for i, m in new_missing[:2]]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6035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4348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after_assess(self, state):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 = (state["sufficient"]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 state["rounds"] &gt;= self.cfg.max_rounds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 not state["pending"])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"generate" if done else self.fan_out(state)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1371600"/>
            <a:ext cx="475488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8660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trace (PAY-E5000)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96596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     1 sub-question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 search: PAY-E5000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response → 5 chunks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    1/5 relevant · missing: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"Sev-2 acknowledgement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response time"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 search: Sev-2 ... →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    2/9 relevant · sufficient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 2 passages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5166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uses a term found in round 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A15, A16, A17, A21, A22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9 · generate(): grounded answer + calculator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[e for e in unique_evidence(state["evidence"])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e["chunk_id"] in relevant][:max_chunks]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items: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NOT_FOUND, ...}       # no LLM 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context, used = build_context_block(docs, max_chars) # Lab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f"Context passages:\n{context}\n\nQuestion: {q}"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state.get("feedback"):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+= f"\n\nA reviewer found a problem. Fix it: {fb}"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chat_complete([ANSWER, user])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answer, calcs = apply_calculations(raw)      # TODO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citations = extract_citations(answer, len(used))  # Lab 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754880"/>
            <a:ext cx="603504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846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claim &lt;calc&gt;3*2000 + 3*7500&lt;/calc&gt; INR [1][2]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claim 28500 INR [1][2]</a:t>
            </a:r>
            <a:endParaRPr lang="en-US" sz="1250" dirty="0"/>
          </a:p>
        </p:txBody>
      </p:sp>
      <p:pic>
        <p:nvPicPr>
          <p:cNvPr id="10" name="Image 0" descr="/tmp/claude-0/-home-claude/650d1197-b767-5364-b7a1-cf50077bb269/scratchpad/calc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371600"/>
            <a:ext cx="4754880" cy="4389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A18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10 · check(): verify, rewrite at most once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parse_json(chat_complete([CHECK, passages_answer])) or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= as_bool(data.get("grounded"), True)  # fail open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= as_bool(data.get("complete"), 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regen = state.get("regenerations",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= ((not grounded or not complete)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and regen &lt; self.cfg.max_regenerations)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{"check": {..., "retry": retry},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"regenerations": regen + (1 if retry else 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"feedback": problem if retry else ""}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480560"/>
            <a:ext cx="6035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617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after_check(self, state)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retry = state["check"].get("retry")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"generate" if retry else "finalize"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1371600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1371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9,000 [1]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2258568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22585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2585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grounded: 9,000 not in passages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0" y="3145536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314553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314553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with feedback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0" y="4032504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40880" y="403250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4032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(or no retries left)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0" y="4919472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0" y="491947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finalize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49194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memory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A19, A22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11 · clarify(): pause the graph, ask the human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8521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5087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clarify(self, state):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state.get("clarify_question", "")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interrupt({"question": q})  # pauses 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str(answer or "").strip()   # on resume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before = state["standalone"]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"standalone": f"{before} ({answer})",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"clarifications": state.get("clarifications", 0) + 1,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5852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069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app/agent/service.py (provided)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self.graph.invoke(Command(resume=answer), config)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 /api/agent/resume {thread_id, answer}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 /api/agent/stream {resume, thread_id}</a:t>
            </a:r>
            <a:endParaRPr lang="en-US" sz="1150" dirty="0"/>
          </a:p>
        </p:txBody>
      </p:sp>
      <p:pic>
        <p:nvPicPr>
          <p:cNvPr id="10" name="Image 0" descr="/tmp/claude-0/-home-claude/650d1197-b767-5364-b7a1-cf50077bb269/scratchpad/clarify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371600"/>
            <a:ext cx="4937760" cy="4389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89788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A23, A25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it: API, streaming, Agentic RAG tab (provided)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052560" y="6336792"/>
            <a:ext cx="21031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6336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/api/agent/chat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message → answer or needs_clarification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/api/agent/resume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after a clarification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/api/agent/stream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SSE: start, step × N, 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/api/agent/graph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Mermaid of the compiled 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/api/graph/entity/{name}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RAG lite lookup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4348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46908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276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creates one per conversation; "New conversation" = new thread = empty memory</a:t>
            </a:r>
            <a:endParaRPr lang="en-US" sz="1400" dirty="0"/>
          </a:p>
        </p:txBody>
      </p:sp>
      <p:pic>
        <p:nvPicPr>
          <p:cNvPr id="10" name="Image 0" descr="/tmp/claude-0/-home-claude/650d1197-b767-5364-b7a1-cf50077bb269/scratchpad/entity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371600"/>
            <a:ext cx="539496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map: 25 agent tests, 4 checkpoints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4389120"/>
                <a:gridCol w="1737360"/>
                <a:gridCol w="14630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A01–A04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calculator, hybrid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1–2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A05–A07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RAG 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aggregation, aliases,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A08–A10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parsing, guards,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3–4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A11–A13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+ Send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validation, fan-out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5–6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choice, fallback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A15–A17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grading, follow-ups, limits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calculator, citations, 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retry, skip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A20–A24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direct, multi-hop, bounds, clarify,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11–12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stream (SSE), resume,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-k "A0"  ·  pytest -x  ·  done = 50 passed (25 Lab 1 + 25 agent)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with the 8 scenarios, then compare with Lab 1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1554480"/>
                <a:gridCol w="32918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(short)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for in the 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function?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LLM call, no retrieve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Hi, what can you do?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LLM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limit?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paused, then route ×2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PAY-E5000 … acknowledge?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asks for a 2nd hop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rule for graduate trainees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tool, 4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 3 days + 3 nights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parallel searches, 1 calculation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budget vs home office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searches, subtraction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 leave → carried forward?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contextualize rewrites turn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LLM calls per scenario: is the extra cost worth it for each question type?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breaks: the errors everyone meets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383280"/>
                <a:gridCol w="41148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InvalidUpdateError: can receive only one value per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retrieve writes a field without a reducer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Annotated[list, accumulate] on evidence / tried_queries /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GraphRecursionError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loop without an exit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after_assess / after_check must check rounds and retry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clarification never resumes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checkpointer, or a new thread_id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compile(checkpointer=...), reuse the same thread_id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2 shows turn 1's chunks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per-turn fields not reset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start_turn returns None for accumulate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always says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reply is not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raw reply; tighten the ROUTER prompt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not ready yet (501)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TODO still raises NotImplementedError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message names the 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51460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Done: an agent built on your own retriever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31520" y="2011680"/>
            <a:ext cx="62179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4"/>
                </a:solidFill>
              </a:rPr>
              <a:t>WRAP-UP</a:t>
            </a:r>
            <a:endParaRPr lang="en-US" sz="1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3931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9E5"/>
                </a:solidFill>
              </a:rPr>
              <a:t>50 tests green, 8 scenarios checked, and a clear view of when the extra LLM calls are worth it.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80960" y="1188720"/>
            <a:ext cx="3931920" cy="4754880"/>
          </a:xfrm>
          <a:prstGeom prst="roundRect">
            <a:avLst>
              <a:gd name="adj" fmla="val 2791"/>
            </a:avLst>
          </a:prstGeom>
          <a:solidFill>
            <a:srgbClr val="0E4A46"/>
          </a:solidFill>
          <a:ln w="12700">
            <a:solidFill>
              <a:srgbClr val="0E4A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1874520"/>
            <a:ext cx="3474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 calling: bind_tools + ToolNode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SqliteSaver: memory survives restarts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LLM-extracted triples for Graph RAG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before sensitive answers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as automatic checks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AGENT_SEARCH_MODE=mqr_rrf vs hybrid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 Lab Teal">
  <a:themeElements>
    <a:clrScheme name="RAG Lab Teal">
      <a:dk1>
        <a:srgbClr val="0F1B2D"/>
      </a:dk1>
      <a:lt1>
        <a:srgbClr val="FFFFFF"/>
      </a:lt1>
      <a:dk2>
        <a:srgbClr val="0B3B38"/>
      </a:dk2>
      <a:lt2>
        <a:srgbClr val="F1F5F7"/>
      </a:lt2>
      <a:accent1>
        <a:srgbClr val="0F766E"/>
      </a:accent1>
      <a:accent2>
        <a:srgbClr val="B45309"/>
      </a:accent2>
      <a:accent3>
        <a:srgbClr val="64748B"/>
      </a:accent3>
      <a:accent4>
        <a:srgbClr val="2DD4BF"/>
      </a:accent4>
      <a:accent5>
        <a:srgbClr val="FDF3E4"/>
      </a:accent5>
      <a:accent6>
        <a:srgbClr val="E3F3F0"/>
      </a:accent6>
      <a:hlink>
        <a:srgbClr val="0F766E"/>
      </a:hlink>
      <a:folHlink>
        <a:srgbClr val="0B4F4A"/>
      </a:folHlink>
    </a:clrScheme>
    <a:fontScheme name="RAG Lab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RAG: build it step by step</dc:title>
  <dc:subject>PptxGenJS Presentation</dc:subject>
  <dc:creator>FIL Graduate AI Cohort</dc:creator>
  <cp:lastModifiedBy>FIL Graduate AI Cohort</cp:lastModifiedBy>
  <cp:revision>1</cp:revision>
  <dcterms:created xsi:type="dcterms:W3CDTF">2026-10-20T06:17:45Z</dcterms:created>
  <dcterms:modified xsi:type="dcterms:W3CDTF">2026-10-20T06:17:45Z</dcterms:modified>
</cp:coreProperties>
</file>