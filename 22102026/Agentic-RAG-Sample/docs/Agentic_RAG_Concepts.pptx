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02ae44a-9626-cfad-9770-e3a5d0e80936}">
          <p14:sldIdLst>
            <p14:sldId id="256"/>
            <p14:sldId id="257"/>
          </p14:sldIdLst>
        </p14:section>
        <p14:section name="Part 1: Problems that persist" id="{b14de83a-bf49-e20a-2394-d30bc08654b4}">
          <p14:sldIdLst>
            <p14:sldId id="258"/>
            <p14:sldId id="259"/>
            <p14:sldId id="260"/>
            <p14:sldId id="261"/>
            <p14:sldId id="262"/>
            <p14:sldId id="263"/>
            <p14:sldId id="264"/>
            <p14:sldId id="265"/>
            <p14:sldId id="266"/>
            <p14:sldId id="267"/>
          </p14:sldIdLst>
        </p14:section>
        <p14:section name="Part 2: Graph RAG" id="{f392f897-6226-9190-80da-49e877239d04}">
          <p14:sldIdLst>
            <p14:sldId id="268"/>
            <p14:sldId id="269"/>
            <p14:sldId id="270"/>
            <p14:sldId id="271"/>
            <p14:sldId id="272"/>
          </p14:sldIdLst>
        </p14:section>
        <p14:section name="Part 3: LangGraph" id="{fd7e97ba-94d8-b1e2-dd92-5f340aba342e}">
          <p14:sldIdLst>
            <p14:sldId id="273"/>
            <p14:sldId id="274"/>
            <p14:sldId id="275"/>
            <p14:sldId id="276"/>
            <p14:sldId id="277"/>
            <p14:sldId id="278"/>
            <p14:sldId id="279"/>
            <p14:sldId id="280"/>
            <p14:sldId id="281"/>
            <p14:sldId id="282"/>
            <p14:sldId id="283"/>
          </p14:sldIdLst>
        </p14:section>
        <p14:section name="Wrap-up" id="{2c1d55f0-ad17-861a-0684-951bad4762e9}">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F1B2D"/>
                </a:solidFill>
                <a:latin typeface="+mn-lt"/>
              </a:defRPr>
            </a:pPr>
            <a:r>
              <a:rPr sz="1500" b="0" i="0" u="none" strike="noStrike">
                <a:solidFill>
                  <a:srgbClr val="0F1B2D"/>
                </a:solidFill>
                <a:latin typeface="+mn-lt"/>
              </a:rPr>
              <a:t>Typical LLM calls per question</a:t>
            </a:r>
          </a:p>
        </c:rich>
      </c:tx>
      <c:layout/>
      <c:overlay val="0"/>
    </c:title>
    <c:autoTitleDeleted val="0"/>
    <c:plotArea>
      <c:layout/>
      <c:barChart>
        <c:barDir val="bar"/>
        <c:grouping val="clustered"/>
        <c:varyColors val="0"/>
        <c:ser>
          <c:idx val="0"/>
          <c:order val="0"/>
          <c:tx>
            <c:strRef>
              <c:f>Sheet1!$B$1</c:f>
              <c:strCache>
                <c:ptCount val="1"/>
                <c:pt idx="0">
                  <c:v>LLM calls</c:v>
                </c:pt>
              </c:strCache>
            </c:strRef>
          </c:tx>
          <c:spPr>
            <a:solidFill>
              <a:srgbClr val="0F766E"/>
            </a:solidFill>
            <a:effectLst/>
          </c:spPr>
          <c:invertIfNegative val="0"/>
          <c:dLbls>
            <c:numFmt formatCode="#,##0" sourceLinked="0"/>
            <c:txPr>
              <a:bodyPr/>
              <a:lstStyle/>
              <a:p>
                <a:pPr>
                  <a:defRPr b="0" i="0" strike="noStrike" sz="1300" u="none">
                    <a:solidFill>
                      <a:srgbClr val="0F1B2D"/>
                    </a:solidFill>
                    <a:latin typeface="+mn-lt"/>
                  </a:defRPr>
                </a:pPr>
              </a:p>
            </c:txPr>
            <c:showLegendKey val="0"/>
            <c:showVal val="1"/>
            <c:showCatName val="0"/>
            <c:showSerName val="0"/>
            <c:showPercent val="0"/>
            <c:showBubbleSize val="0"/>
            <c:showLeaderLines val="0"/>
          </c:dLbls>
          <c:cat>
            <c:multiLvlStrRef>
              <c:f>Sheet1!$A$2:$A$7</c:f>
              <c:multiLvlStrCache>
                <c:ptCount val="6"/>
                <c:lvl>
                  <c:pt idx="0">
                    <c:v>Basic RAG</c:v>
                  </c:pt>
                  <c:pt idx="1">
                    <c:v>MQR + RRF</c:v>
                  </c:pt>
                  <c:pt idx="2">
                    <c:v>Agent: direct</c:v>
                  </c:pt>
                  <c:pt idx="3">
                    <c:v>Agent: simple</c:v>
                  </c:pt>
                  <c:pt idx="4">
                    <c:v>Agent: complex</c:v>
                  </c:pt>
                  <c:pt idx="5">
                    <c:v>Agent: worst case</c:v>
                  </c:pt>
                </c:lvl>
              </c:multiLvlStrCache>
            </c:multiLvlStrRef>
          </c:cat>
          <c:val>
            <c:numRef>
              <c:f>Sheet1!$B$2:$B$7</c:f>
              <c:numCache>
                <c:formatCode>General</c:formatCode>
                <c:ptCount val="6"/>
                <c:pt idx="0">
                  <c:v>1</c:v>
                </c:pt>
                <c:pt idx="1">
                  <c:v>2</c:v>
                </c:pt>
                <c:pt idx="2">
                  <c:v>1</c:v>
                </c:pt>
                <c:pt idx="3">
                  <c:v>4</c:v>
                </c:pt>
                <c:pt idx="4">
                  <c:v>6</c:v>
                </c:pt>
                <c:pt idx="5">
                  <c:v>9</c:v>
                </c:pt>
              </c:numCache>
            </c:numRef>
          </c:val>
        </c:ser>
        <c:dLbls>
          <c:numFmt formatCode="#,##0" sourceLinked="0"/>
          <c:txPr>
            <a:bodyPr/>
            <a:lstStyle/>
            <a:p>
              <a:pPr>
                <a:defRPr b="0" i="0" strike="noStrike" sz="1300" u="none">
                  <a:solidFill>
                    <a:srgbClr val="0F1B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F1B2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made retrieval better: MQR for recall, RRF for precision, a grounded prompt. Today we ask a different question: what is still wrong even when retrieval is good? The answer is not 'better search' but 'better decisions'. That is what agentic RAG is about.
Three parts: 1) the problems that persist, 2) the one retrieval problem Graph RAG solves, 3) LangGraph, the framework we use to build the agent. Then the build deck walks through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with the numbers students measured in Lab 1 (use your real Evaluate numbers here). Lab 1 fixed WHAT we retrieve. It did not touch HOW the system decides: the pipeline is identical for every question. The right column is today's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Eight concrete problems, each with a question from our NovaPay handbook that you can run in the Lab 1 Chat tab right now. Run S1, S4 and S5 live before 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red note. ALWAYS: even 'hi' costs a rewrite call, 4 searches and an answer call. ONCE: whatever the first search returns is all we get; no second try with what we learned. NEVER CHECKS: the chunks are not graded and the answer is not verified. FORGETS: each request is independent.
In LangChain terms this is an LCEL chain: a straight line (a DAG). A chain cannot loop or branch on its own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scenario in data/agent_scenarios.json and a button in the Agentic RAG tab. The numbers S1-S8 match. Students should be able to name the problem for any question you throw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limitation. MQR writes all its queries BEFORE it has seen any chunk, from the original words only. None of them can contain 'Sev-2', because the user never said Sev-2: that word only appears after reading the PAY-E5000 chunk.
The agent's assess node reads the chunks, notices that the response time is missing, and writes a NEW query using the term it just learned. That is a loop: retrieve, read, decide, retrieve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checks are missing.
1) Before answering: are these chunks relevant at all? RRF ranks chunks relative to each other; it never says 'none of these is good'. Five weak chunks still become the context.
2) After answering: is every claim supported? The grounded prompt asks for citations but nobody verifies them.
The agent adds both: assess grades chunks (Corrective RAG) and check verifies the answer (Self-RAG). Both are bounded: at most 2 retrieval rounds, at most 1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smaller problems, each fixed by one small feature.
Always retrieve: wasted cost and irrelevant context for small talk and out-of-scope questions. Router.
Vague question: the chatbot guesses which limit. Clarify with a human-in-the-loop pause.
Mental maths: LLMs are unreliable at arithmetic; give them a calculator tool.
No memory: follow-up questions with pronouns fail. Keep chat history per thread and rewrite the follow-up into a standalone question before retrieving.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to write on the board: in agentic RAG, the LLM does not only write the answer, it makes CONTROL decisions: whether to retrieve, what to retrieve with which tool, whether the result is good enough, whether the answer is good enough, and when to ask the human.
The spectrum on the right: a chain has zero decisions; a router has one; our agent has a planner and two bounded loops; a fully autonomous ReAct agent decides every step itself. More autonomy = more flexible, but less predictable and more expensive. We stop deliberately in the middle: explicit nodes, bounded loops,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names come from research papers and the LangGraph tutorials; students will see them in blogs. Each one is a node in our graph. Adaptive RAG (Jeong et al. 2024): route by question complexity. Corrective RAG (Yan et al. 2024): grade retrieved docs, re-retrieve if bad. Self-RAG (Asai et al. 2023): critique your own answer. Plus query decomposition, iterative multi-hop retrieval, tool use, memory and human-in-the-loop.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table. Use it as the checklist for the debrief: for each row, students should be able to point at the node in their code and the scenario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cost. Lab 1 always makes 2 LLM calls (rewrite + answer). The agent makes 1 for small talk, but 4-5 for a simple question (route, assess, answer, check) and 5-7 for complex ones (+ plan, + a second assess). Latency grows the same way.
When NOT to use an agent: high-volume FAQ bots with simple questions; strict latency budgets; when you cannot afford unpredictability. Knobs: turn the self-check off, lower AGENT_MAX_ROUNDS, or route more questions to 'simple'.
The numbers on the chart are typical counts from our design (bounded by config), not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Your question was: is there a problem in our current retrieval that Graph RAG exactly solves? Yes: two kinds of questions, aggregation and relationships, because chunk retrieval treats every chunk as an island and returns a fixed top-k.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AGGREGATION: 'List every rule that applies to graduate trainees.' The facts are in 4 documents (leave, hybrid working, on-call, learning budget). Similarity search ranks chunks by similarity to the wording and cuts at k. You may get 3 chunks from the leave policy and miss the on-call rule entirely. Raising k only adds noise.
Problem 2, RELATIONSHIPS: 'What does PAY-E4035 have to do with the HSM?' The PAY-E4035 chunk says 're-sign with the HSM key'; the glossary says what HSM is. The link is an entity shared by two chunks, not a similarity between the question and either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picture: the same handbook as a graph. Nodes are entities (codes, systems, roles, policy terms); edges connect entities that appear together or are related. Now 'every rule for graduate trainees' is just: take the node, follow its edges, collect every chunk attached. 'PAY-E4035 and HSM' is a 1-hop path.
This is a real excerpt of the entity graph our code builds (Graph RAG lite). Numbers on the right come from it: graduate trainee is mentioned in 5 chunks across 4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Indexing (once, offline): an LLM reads every chunk and extracts entities and typed relations; the graph is clustered into communities (Leiden algorithm); the LLM writes a summary per community.
Query time: LOCAL search starts at the entities in the question and walks their neighbourhood, collecting connected chunks. GLOBAL search answers corpus-wide questions ('what are the main themes?') by map-reducing over community summaries.
The cost: an LLM call per chunk at indexing time, more for summaries, and a rebuild when documents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Graph RAG and Agentic RAG solve DIFFERENT problems and combine well. Graph RAG changes the index (what can be retrieved). Agentic RAG changes the control flow (how and when to retrieve). In our agent, the graph is simply one more tool the planner can choose.
Our Graph RAG lite: entities found with regex + a dictionary, edges = co-occurrence in a chunk. Free and instant, but shallow (no typed relations, no community summaries). Stretch goal: LLM-extracted triples.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LangGraph is LangChain's library for stateful, multi-step agents. We use 8 of its features; each has a slide with the code from 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LCEL (Lab 1) is perfect for straight pipelines. The agent needs six things a chain does not have; LangGraph provides each as a built-in. Without it you would hand-write a while-loop with if/else, your own state dict, your own persistence and your own pause/resume. That is exactly the code that becomes unmaintainable.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there is ONE state dict. A node is a plain Python function that receives the state and returns a dict of UPDATES (only the keys it changes). LangGraph merges the updates and moves along the edges. compile() validates the graph and returns a runnable app with invoke / stream.
In our project, nodes are methods of AgentNodes so they can reach the vector store and the entity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fields are overwritten by the latest update. Annotated fields have a REDUCER that merges updates. Two reducers matter here.
add_messages: appends chat messages; the conversation grows turn by turn.
accumulate (ours): appends lists. Needed because several retrieve nodes run in the same step and each returns evidence. Without a reducer LangGraph raises InvalidUpdateError.
Gotcha: the checkpointer keeps the state of a thread between turns, so start_turn resets per-question fields. Our accumulate treats None as 'reset 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conditional edge calls a routing function after a node; the function looks at the state and returns the NAME of the next node. Pointing back to an earlier node creates a cycle: that is how assess loops to retrieve and check loops to generate.
Every loop needs an exit you control: max_rounds and max_regenerations in the state, plus LangGraph's recursion_limit as a safety net (GraphRecursionError if exceeded). Routing functions only READ state; counters are updated in the nodes (check increments regenerations).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decides at runtime how many sub-questions there are: 1, 2 or 3. A routing function can return a LIST of Send objects: Send(node_name, payload). LangGraph runs one copy of the node per Send, in parallel, in the same step. Each copy gets only its payload, not the whole state. Their outputs are merged through the reducers, then the graph continues to assess once.
This is MQR's 'several queries' idea, but each query is a planned sub-question with its own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compile(checkpointer=...) makes LangGraph save the full state after every step, keyed by thread_id. Next turn in the same thread starts from the saved state: messages already contains the previous turns. The contextualize node reads them and rewrites 'Can they be carried forward?' into 'Can sick leave days be carried forward?'.
InMemorySaver is for development (lost on restart). Production: SqliteSaver or PostgresSaver, same API. get_state(config) lets you inspect a thread; the history even allows time travel (replay from an earlier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sequence. 1) The router says 'clarify'. 2) The clarify node calls interrupt(payload). The graph stops; the checkpointer has saved everything. 3) invoke returns; the API sees a pending interrupt and sends the question to the browser. 4) Minutes later the user answers; the API calls invoke(Command(resume=answer)) with the same thread_id. 5) The clarify node RE-RUNS from its first line and this time interrupt() returns the answer.
Gotcha: because the node re-runs, do nothing with side effects before interrupt(). Requires a checkpointer.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graph.stream(..., stream_mode='updates') yields one dict per node as soon as the node finishes: {node_name: its update}. Our API turns each into a Server-Sent Event; the React Agent tab shows the timeline live and lights up the nodes on the mini-map. Other modes: 'values' (full state each step), 'messages' (LLM tokens), 'custom'.
Why it matters: an agent that takes 5 seconds feels broken with a spinner, and fine when you see 'route → plan → retrieve ×2 → assess…'. It is also the best debugging tool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picture students build. Walk it once from START to END for a complex question (S4): start_turn resets, contextualize (no history), route says complex, plan makes sub-questions, Send runs retrieve in parallel, assess asks for a second hop, retrieve again, assess says enough, generate with calculator, check passes, finalize saves to memory.
Then once for S1 (direct) and S3 (clarify) to show the other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so students recognise these in docs. ToolNode + bind_tools: native function calling, the model emits tool calls and ToolNode executes them. create_react_agent: a prebuilt ReAct loop in one line. Subgraphs: a compiled graph used as a node (e.g. our retrieval loop as a reusable component). Command(goto=...): a node can choose the next node itself. Durable checkpointers and LangSmith tracing for production.
We use JSON decisions instead of native tool calling so it works with any model behind any gateway and every decision is testable. Switching to bind_tools is a stretch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concept part with this checklist; then switch to the build deck. Every row maps to a TODO and to tests. The exit question for each student: 'Point at the node and the LangGraph feature that fixes problem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line: Lab 1 = better retrieval. Lab 2 = better decisions around retrieval. Graph RAG = better index for aggregation and relationships. Next: the build deck,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515600" cy="411480"/>
          </a:xfrm>
          <a:prstGeom prst="rect">
            <a:avLst/>
          </a:prstGeom>
          <a:noFill/>
          <a:ln/>
        </p:spPr>
        <p:txBody>
          <a:bodyPr wrap="square" rtlCol="0"/>
          <a:lstStyle>
            <a:lvl1pPr indent="0" marL="0">
              <a:buNone/>
              <a:defRPr lang="en-US" sz="1400" b="1" spc="300" kern="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731520" y="1874520"/>
            <a:ext cx="1051560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4" name="Text 0"/>
          <p:cNvSpPr/>
          <p:nvPr>
            <p:ph idx="102" type="body" hasCustomPrompt="1"/>
          </p:nvPr>
        </p:nvSpPr>
        <p:spPr>
          <a:xfrm>
            <a:off x="731520" y="3429000"/>
            <a:ext cx="9601200" cy="1097280"/>
          </a:xfrm>
          <a:prstGeom prst="rect">
            <a:avLst/>
          </a:prstGeom>
          <a:noFill/>
          <a:ln/>
        </p:spPr>
        <p:txBody>
          <a:bodyPr wrap="square" rtlCol="0"/>
          <a:lstStyle>
            <a:lvl1pPr indent="0" marL="0">
              <a:buNone/>
              <a:defRPr lang="en-US" sz="2000" dirty="0">
                <a:solidFill>
                  <a:srgbClr val="CFE9E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6217920" cy="457200"/>
          </a:xfrm>
          <a:prstGeom prst="rect">
            <a:avLst/>
          </a:prstGeom>
          <a:noFill/>
          <a:ln/>
        </p:spPr>
        <p:txBody>
          <a:bodyPr wrap="square" rtlCol="0"/>
          <a:lstStyle>
            <a:lvl1pPr indent="0" marL="0">
              <a:buNone/>
              <a:defRPr lang="en-US" sz="1600" b="1" spc="300" kern="0" dirty="0">
                <a:solidFill>
                  <a:schemeClr val="accent4"/>
                </a:solidFill>
              </a:defRPr>
            </a:lvl1pPr>
          </a:lstStyle>
          <a:p>
            <a:pPr indent="0" marL="0">
              <a:buNone/>
            </a:pPr>
            <a:endParaRPr lang="en-US" sz="1600" dirty="0"/>
          </a:p>
        </p:txBody>
      </p:sp>
      <p:sp>
        <p:nvSpPr>
          <p:cNvPr id="3" name="Text 0"/>
          <p:cNvSpPr/>
          <p:nvPr>
            <p:ph idx="101" type="title" hasCustomPrompt="1"/>
          </p:nvPr>
        </p:nvSpPr>
        <p:spPr>
          <a:xfrm>
            <a:off x="731520" y="2514600"/>
            <a:ext cx="658368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3931920"/>
            <a:ext cx="6400800" cy="1463040"/>
          </a:xfrm>
          <a:prstGeom prst="rect">
            <a:avLst/>
          </a:prstGeom>
          <a:noFill/>
          <a:ln/>
        </p:spPr>
        <p:txBody>
          <a:bodyPr wrap="square" rtlCol="0"/>
          <a:lstStyle>
            <a:lvl1pPr indent="0" marL="0">
              <a:buNone/>
              <a:defRPr lang="en-US" sz="1800" dirty="0">
                <a:solidFill>
                  <a:srgbClr val="CFE9E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B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3"/>
                </a:solidFill>
              </a:rPr>
              <a:t>Lab 2 · Agentic RAG · Concepts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B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1874520"/>
            <a:ext cx="10515600" cy="1463040"/>
          </a:xfrm>
          <a:prstGeom prst="rect">
            <a:avLst/>
          </a:prstGeom>
          <a:noFill/>
          <a:ln/>
        </p:spPr>
        <p:txBody>
          <a:bodyPr wrap="square"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From better retrieval to an agent</a:t>
            </a:r>
            <a:endParaRPr lang="en-US" sz="4800" dirty="0"/>
          </a:p>
        </p:txBody>
      </p:sp>
      <p:sp>
        <p:nvSpPr>
          <p:cNvPr id="4" name="Text 0"/>
          <p:cNvSpPr/>
          <p:nvPr>
            <p:ph idx="100" type="body" hasCustomPrompt="1"/>
          </p:nvPr>
        </p:nvSpPr>
        <p:spPr>
          <a:xfrm>
            <a:off x="731520" y="1417320"/>
            <a:ext cx="10515600" cy="411480"/>
          </a:xfrm>
          <a:prstGeom prst="rect">
            <a:avLst/>
          </a:prstGeom>
          <a:noFill/>
          <a:ln/>
        </p:spPr>
        <p:txBody>
          <a:bodyPr wrap="square" rtlCol="0"/>
          <a:lstStyle/>
          <a:p>
            <a:pPr indent="0" marL="0">
              <a:buNone/>
            </a:pPr>
            <a:r>
              <a:rPr lang="en-US" sz="1400" b="1" spc="300" kern="0" dirty="0">
                <a:solidFill>
                  <a:schemeClr val="accent4"/>
                </a:solidFill>
              </a:rPr>
              <a:t>LAB 2 · CONCEPTS</a:t>
            </a:r>
            <a:endParaRPr lang="en-US" sz="1400" dirty="0"/>
          </a:p>
        </p:txBody>
      </p:sp>
      <p:sp>
        <p:nvSpPr>
          <p:cNvPr id="5" name="Text 0"/>
          <p:cNvSpPr/>
          <p:nvPr>
            <p:ph idx="102" type="body" hasCustomPrompt="1"/>
          </p:nvPr>
        </p:nvSpPr>
        <p:spPr>
          <a:xfrm>
            <a:off x="731520" y="3429000"/>
            <a:ext cx="9601200" cy="1097280"/>
          </a:xfrm>
          <a:prstGeom prst="rect">
            <a:avLst/>
          </a:prstGeom>
          <a:noFill/>
          <a:ln/>
        </p:spPr>
        <p:txBody>
          <a:bodyPr wrap="square" rtlCol="0" anchor="t"/>
          <a:lstStyle/>
          <a:p>
            <a:pPr indent="0" marL="0">
              <a:buNone/>
            </a:pPr>
            <a:r>
              <a:rPr lang="en-US" sz="2000" dirty="0">
                <a:solidFill>
                  <a:srgbClr val="CFE9E5"/>
                </a:solidFill>
              </a:rPr>
              <a:t>What MQR + RRF still gets wrong, what Graph RAG adds, and how LangGraph turns our pipeline into an agent</a:t>
            </a:r>
            <a:endParaRPr lang="en-US" sz="2000" dirty="0"/>
          </a:p>
        </p:txBody>
      </p:sp>
      <p:sp>
        <p:nvSpPr>
          <p:cNvPr id="6" name="Shape 3"/>
          <p:cNvSpPr/>
          <p:nvPr/>
        </p:nvSpPr>
        <p:spPr>
          <a:xfrm>
            <a:off x="731520" y="4983480"/>
            <a:ext cx="2103120" cy="502920"/>
          </a:xfrm>
          <a:prstGeom prst="roundRect">
            <a:avLst>
              <a:gd name="adj" fmla="val 49091"/>
            </a:avLst>
          </a:prstGeom>
          <a:solidFill>
            <a:srgbClr val="0B3B38"/>
          </a:solidFill>
          <a:ln w="19050">
            <a:solidFill>
              <a:srgbClr val="8FA3B8"/>
            </a:solidFill>
            <a:prstDash val="solid"/>
          </a:ln>
        </p:spPr>
      </p:sp>
      <p:sp>
        <p:nvSpPr>
          <p:cNvPr id="7" name="Text 4"/>
          <p:cNvSpPr txBox="1"/>
          <p:nvPr/>
        </p:nvSpPr>
        <p:spPr>
          <a:xfrm>
            <a:off x="731520" y="4983480"/>
            <a:ext cx="2103120" cy="502920"/>
          </a:xfrm>
          <a:prstGeom prst="rect">
            <a:avLst/>
          </a:prstGeom>
          <a:noFill/>
          <a:ln/>
        </p:spPr>
        <p:txBody>
          <a:bodyPr wrap="square" lIns="0" tIns="0" rIns="0" bIns="0" rtlCol="0" anchor="ctr"/>
          <a:lstStyle/>
          <a:p>
            <a:pPr algn="ctr" indent="0" marL="0">
              <a:buNone/>
            </a:pPr>
            <a:r>
              <a:rPr lang="en-US" sz="1500" b="1" dirty="0">
                <a:solidFill>
                  <a:srgbClr val="8FA3B8"/>
                </a:solidFill>
                <a:latin typeface="Calibri" pitchFamily="34" charset="0"/>
                <a:ea typeface="Calibri" pitchFamily="34" charset="-122"/>
                <a:cs typeface="Calibri" pitchFamily="34" charset="-120"/>
              </a:rPr>
              <a:t>Basic RAG</a:t>
            </a:r>
            <a:endParaRPr lang="en-US" sz="1500" dirty="0"/>
          </a:p>
        </p:txBody>
      </p:sp>
      <p:sp>
        <p:nvSpPr>
          <p:cNvPr id="8" name="Text 5"/>
          <p:cNvSpPr txBox="1"/>
          <p:nvPr/>
        </p:nvSpPr>
        <p:spPr>
          <a:xfrm>
            <a:off x="2834640" y="4983480"/>
            <a:ext cx="274320" cy="502920"/>
          </a:xfrm>
          <a:prstGeom prst="rect">
            <a:avLst/>
          </a:prstGeom>
          <a:noFill/>
          <a:ln/>
        </p:spPr>
        <p:txBody>
          <a:bodyPr wrap="square" lIns="0" tIns="0" rIns="0" bIns="0" rtlCol="0" anchor="ctr"/>
          <a:lstStyle/>
          <a:p>
            <a:pPr algn="ctr" indent="0" marL="0">
              <a:buNone/>
            </a:pPr>
            <a:r>
              <a:rPr lang="en-US" sz="1800" dirty="0">
                <a:solidFill>
                  <a:srgbClr val="8FB8B3"/>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3108960" y="4983480"/>
            <a:ext cx="2103120" cy="502920"/>
          </a:xfrm>
          <a:prstGeom prst="roundRect">
            <a:avLst>
              <a:gd name="adj" fmla="val 49091"/>
            </a:avLst>
          </a:prstGeom>
          <a:solidFill>
            <a:srgbClr val="0B3B38"/>
          </a:solidFill>
          <a:ln w="19050">
            <a:solidFill>
              <a:srgbClr val="2DD4BF"/>
            </a:solidFill>
            <a:prstDash val="solid"/>
          </a:ln>
        </p:spPr>
      </p:sp>
      <p:sp>
        <p:nvSpPr>
          <p:cNvPr id="10" name="Text 7"/>
          <p:cNvSpPr txBox="1"/>
          <p:nvPr/>
        </p:nvSpPr>
        <p:spPr>
          <a:xfrm>
            <a:off x="3108960" y="4983480"/>
            <a:ext cx="21031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libri" pitchFamily="34" charset="0"/>
                <a:ea typeface="Calibri" pitchFamily="34" charset="-122"/>
                <a:cs typeface="Calibri" pitchFamily="34" charset="-120"/>
              </a:rPr>
              <a:t>MQR + RRF</a:t>
            </a:r>
            <a:endParaRPr lang="en-US" sz="1500" dirty="0"/>
          </a:p>
        </p:txBody>
      </p:sp>
      <p:sp>
        <p:nvSpPr>
          <p:cNvPr id="11" name="Text 8"/>
          <p:cNvSpPr txBox="1"/>
          <p:nvPr/>
        </p:nvSpPr>
        <p:spPr>
          <a:xfrm>
            <a:off x="5212080" y="4983480"/>
            <a:ext cx="274320" cy="502920"/>
          </a:xfrm>
          <a:prstGeom prst="rect">
            <a:avLst/>
          </a:prstGeom>
          <a:noFill/>
          <a:ln/>
        </p:spPr>
        <p:txBody>
          <a:bodyPr wrap="square" lIns="0" tIns="0" rIns="0" bIns="0" rtlCol="0" anchor="ctr"/>
          <a:lstStyle/>
          <a:p>
            <a:pPr algn="ctr" indent="0" marL="0">
              <a:buNone/>
            </a:pPr>
            <a:r>
              <a:rPr lang="en-US" sz="1800" dirty="0">
                <a:solidFill>
                  <a:srgbClr val="8FB8B3"/>
                </a:solidFill>
                <a:latin typeface="Calibri" pitchFamily="34" charset="0"/>
                <a:ea typeface="Calibri" pitchFamily="34" charset="-122"/>
                <a:cs typeface="Calibri" pitchFamily="34" charset="-120"/>
              </a:rPr>
              <a:t>→</a:t>
            </a:r>
            <a:endParaRPr lang="en-US" sz="1800" dirty="0"/>
          </a:p>
        </p:txBody>
      </p:sp>
      <p:sp>
        <p:nvSpPr>
          <p:cNvPr id="12" name="Shape 9"/>
          <p:cNvSpPr/>
          <p:nvPr/>
        </p:nvSpPr>
        <p:spPr>
          <a:xfrm>
            <a:off x="5486400" y="4983480"/>
            <a:ext cx="2103120" cy="502920"/>
          </a:xfrm>
          <a:prstGeom prst="roundRect">
            <a:avLst>
              <a:gd name="adj" fmla="val 49091"/>
            </a:avLst>
          </a:prstGeom>
          <a:solidFill>
            <a:srgbClr val="0B3B38"/>
          </a:solidFill>
          <a:ln w="19050">
            <a:solidFill>
              <a:srgbClr val="C4B5FD"/>
            </a:solidFill>
            <a:prstDash val="solid"/>
          </a:ln>
        </p:spPr>
      </p:sp>
      <p:sp>
        <p:nvSpPr>
          <p:cNvPr id="13" name="Text 10"/>
          <p:cNvSpPr txBox="1"/>
          <p:nvPr/>
        </p:nvSpPr>
        <p:spPr>
          <a:xfrm>
            <a:off x="5486400" y="4983480"/>
            <a:ext cx="2103120" cy="502920"/>
          </a:xfrm>
          <a:prstGeom prst="rect">
            <a:avLst/>
          </a:prstGeom>
          <a:noFill/>
          <a:ln/>
        </p:spPr>
        <p:txBody>
          <a:bodyPr wrap="square" lIns="0" tIns="0" rIns="0" bIns="0" rtlCol="0" anchor="ctr"/>
          <a:lstStyle/>
          <a:p>
            <a:pPr algn="ctr" indent="0" marL="0">
              <a:buNone/>
            </a:pPr>
            <a:r>
              <a:rPr lang="en-US" sz="1500" b="1" dirty="0">
                <a:solidFill>
                  <a:srgbClr val="C4B5FD"/>
                </a:solidFill>
                <a:latin typeface="Calibri" pitchFamily="34" charset="0"/>
                <a:ea typeface="Calibri" pitchFamily="34" charset="-122"/>
                <a:cs typeface="Calibri" pitchFamily="34" charset="-120"/>
              </a:rPr>
              <a:t>Agentic RAG</a:t>
            </a:r>
            <a:endParaRPr lang="en-US" sz="1500" dirty="0"/>
          </a:p>
        </p:txBody>
      </p:sp>
      <p:sp>
        <p:nvSpPr>
          <p:cNvPr id="14" name="Text 11"/>
          <p:cNvSpPr txBox="1"/>
          <p:nvPr/>
        </p:nvSpPr>
        <p:spPr>
          <a:xfrm>
            <a:off x="731520" y="5852160"/>
            <a:ext cx="9144000" cy="365760"/>
          </a:xfrm>
          <a:prstGeom prst="rect">
            <a:avLst/>
          </a:prstGeom>
          <a:noFill/>
          <a:ln/>
        </p:spPr>
        <p:txBody>
          <a:bodyPr wrap="square" lIns="0" tIns="0" rIns="0" bIns="0" rtlCol="0" anchor="t"/>
          <a:lstStyle/>
          <a:p>
            <a:pPr indent="0" marL="0">
              <a:buNone/>
            </a:pPr>
            <a:r>
              <a:rPr lang="en-US" sz="1300" dirty="0">
                <a:solidFill>
                  <a:srgbClr val="8FB8B3"/>
                </a:solidFill>
                <a:latin typeface="Calibri" pitchFamily="34" charset="0"/>
                <a:ea typeface="Calibri" pitchFamily="34" charset="-122"/>
                <a:cs typeface="Calibri" pitchFamily="34" charset="-120"/>
              </a:rPr>
              <a:t>LangGraph · LangChain · FAISS · FastAPI · React · azure/gpt-6-luna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we are after Lab 1</a:t>
            </a:r>
            <a:endParaRPr lang="en-US" sz="3000" dirty="0"/>
          </a:p>
        </p:txBody>
      </p:sp>
      <p:sp>
        <p:nvSpPr>
          <p:cNvPr id="4" name="Shape 1"/>
          <p:cNvSpPr/>
          <p:nvPr/>
        </p:nvSpPr>
        <p:spPr>
          <a:xfrm>
            <a:off x="548640" y="1417320"/>
            <a:ext cx="6400800" cy="914400"/>
          </a:xfrm>
          <a:prstGeom prst="roundRect">
            <a:avLst>
              <a:gd name="adj" fmla="val 12000"/>
            </a:avLst>
          </a:prstGeom>
          <a:solidFill>
            <a:schemeClr val="bg2"/>
          </a:solidFill>
          <a:ln w="12700">
            <a:solidFill>
              <a:schemeClr val="bg2"/>
            </a:solidFill>
            <a:prstDash val="solid"/>
          </a:ln>
        </p:spPr>
      </p:sp>
      <p:sp>
        <p:nvSpPr>
          <p:cNvPr id="5" name="Shape 2"/>
          <p:cNvSpPr/>
          <p:nvPr/>
        </p:nvSpPr>
        <p:spPr>
          <a:xfrm>
            <a:off x="777240" y="1618488"/>
            <a:ext cx="512064" cy="512064"/>
          </a:xfrm>
          <a:prstGeom prst="ellipse">
            <a:avLst/>
          </a:prstGeom>
          <a:solidFill>
            <a:schemeClr val="accent3"/>
          </a:solidFill>
          <a:ln w="12700">
            <a:solidFill>
              <a:schemeClr val="accent3"/>
            </a:solidFill>
            <a:prstDash val="solid"/>
          </a:ln>
        </p:spPr>
      </p:sp>
      <p:sp>
        <p:nvSpPr>
          <p:cNvPr id="6" name="Text 3"/>
          <p:cNvSpPr txBox="1"/>
          <p:nvPr/>
        </p:nvSpPr>
        <p:spPr>
          <a:xfrm>
            <a:off x="777240" y="16184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508760" y="1527048"/>
            <a:ext cx="21945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Basic RAG</a:t>
            </a:r>
            <a:endParaRPr lang="en-US" sz="1700" dirty="0"/>
          </a:p>
        </p:txBody>
      </p:sp>
      <p:sp>
        <p:nvSpPr>
          <p:cNvPr id="8" name="Text 5"/>
          <p:cNvSpPr txBox="1"/>
          <p:nvPr/>
        </p:nvSpPr>
        <p:spPr>
          <a:xfrm>
            <a:off x="1508760" y="1892808"/>
            <a:ext cx="265176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FAISS top-5 → naive prompt</a:t>
            </a:r>
            <a:endParaRPr lang="en-US" sz="1300" dirty="0"/>
          </a:p>
        </p:txBody>
      </p:sp>
      <p:sp>
        <p:nvSpPr>
          <p:cNvPr id="9" name="Text 6"/>
          <p:cNvSpPr txBox="1"/>
          <p:nvPr/>
        </p:nvSpPr>
        <p:spPr>
          <a:xfrm>
            <a:off x="4206240" y="1527048"/>
            <a:ext cx="2651760" cy="71323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misses paraphrases and exact codes</a:t>
            </a:r>
            <a:endParaRPr lang="en-US" sz="1400" dirty="0"/>
          </a:p>
        </p:txBody>
      </p:sp>
      <p:sp>
        <p:nvSpPr>
          <p:cNvPr id="10" name="Shape 7"/>
          <p:cNvSpPr/>
          <p:nvPr/>
        </p:nvSpPr>
        <p:spPr>
          <a:xfrm>
            <a:off x="548640" y="2496312"/>
            <a:ext cx="6400800" cy="914400"/>
          </a:xfrm>
          <a:prstGeom prst="roundRect">
            <a:avLst>
              <a:gd name="adj" fmla="val 12000"/>
            </a:avLst>
          </a:prstGeom>
          <a:solidFill>
            <a:schemeClr val="bg2"/>
          </a:solidFill>
          <a:ln w="12700">
            <a:solidFill>
              <a:schemeClr val="bg2"/>
            </a:solidFill>
            <a:prstDash val="solid"/>
          </a:ln>
        </p:spPr>
      </p:sp>
      <p:sp>
        <p:nvSpPr>
          <p:cNvPr id="11" name="Shape 8"/>
          <p:cNvSpPr/>
          <p:nvPr/>
        </p:nvSpPr>
        <p:spPr>
          <a:xfrm>
            <a:off x="777240" y="2697480"/>
            <a:ext cx="512064" cy="512064"/>
          </a:xfrm>
          <a:prstGeom prst="ellipse">
            <a:avLst/>
          </a:prstGeom>
          <a:solidFill>
            <a:schemeClr val="accent2"/>
          </a:solidFill>
          <a:ln w="12700">
            <a:solidFill>
              <a:schemeClr val="accent2"/>
            </a:solidFill>
            <a:prstDash val="solid"/>
          </a:ln>
        </p:spPr>
      </p:sp>
      <p:sp>
        <p:nvSpPr>
          <p:cNvPr id="12" name="Text 9"/>
          <p:cNvSpPr txBox="1"/>
          <p:nvPr/>
        </p:nvSpPr>
        <p:spPr>
          <a:xfrm>
            <a:off x="777240" y="269748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1508760" y="2606040"/>
            <a:ext cx="21945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 MQR</a:t>
            </a:r>
            <a:endParaRPr lang="en-US" sz="1700" dirty="0"/>
          </a:p>
        </p:txBody>
      </p:sp>
      <p:sp>
        <p:nvSpPr>
          <p:cNvPr id="14" name="Text 11"/>
          <p:cNvSpPr txBox="1"/>
          <p:nvPr/>
        </p:nvSpPr>
        <p:spPr>
          <a:xfrm>
            <a:off x="1508760" y="2971800"/>
            <a:ext cx="265176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LLM writes 3 queries, union</a:t>
            </a:r>
            <a:endParaRPr lang="en-US" sz="1300" dirty="0"/>
          </a:p>
        </p:txBody>
      </p:sp>
      <p:sp>
        <p:nvSpPr>
          <p:cNvPr id="15" name="Text 12"/>
          <p:cNvSpPr txBox="1"/>
          <p:nvPr/>
        </p:nvSpPr>
        <p:spPr>
          <a:xfrm>
            <a:off x="4206240" y="2606040"/>
            <a:ext cx="2651760" cy="71323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recall up, but 2–3× chunks</a:t>
            </a:r>
            <a:endParaRPr lang="en-US" sz="1400" dirty="0"/>
          </a:p>
        </p:txBody>
      </p:sp>
      <p:sp>
        <p:nvSpPr>
          <p:cNvPr id="16" name="Shape 13"/>
          <p:cNvSpPr/>
          <p:nvPr/>
        </p:nvSpPr>
        <p:spPr>
          <a:xfrm>
            <a:off x="548640" y="3575304"/>
            <a:ext cx="6400800" cy="914400"/>
          </a:xfrm>
          <a:prstGeom prst="roundRect">
            <a:avLst>
              <a:gd name="adj" fmla="val 12000"/>
            </a:avLst>
          </a:prstGeom>
          <a:solidFill>
            <a:schemeClr val="bg2"/>
          </a:solidFill>
          <a:ln w="12700">
            <a:solidFill>
              <a:schemeClr val="bg2"/>
            </a:solidFill>
            <a:prstDash val="solid"/>
          </a:ln>
        </p:spPr>
      </p:sp>
      <p:sp>
        <p:nvSpPr>
          <p:cNvPr id="17" name="Shape 14"/>
          <p:cNvSpPr/>
          <p:nvPr/>
        </p:nvSpPr>
        <p:spPr>
          <a:xfrm>
            <a:off x="777240" y="3776472"/>
            <a:ext cx="512064" cy="512064"/>
          </a:xfrm>
          <a:prstGeom prst="ellipse">
            <a:avLst/>
          </a:prstGeom>
          <a:solidFill>
            <a:schemeClr val="accent1"/>
          </a:solidFill>
          <a:ln w="12700">
            <a:solidFill>
              <a:schemeClr val="accent1"/>
            </a:solidFill>
            <a:prstDash val="solid"/>
          </a:ln>
        </p:spPr>
      </p:sp>
      <p:sp>
        <p:nvSpPr>
          <p:cNvPr id="18" name="Text 15"/>
          <p:cNvSpPr txBox="1"/>
          <p:nvPr/>
        </p:nvSpPr>
        <p:spPr>
          <a:xfrm>
            <a:off x="777240" y="377647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508760" y="3685032"/>
            <a:ext cx="21945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 RRF</a:t>
            </a:r>
            <a:endParaRPr lang="en-US" sz="1700" dirty="0"/>
          </a:p>
        </p:txBody>
      </p:sp>
      <p:sp>
        <p:nvSpPr>
          <p:cNvPr id="20" name="Text 17"/>
          <p:cNvSpPr txBox="1"/>
          <p:nvPr/>
        </p:nvSpPr>
        <p:spPr>
          <a:xfrm>
            <a:off x="1508760" y="4050792"/>
            <a:ext cx="265176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semantic + BM25 → fuse → top-5</a:t>
            </a:r>
            <a:endParaRPr lang="en-US" sz="1300" dirty="0"/>
          </a:p>
        </p:txBody>
      </p:sp>
      <p:sp>
        <p:nvSpPr>
          <p:cNvPr id="21" name="Text 18"/>
          <p:cNvSpPr txBox="1"/>
          <p:nvPr/>
        </p:nvSpPr>
        <p:spPr>
          <a:xfrm>
            <a:off x="4206240" y="3685032"/>
            <a:ext cx="2651760" cy="71323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recall kept, 5 chunks, best MRR</a:t>
            </a:r>
            <a:endParaRPr lang="en-US" sz="1400" dirty="0"/>
          </a:p>
        </p:txBody>
      </p:sp>
      <p:sp>
        <p:nvSpPr>
          <p:cNvPr id="22" name="Shape 19"/>
          <p:cNvSpPr/>
          <p:nvPr/>
        </p:nvSpPr>
        <p:spPr>
          <a:xfrm>
            <a:off x="548640" y="4654296"/>
            <a:ext cx="6400800" cy="914400"/>
          </a:xfrm>
          <a:prstGeom prst="roundRect">
            <a:avLst>
              <a:gd name="adj" fmla="val 12000"/>
            </a:avLst>
          </a:prstGeom>
          <a:solidFill>
            <a:schemeClr val="bg2"/>
          </a:solidFill>
          <a:ln w="12700">
            <a:solidFill>
              <a:schemeClr val="bg2"/>
            </a:solidFill>
            <a:prstDash val="solid"/>
          </a:ln>
        </p:spPr>
      </p:sp>
      <p:sp>
        <p:nvSpPr>
          <p:cNvPr id="23" name="Shape 20"/>
          <p:cNvSpPr/>
          <p:nvPr/>
        </p:nvSpPr>
        <p:spPr>
          <a:xfrm>
            <a:off x="777240" y="4855464"/>
            <a:ext cx="512064" cy="512064"/>
          </a:xfrm>
          <a:prstGeom prst="ellipse">
            <a:avLst/>
          </a:prstGeom>
          <a:solidFill>
            <a:schemeClr val="accent1"/>
          </a:solidFill>
          <a:ln w="12700">
            <a:solidFill>
              <a:schemeClr val="accent1"/>
            </a:solidFill>
            <a:prstDash val="solid"/>
          </a:ln>
        </p:spPr>
      </p:sp>
      <p:sp>
        <p:nvSpPr>
          <p:cNvPr id="24" name="Text 21"/>
          <p:cNvSpPr txBox="1"/>
          <p:nvPr/>
        </p:nvSpPr>
        <p:spPr>
          <a:xfrm>
            <a:off x="777240" y="485546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1508760" y="4764024"/>
            <a:ext cx="21945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 grounded prompt</a:t>
            </a:r>
            <a:endParaRPr lang="en-US" sz="1700" dirty="0"/>
          </a:p>
        </p:txBody>
      </p:sp>
      <p:sp>
        <p:nvSpPr>
          <p:cNvPr id="26" name="Text 23"/>
          <p:cNvSpPr txBox="1"/>
          <p:nvPr/>
        </p:nvSpPr>
        <p:spPr>
          <a:xfrm>
            <a:off x="1508760" y="5129784"/>
            <a:ext cx="265176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numbered passages, citations</a:t>
            </a:r>
            <a:endParaRPr lang="en-US" sz="1300" dirty="0"/>
          </a:p>
        </p:txBody>
      </p:sp>
      <p:sp>
        <p:nvSpPr>
          <p:cNvPr id="27" name="Text 24"/>
          <p:cNvSpPr txBox="1"/>
          <p:nvPr/>
        </p:nvSpPr>
        <p:spPr>
          <a:xfrm>
            <a:off x="4206240" y="4764024"/>
            <a:ext cx="2651760" cy="71323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answers you can check</a:t>
            </a:r>
            <a:endParaRPr lang="en-US" sz="1400" dirty="0"/>
          </a:p>
        </p:txBody>
      </p:sp>
      <p:sp>
        <p:nvSpPr>
          <p:cNvPr id="28" name="Shape 25"/>
          <p:cNvSpPr/>
          <p:nvPr/>
        </p:nvSpPr>
        <p:spPr>
          <a:xfrm>
            <a:off x="7315200" y="1417320"/>
            <a:ext cx="4297680" cy="4160520"/>
          </a:xfrm>
          <a:prstGeom prst="roundRect">
            <a:avLst>
              <a:gd name="adj" fmla="val 2637"/>
            </a:avLst>
          </a:prstGeom>
          <a:solidFill>
            <a:schemeClr val="tx2"/>
          </a:solidFill>
          <a:ln w="12700">
            <a:solidFill>
              <a:schemeClr val="tx2"/>
            </a:solidFill>
            <a:prstDash val="solid"/>
          </a:ln>
        </p:spPr>
      </p:sp>
      <p:sp>
        <p:nvSpPr>
          <p:cNvPr id="29" name="Text 26"/>
          <p:cNvSpPr txBox="1"/>
          <p:nvPr/>
        </p:nvSpPr>
        <p:spPr>
          <a:xfrm>
            <a:off x="7589520" y="1645920"/>
            <a:ext cx="3840480" cy="457200"/>
          </a:xfrm>
          <a:prstGeom prst="rect">
            <a:avLst/>
          </a:prstGeom>
          <a:noFill/>
          <a:ln/>
        </p:spPr>
        <p:txBody>
          <a:bodyPr wrap="square" lIns="0" tIns="0" rIns="0" bIns="0" rtlCol="0" anchor="t"/>
          <a:lstStyle/>
          <a:p>
            <a:pPr indent="0" marL="0">
              <a:buNone/>
            </a:pPr>
            <a:r>
              <a:rPr lang="en-US" sz="1800" b="1" dirty="0">
                <a:solidFill>
                  <a:schemeClr val="accent4"/>
                </a:solidFill>
                <a:latin typeface="Calibri" pitchFamily="34" charset="0"/>
                <a:ea typeface="Calibri" pitchFamily="34" charset="-122"/>
                <a:cs typeface="Calibri" pitchFamily="34" charset="-120"/>
              </a:rPr>
              <a:t>Still the same for EVERY question</a:t>
            </a:r>
            <a:endParaRPr lang="en-US" sz="1800" dirty="0"/>
          </a:p>
        </p:txBody>
      </p:sp>
      <p:sp>
        <p:nvSpPr>
          <p:cNvPr id="30" name="Text 27"/>
          <p:cNvSpPr txBox="1"/>
          <p:nvPr/>
        </p:nvSpPr>
        <p:spPr>
          <a:xfrm>
            <a:off x="7589520" y="2240280"/>
            <a:ext cx="3840480" cy="21945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always retrieve, exactly once</a:t>
            </a:r>
            <a:endParaRPr lang="en-US" sz="1500" dirty="0"/>
          </a:p>
          <a:p>
            <a:pPr marL="203200" indent="-2032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same number of chunks</a:t>
            </a:r>
            <a:endParaRPr lang="en-US" sz="1500" dirty="0"/>
          </a:p>
          <a:p>
            <a:pPr marL="203200" indent="-2032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never ask whether they were the right ones</a:t>
            </a:r>
            <a:endParaRPr lang="en-US" sz="1500" dirty="0"/>
          </a:p>
          <a:p>
            <a:pPr marL="203200" indent="-2032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never look at the answer again</a:t>
            </a:r>
            <a:endParaRPr lang="en-US" sz="1500" dirty="0"/>
          </a:p>
          <a:p>
            <a:pPr marL="203200" indent="-2032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no memory of the last question</a:t>
            </a:r>
            <a:endParaRPr lang="en-US" sz="1500" dirty="0"/>
          </a:p>
        </p:txBody>
      </p:sp>
      <p:sp>
        <p:nvSpPr>
          <p:cNvPr id="31" name="Text 28"/>
          <p:cNvSpPr txBox="1"/>
          <p:nvPr/>
        </p:nvSpPr>
        <p:spPr>
          <a:xfrm>
            <a:off x="7589520" y="4572000"/>
            <a:ext cx="3840480" cy="822960"/>
          </a:xfrm>
          <a:prstGeom prst="rect">
            <a:avLst/>
          </a:prstGeom>
          <a:noFill/>
          <a:ln/>
        </p:spPr>
        <p:txBody>
          <a:bodyPr wrap="square" lIns="0" tIns="0" rIns="0" bIns="0" rtlCol="0" anchor="t"/>
          <a:lstStyle/>
          <a:p>
            <a:pPr indent="0" marL="0">
              <a:buNone/>
            </a:pPr>
            <a:r>
              <a:rPr lang="en-US" sz="1500" i="1" dirty="0">
                <a:solidFill>
                  <a:srgbClr val="CFE9E5"/>
                </a:solidFill>
                <a:latin typeface="Calibri" pitchFamily="34" charset="0"/>
                <a:ea typeface="Calibri" pitchFamily="34" charset="-122"/>
                <a:cs typeface="Calibri" pitchFamily="34" charset="-120"/>
              </a:rPr>
              <a:t>Lab 1 improved what we retrieve. Lab 2 improves how the system decides.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731520" y="2514600"/>
            <a:ext cx="65836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What MQR + RRF still gets wrong</a:t>
            </a:r>
            <a:endParaRPr lang="en-US" sz="4000" dirty="0"/>
          </a:p>
        </p:txBody>
      </p:sp>
      <p:sp>
        <p:nvSpPr>
          <p:cNvPr id="4" name="Text 0"/>
          <p:cNvSpPr/>
          <p:nvPr>
            <p:ph idx="100" type="body" hasCustomPrompt="1"/>
          </p:nvPr>
        </p:nvSpPr>
        <p:spPr>
          <a:xfrm>
            <a:off x="731520" y="2011680"/>
            <a:ext cx="6217920" cy="457200"/>
          </a:xfrm>
          <a:prstGeom prst="rect">
            <a:avLst/>
          </a:prstGeom>
          <a:noFill/>
          <a:ln/>
        </p:spPr>
        <p:txBody>
          <a:bodyPr wrap="square" rtlCol="0"/>
          <a:lstStyle/>
          <a:p>
            <a:pPr indent="0" marL="0">
              <a:buNone/>
            </a:pPr>
            <a:r>
              <a:rPr lang="en-US" sz="1600" b="1" spc="300" kern="0" dirty="0">
                <a:solidFill>
                  <a:schemeClr val="accent4"/>
                </a:solidFill>
              </a:rPr>
              <a:t>PART 1 · THE PROBLEMS</a:t>
            </a:r>
            <a:endParaRPr lang="en-US" sz="1600" dirty="0"/>
          </a:p>
        </p:txBody>
      </p:sp>
      <p:sp>
        <p:nvSpPr>
          <p:cNvPr id="5" name="Text 0"/>
          <p:cNvSpPr/>
          <p:nvPr>
            <p:ph idx="102" type="body" hasCustomPrompt="1"/>
          </p:nvPr>
        </p:nvSpPr>
        <p:spPr>
          <a:xfrm>
            <a:off x="731520" y="3931920"/>
            <a:ext cx="6400800" cy="1463040"/>
          </a:xfrm>
          <a:prstGeom prst="rect">
            <a:avLst/>
          </a:prstGeom>
          <a:noFill/>
          <a:ln/>
        </p:spPr>
        <p:txBody>
          <a:bodyPr wrap="square" rtlCol="0" anchor="t"/>
          <a:lstStyle/>
          <a:p>
            <a:pPr indent="0" marL="0">
              <a:buNone/>
            </a:pPr>
            <a:r>
              <a:rPr lang="en-US" sz="1800" dirty="0">
                <a:solidFill>
                  <a:srgbClr val="CFE9E5"/>
                </a:solidFill>
              </a:rPr>
              <a:t>Good retrieval is not enough when the pipeline cannot decide, check, loop, calculate or remember.</a:t>
            </a:r>
            <a:endParaRPr lang="en-US" sz="1800" dirty="0"/>
          </a:p>
        </p:txBody>
      </p:sp>
      <p:sp>
        <p:nvSpPr>
          <p:cNvPr id="6" name="Shape 3"/>
          <p:cNvSpPr/>
          <p:nvPr/>
        </p:nvSpPr>
        <p:spPr>
          <a:xfrm>
            <a:off x="8138160" y="1737360"/>
            <a:ext cx="3291840" cy="685800"/>
          </a:xfrm>
          <a:prstGeom prst="roundRect">
            <a:avLst>
              <a:gd name="adj" fmla="val 16000"/>
            </a:avLst>
          </a:prstGeom>
          <a:solidFill>
            <a:srgbClr val="0E4A46"/>
          </a:solidFill>
          <a:ln w="12700">
            <a:solidFill>
              <a:srgbClr val="0E4A46"/>
            </a:solidFill>
            <a:prstDash val="solid"/>
          </a:ln>
        </p:spPr>
      </p:sp>
      <p:sp>
        <p:nvSpPr>
          <p:cNvPr id="7" name="Text 4"/>
          <p:cNvSpPr txBox="1"/>
          <p:nvPr/>
        </p:nvSpPr>
        <p:spPr>
          <a:xfrm>
            <a:off x="8138160" y="1737360"/>
            <a:ext cx="3291840" cy="685800"/>
          </a:xfrm>
          <a:prstGeom prst="rect">
            <a:avLst/>
          </a:prstGeom>
          <a:noFill/>
          <a:ln/>
        </p:spPr>
        <p:txBody>
          <a:bodyPr wrap="square" lIns="0" tIns="0" rIns="0" bIns="0" rtlCol="0" anchor="ctr"/>
          <a:lstStyle/>
          <a:p>
            <a:pPr algn="ctr" indent="0" marL="0">
              <a:buNone/>
            </a:pPr>
            <a:r>
              <a:rPr lang="en-US" sz="2200" b="1" dirty="0">
                <a:solidFill>
                  <a:schemeClr val="accent4"/>
                </a:solidFill>
                <a:latin typeface="Cambria" pitchFamily="34" charset="0"/>
                <a:ea typeface="Cambria" pitchFamily="34" charset="-122"/>
                <a:cs typeface="Cambria" pitchFamily="34" charset="-120"/>
              </a:rPr>
              <a:t>fixed</a:t>
            </a:r>
            <a:endParaRPr lang="en-US" sz="2200" dirty="0"/>
          </a:p>
        </p:txBody>
      </p:sp>
      <p:sp>
        <p:nvSpPr>
          <p:cNvPr id="8" name="Shape 5"/>
          <p:cNvSpPr/>
          <p:nvPr/>
        </p:nvSpPr>
        <p:spPr>
          <a:xfrm>
            <a:off x="8138160" y="2651760"/>
            <a:ext cx="3291840" cy="685800"/>
          </a:xfrm>
          <a:prstGeom prst="roundRect">
            <a:avLst>
              <a:gd name="adj" fmla="val 16000"/>
            </a:avLst>
          </a:prstGeom>
          <a:solidFill>
            <a:srgbClr val="0E4A46"/>
          </a:solidFill>
          <a:ln w="12700">
            <a:solidFill>
              <a:srgbClr val="0E4A46"/>
            </a:solidFill>
            <a:prstDash val="solid"/>
          </a:ln>
        </p:spPr>
      </p:sp>
      <p:sp>
        <p:nvSpPr>
          <p:cNvPr id="9" name="Text 6"/>
          <p:cNvSpPr txBox="1"/>
          <p:nvPr/>
        </p:nvSpPr>
        <p:spPr>
          <a:xfrm>
            <a:off x="8138160" y="2651760"/>
            <a:ext cx="3291840" cy="685800"/>
          </a:xfrm>
          <a:prstGeom prst="rect">
            <a:avLst/>
          </a:prstGeom>
          <a:noFill/>
          <a:ln/>
        </p:spPr>
        <p:txBody>
          <a:bodyPr wrap="square" lIns="0" tIns="0" rIns="0" bIns="0" rtlCol="0" anchor="ctr"/>
          <a:lstStyle/>
          <a:p>
            <a:pPr algn="ctr" indent="0" marL="0">
              <a:buNone/>
            </a:pPr>
            <a:r>
              <a:rPr lang="en-US" sz="2200" b="1" dirty="0">
                <a:solidFill>
                  <a:schemeClr val="accent4"/>
                </a:solidFill>
                <a:latin typeface="Cambria" pitchFamily="34" charset="0"/>
                <a:ea typeface="Cambria" pitchFamily="34" charset="-122"/>
                <a:cs typeface="Cambria" pitchFamily="34" charset="-120"/>
              </a:rPr>
              <a:t>one-shot</a:t>
            </a:r>
            <a:endParaRPr lang="en-US" sz="2200" dirty="0"/>
          </a:p>
        </p:txBody>
      </p:sp>
      <p:sp>
        <p:nvSpPr>
          <p:cNvPr id="10" name="Shape 7"/>
          <p:cNvSpPr/>
          <p:nvPr/>
        </p:nvSpPr>
        <p:spPr>
          <a:xfrm>
            <a:off x="8138160" y="3566160"/>
            <a:ext cx="3291840" cy="685800"/>
          </a:xfrm>
          <a:prstGeom prst="roundRect">
            <a:avLst>
              <a:gd name="adj" fmla="val 16000"/>
            </a:avLst>
          </a:prstGeom>
          <a:solidFill>
            <a:srgbClr val="0E4A46"/>
          </a:solidFill>
          <a:ln w="12700">
            <a:solidFill>
              <a:srgbClr val="0E4A46"/>
            </a:solidFill>
            <a:prstDash val="solid"/>
          </a:ln>
        </p:spPr>
      </p:sp>
      <p:sp>
        <p:nvSpPr>
          <p:cNvPr id="11" name="Text 8"/>
          <p:cNvSpPr txBox="1"/>
          <p:nvPr/>
        </p:nvSpPr>
        <p:spPr>
          <a:xfrm>
            <a:off x="8138160" y="3566160"/>
            <a:ext cx="3291840" cy="685800"/>
          </a:xfrm>
          <a:prstGeom prst="rect">
            <a:avLst/>
          </a:prstGeom>
          <a:noFill/>
          <a:ln/>
        </p:spPr>
        <p:txBody>
          <a:bodyPr wrap="square" lIns="0" tIns="0" rIns="0" bIns="0" rtlCol="0" anchor="ctr"/>
          <a:lstStyle/>
          <a:p>
            <a:pPr algn="ctr" indent="0" marL="0">
              <a:buNone/>
            </a:pPr>
            <a:r>
              <a:rPr lang="en-US" sz="2200" b="1" dirty="0">
                <a:solidFill>
                  <a:schemeClr val="accent4"/>
                </a:solidFill>
                <a:latin typeface="Cambria" pitchFamily="34" charset="0"/>
                <a:ea typeface="Cambria" pitchFamily="34" charset="-122"/>
                <a:cs typeface="Cambria" pitchFamily="34" charset="-120"/>
              </a:rPr>
              <a:t>unchecked</a:t>
            </a:r>
            <a:endParaRPr lang="en-US" sz="2200" dirty="0"/>
          </a:p>
        </p:txBody>
      </p:sp>
      <p:sp>
        <p:nvSpPr>
          <p:cNvPr id="12" name="Shape 9"/>
          <p:cNvSpPr/>
          <p:nvPr/>
        </p:nvSpPr>
        <p:spPr>
          <a:xfrm>
            <a:off x="8138160" y="4480560"/>
            <a:ext cx="3291840" cy="685800"/>
          </a:xfrm>
          <a:prstGeom prst="roundRect">
            <a:avLst>
              <a:gd name="adj" fmla="val 16000"/>
            </a:avLst>
          </a:prstGeom>
          <a:solidFill>
            <a:srgbClr val="0E4A46"/>
          </a:solidFill>
          <a:ln w="12700">
            <a:solidFill>
              <a:srgbClr val="0E4A46"/>
            </a:solidFill>
            <a:prstDash val="solid"/>
          </a:ln>
        </p:spPr>
      </p:sp>
      <p:sp>
        <p:nvSpPr>
          <p:cNvPr id="13" name="Text 10"/>
          <p:cNvSpPr txBox="1"/>
          <p:nvPr/>
        </p:nvSpPr>
        <p:spPr>
          <a:xfrm>
            <a:off x="8138160" y="4480560"/>
            <a:ext cx="3291840" cy="685800"/>
          </a:xfrm>
          <a:prstGeom prst="rect">
            <a:avLst/>
          </a:prstGeom>
          <a:noFill/>
          <a:ln/>
        </p:spPr>
        <p:txBody>
          <a:bodyPr wrap="square" lIns="0" tIns="0" rIns="0" bIns="0" rtlCol="0" anchor="ctr"/>
          <a:lstStyle/>
          <a:p>
            <a:pPr algn="ctr" indent="0" marL="0">
              <a:buNone/>
            </a:pPr>
            <a:r>
              <a:rPr lang="en-US" sz="2200" b="1" dirty="0">
                <a:solidFill>
                  <a:schemeClr val="accent4"/>
                </a:solidFill>
                <a:latin typeface="Cambria" pitchFamily="34" charset="0"/>
                <a:ea typeface="Cambria" pitchFamily="34" charset="-122"/>
                <a:cs typeface="Cambria" pitchFamily="34" charset="-120"/>
              </a:rPr>
              <a:t>stateless</a:t>
            </a:r>
            <a:endParaRPr lang="en-US" sz="2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B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Lab 1 is a fixed chain: every question takes the same path</a:t>
            </a:r>
            <a:endParaRPr lang="en-US" sz="3000" dirty="0"/>
          </a:p>
        </p:txBody>
      </p:sp>
      <p:sp>
        <p:nvSpPr>
          <p:cNvPr id="4" name="Shape 1"/>
          <p:cNvSpPr/>
          <p:nvPr/>
        </p:nvSpPr>
        <p:spPr>
          <a:xfrm>
            <a:off x="548640" y="1828800"/>
            <a:ext cx="1645920" cy="822960"/>
          </a:xfrm>
          <a:prstGeom prst="roundRect">
            <a:avLst>
              <a:gd name="adj" fmla="val 13333"/>
            </a:avLst>
          </a:prstGeom>
          <a:solidFill>
            <a:schemeClr val="bg2"/>
          </a:solidFill>
          <a:ln w="12700">
            <a:solidFill>
              <a:srgbClr val="D5DCE5"/>
            </a:solidFill>
            <a:prstDash val="solid"/>
          </a:ln>
        </p:spPr>
      </p:sp>
      <p:sp>
        <p:nvSpPr>
          <p:cNvPr id="5" name="Text 2"/>
          <p:cNvSpPr txBox="1"/>
          <p:nvPr/>
        </p:nvSpPr>
        <p:spPr>
          <a:xfrm>
            <a:off x="548640" y="1828800"/>
            <a:ext cx="164592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question</a:t>
            </a:r>
            <a:endParaRPr lang="en-US" sz="1400" dirty="0"/>
          </a:p>
        </p:txBody>
      </p:sp>
      <p:sp>
        <p:nvSpPr>
          <p:cNvPr id="6" name="Shape 3"/>
          <p:cNvSpPr/>
          <p:nvPr/>
        </p:nvSpPr>
        <p:spPr>
          <a:xfrm>
            <a:off x="2212848" y="2240280"/>
            <a:ext cx="237744" cy="914"/>
          </a:xfrm>
          <a:prstGeom prst="line">
            <a:avLst/>
          </a:prstGeom>
          <a:noFill/>
          <a:ln w="20320">
            <a:solidFill>
              <a:schemeClr val="accent3"/>
            </a:solidFill>
            <a:prstDash val="solid"/>
            <a:tailEnd type="triangle"/>
          </a:ln>
        </p:spPr>
      </p:sp>
      <p:sp>
        <p:nvSpPr>
          <p:cNvPr id="7" name="Shape 4"/>
          <p:cNvSpPr/>
          <p:nvPr/>
        </p:nvSpPr>
        <p:spPr>
          <a:xfrm>
            <a:off x="2468880" y="1828800"/>
            <a:ext cx="1645920" cy="822960"/>
          </a:xfrm>
          <a:prstGeom prst="roundRect">
            <a:avLst>
              <a:gd name="adj" fmla="val 13333"/>
            </a:avLst>
          </a:prstGeom>
          <a:solidFill>
            <a:schemeClr val="accent5"/>
          </a:solidFill>
          <a:ln w="12700">
            <a:solidFill>
              <a:srgbClr val="D5DCE5"/>
            </a:solidFill>
            <a:prstDash val="solid"/>
          </a:ln>
        </p:spPr>
      </p:sp>
      <p:sp>
        <p:nvSpPr>
          <p:cNvPr id="8" name="Text 5"/>
          <p:cNvSpPr txBox="1"/>
          <p:nvPr/>
        </p:nvSpPr>
        <p:spPr>
          <a:xfrm>
            <a:off x="2468880" y="1828800"/>
            <a:ext cx="164592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MQR: 3 rewrites</a:t>
            </a:r>
            <a:endParaRPr lang="en-US" sz="1400" dirty="0"/>
          </a:p>
        </p:txBody>
      </p:sp>
      <p:sp>
        <p:nvSpPr>
          <p:cNvPr id="9" name="Shape 6"/>
          <p:cNvSpPr/>
          <p:nvPr/>
        </p:nvSpPr>
        <p:spPr>
          <a:xfrm>
            <a:off x="4133088" y="2240280"/>
            <a:ext cx="237744" cy="914"/>
          </a:xfrm>
          <a:prstGeom prst="line">
            <a:avLst/>
          </a:prstGeom>
          <a:noFill/>
          <a:ln w="20320">
            <a:solidFill>
              <a:schemeClr val="accent3"/>
            </a:solidFill>
            <a:prstDash val="solid"/>
            <a:tailEnd type="triangle"/>
          </a:ln>
        </p:spPr>
      </p:sp>
      <p:sp>
        <p:nvSpPr>
          <p:cNvPr id="10" name="Shape 7"/>
          <p:cNvSpPr/>
          <p:nvPr/>
        </p:nvSpPr>
        <p:spPr>
          <a:xfrm>
            <a:off x="4389120" y="1828800"/>
            <a:ext cx="1645920" cy="822960"/>
          </a:xfrm>
          <a:prstGeom prst="roundRect">
            <a:avLst>
              <a:gd name="adj" fmla="val 13333"/>
            </a:avLst>
          </a:prstGeom>
          <a:solidFill>
            <a:schemeClr val="accent6"/>
          </a:solidFill>
          <a:ln w="12700">
            <a:solidFill>
              <a:srgbClr val="D5DCE5"/>
            </a:solidFill>
            <a:prstDash val="solid"/>
          </a:ln>
        </p:spPr>
      </p:sp>
      <p:sp>
        <p:nvSpPr>
          <p:cNvPr id="11" name="Text 8"/>
          <p:cNvSpPr txBox="1"/>
          <p:nvPr/>
        </p:nvSpPr>
        <p:spPr>
          <a:xfrm>
            <a:off x="4389120" y="1828800"/>
            <a:ext cx="164592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 × FAISS top-5</a:t>
            </a:r>
            <a:endParaRPr lang="en-US" sz="1400" dirty="0"/>
          </a:p>
        </p:txBody>
      </p:sp>
      <p:sp>
        <p:nvSpPr>
          <p:cNvPr id="12" name="Shape 9"/>
          <p:cNvSpPr/>
          <p:nvPr/>
        </p:nvSpPr>
        <p:spPr>
          <a:xfrm>
            <a:off x="6053328" y="2240280"/>
            <a:ext cx="237744" cy="914"/>
          </a:xfrm>
          <a:prstGeom prst="line">
            <a:avLst/>
          </a:prstGeom>
          <a:noFill/>
          <a:ln w="20320">
            <a:solidFill>
              <a:schemeClr val="accent3"/>
            </a:solidFill>
            <a:prstDash val="solid"/>
            <a:tailEnd type="triangle"/>
          </a:ln>
        </p:spPr>
      </p:sp>
      <p:sp>
        <p:nvSpPr>
          <p:cNvPr id="13" name="Shape 10"/>
          <p:cNvSpPr/>
          <p:nvPr/>
        </p:nvSpPr>
        <p:spPr>
          <a:xfrm>
            <a:off x="6309360" y="1828800"/>
            <a:ext cx="1645920" cy="822960"/>
          </a:xfrm>
          <a:prstGeom prst="roundRect">
            <a:avLst>
              <a:gd name="adj" fmla="val 13333"/>
            </a:avLst>
          </a:prstGeom>
          <a:solidFill>
            <a:schemeClr val="accent6"/>
          </a:solidFill>
          <a:ln w="12700">
            <a:solidFill>
              <a:srgbClr val="D5DCE5"/>
            </a:solidFill>
            <a:prstDash val="solid"/>
          </a:ln>
        </p:spPr>
      </p:sp>
      <p:sp>
        <p:nvSpPr>
          <p:cNvPr id="14" name="Text 11"/>
          <p:cNvSpPr txBox="1"/>
          <p:nvPr/>
        </p:nvSpPr>
        <p:spPr>
          <a:xfrm>
            <a:off x="6309360" y="1828800"/>
            <a:ext cx="164592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RRF → top-5</a:t>
            </a:r>
            <a:endParaRPr lang="en-US" sz="1400" dirty="0"/>
          </a:p>
        </p:txBody>
      </p:sp>
      <p:sp>
        <p:nvSpPr>
          <p:cNvPr id="15" name="Shape 12"/>
          <p:cNvSpPr/>
          <p:nvPr/>
        </p:nvSpPr>
        <p:spPr>
          <a:xfrm>
            <a:off x="7973568" y="2240280"/>
            <a:ext cx="237744" cy="914"/>
          </a:xfrm>
          <a:prstGeom prst="line">
            <a:avLst/>
          </a:prstGeom>
          <a:noFill/>
          <a:ln w="20320">
            <a:solidFill>
              <a:schemeClr val="accent3"/>
            </a:solidFill>
            <a:prstDash val="solid"/>
            <a:tailEnd type="triangle"/>
          </a:ln>
        </p:spPr>
      </p:sp>
      <p:sp>
        <p:nvSpPr>
          <p:cNvPr id="16" name="Shape 13"/>
          <p:cNvSpPr/>
          <p:nvPr/>
        </p:nvSpPr>
        <p:spPr>
          <a:xfrm>
            <a:off x="8229600" y="1828800"/>
            <a:ext cx="1645920" cy="822960"/>
          </a:xfrm>
          <a:prstGeom prst="roundRect">
            <a:avLst>
              <a:gd name="adj" fmla="val 13333"/>
            </a:avLst>
          </a:prstGeom>
          <a:solidFill>
            <a:schemeClr val="bg2"/>
          </a:solidFill>
          <a:ln w="12700">
            <a:solidFill>
              <a:srgbClr val="D5DCE5"/>
            </a:solidFill>
            <a:prstDash val="solid"/>
          </a:ln>
        </p:spPr>
      </p:sp>
      <p:sp>
        <p:nvSpPr>
          <p:cNvPr id="17" name="Text 14"/>
          <p:cNvSpPr txBox="1"/>
          <p:nvPr/>
        </p:nvSpPr>
        <p:spPr>
          <a:xfrm>
            <a:off x="8229600" y="1828800"/>
            <a:ext cx="164592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grounded prompt</a:t>
            </a:r>
            <a:endParaRPr lang="en-US" sz="1400" dirty="0"/>
          </a:p>
        </p:txBody>
      </p:sp>
      <p:sp>
        <p:nvSpPr>
          <p:cNvPr id="18" name="Shape 15"/>
          <p:cNvSpPr/>
          <p:nvPr/>
        </p:nvSpPr>
        <p:spPr>
          <a:xfrm>
            <a:off x="9893808" y="2240280"/>
            <a:ext cx="237744" cy="914"/>
          </a:xfrm>
          <a:prstGeom prst="line">
            <a:avLst/>
          </a:prstGeom>
          <a:noFill/>
          <a:ln w="20320">
            <a:solidFill>
              <a:schemeClr val="accent3"/>
            </a:solidFill>
            <a:prstDash val="solid"/>
            <a:tailEnd type="triangle"/>
          </a:ln>
        </p:spPr>
      </p:sp>
      <p:sp>
        <p:nvSpPr>
          <p:cNvPr id="19" name="Shape 16"/>
          <p:cNvSpPr/>
          <p:nvPr/>
        </p:nvSpPr>
        <p:spPr>
          <a:xfrm>
            <a:off x="10149840" y="1828800"/>
            <a:ext cx="1645920" cy="822960"/>
          </a:xfrm>
          <a:prstGeom prst="roundRect">
            <a:avLst>
              <a:gd name="adj" fmla="val 13333"/>
            </a:avLst>
          </a:prstGeom>
          <a:solidFill>
            <a:schemeClr val="bg2"/>
          </a:solidFill>
          <a:ln w="12700">
            <a:solidFill>
              <a:srgbClr val="D5DCE5"/>
            </a:solidFill>
            <a:prstDash val="solid"/>
          </a:ln>
        </p:spPr>
      </p:sp>
      <p:sp>
        <p:nvSpPr>
          <p:cNvPr id="20" name="Text 17"/>
          <p:cNvSpPr txBox="1"/>
          <p:nvPr/>
        </p:nvSpPr>
        <p:spPr>
          <a:xfrm>
            <a:off x="10149840" y="1828800"/>
            <a:ext cx="1645920" cy="8229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answer</a:t>
            </a:r>
            <a:endParaRPr lang="en-US" sz="1400" dirty="0"/>
          </a:p>
        </p:txBody>
      </p:sp>
      <p:sp>
        <p:nvSpPr>
          <p:cNvPr id="21" name="Shape 18"/>
          <p:cNvSpPr/>
          <p:nvPr/>
        </p:nvSpPr>
        <p:spPr>
          <a:xfrm>
            <a:off x="548640" y="3108960"/>
            <a:ext cx="2633472" cy="1325880"/>
          </a:xfrm>
          <a:prstGeom prst="roundRect">
            <a:avLst>
              <a:gd name="adj" fmla="val 8276"/>
            </a:avLst>
          </a:prstGeom>
          <a:solidFill>
            <a:srgbClr val="FDECEC"/>
          </a:solidFill>
          <a:ln w="12700">
            <a:solidFill>
              <a:srgbClr val="FDECEC"/>
            </a:solidFill>
            <a:prstDash val="solid"/>
          </a:ln>
        </p:spPr>
      </p:sp>
      <p:sp>
        <p:nvSpPr>
          <p:cNvPr id="22" name="Text 19"/>
          <p:cNvSpPr txBox="1"/>
          <p:nvPr/>
        </p:nvSpPr>
        <p:spPr>
          <a:xfrm>
            <a:off x="731520" y="3218688"/>
            <a:ext cx="2286000" cy="36576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ALWAYS</a:t>
            </a:r>
            <a:endParaRPr lang="en-US" sz="1500" dirty="0"/>
          </a:p>
        </p:txBody>
      </p:sp>
      <p:sp>
        <p:nvSpPr>
          <p:cNvPr id="23" name="Text 20"/>
          <p:cNvSpPr txBox="1"/>
          <p:nvPr/>
        </p:nvSpPr>
        <p:spPr>
          <a:xfrm>
            <a:off x="731520" y="3611880"/>
            <a:ext cx="22860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runs, even for "hi" or a Python question</a:t>
            </a:r>
            <a:endParaRPr lang="en-US" sz="1300" dirty="0"/>
          </a:p>
        </p:txBody>
      </p:sp>
      <p:sp>
        <p:nvSpPr>
          <p:cNvPr id="24" name="Shape 21"/>
          <p:cNvSpPr/>
          <p:nvPr/>
        </p:nvSpPr>
        <p:spPr>
          <a:xfrm>
            <a:off x="3364992" y="3108960"/>
            <a:ext cx="2633472" cy="1325880"/>
          </a:xfrm>
          <a:prstGeom prst="roundRect">
            <a:avLst>
              <a:gd name="adj" fmla="val 8276"/>
            </a:avLst>
          </a:prstGeom>
          <a:solidFill>
            <a:srgbClr val="FDECEC"/>
          </a:solidFill>
          <a:ln w="12700">
            <a:solidFill>
              <a:srgbClr val="FDECEC"/>
            </a:solidFill>
            <a:prstDash val="solid"/>
          </a:ln>
        </p:spPr>
      </p:sp>
      <p:sp>
        <p:nvSpPr>
          <p:cNvPr id="25" name="Text 22"/>
          <p:cNvSpPr txBox="1"/>
          <p:nvPr/>
        </p:nvSpPr>
        <p:spPr>
          <a:xfrm>
            <a:off x="3547872" y="3218688"/>
            <a:ext cx="2286000" cy="36576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ONCE</a:t>
            </a:r>
            <a:endParaRPr lang="en-US" sz="1500" dirty="0"/>
          </a:p>
        </p:txBody>
      </p:sp>
      <p:sp>
        <p:nvSpPr>
          <p:cNvPr id="26" name="Text 23"/>
          <p:cNvSpPr txBox="1"/>
          <p:nvPr/>
        </p:nvSpPr>
        <p:spPr>
          <a:xfrm>
            <a:off x="3547872" y="3611880"/>
            <a:ext cx="22860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one retrieval pass; cannot search again with what it learned</a:t>
            </a:r>
            <a:endParaRPr lang="en-US" sz="1300" dirty="0"/>
          </a:p>
        </p:txBody>
      </p:sp>
      <p:sp>
        <p:nvSpPr>
          <p:cNvPr id="27" name="Shape 24"/>
          <p:cNvSpPr/>
          <p:nvPr/>
        </p:nvSpPr>
        <p:spPr>
          <a:xfrm>
            <a:off x="6181344" y="3108960"/>
            <a:ext cx="2633472" cy="1325880"/>
          </a:xfrm>
          <a:prstGeom prst="roundRect">
            <a:avLst>
              <a:gd name="adj" fmla="val 8276"/>
            </a:avLst>
          </a:prstGeom>
          <a:solidFill>
            <a:srgbClr val="FDECEC"/>
          </a:solidFill>
          <a:ln w="12700">
            <a:solidFill>
              <a:srgbClr val="FDECEC"/>
            </a:solidFill>
            <a:prstDash val="solid"/>
          </a:ln>
        </p:spPr>
      </p:sp>
      <p:sp>
        <p:nvSpPr>
          <p:cNvPr id="28" name="Text 25"/>
          <p:cNvSpPr txBox="1"/>
          <p:nvPr/>
        </p:nvSpPr>
        <p:spPr>
          <a:xfrm>
            <a:off x="6364224" y="3218688"/>
            <a:ext cx="2286000" cy="36576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NEVER CHECKS</a:t>
            </a:r>
            <a:endParaRPr lang="en-US" sz="1500" dirty="0"/>
          </a:p>
        </p:txBody>
      </p:sp>
      <p:sp>
        <p:nvSpPr>
          <p:cNvPr id="29" name="Text 26"/>
          <p:cNvSpPr txBox="1"/>
          <p:nvPr/>
        </p:nvSpPr>
        <p:spPr>
          <a:xfrm>
            <a:off x="6364224" y="3611880"/>
            <a:ext cx="22860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chunks are not graded; the answer is not verified</a:t>
            </a:r>
            <a:endParaRPr lang="en-US" sz="1300" dirty="0"/>
          </a:p>
        </p:txBody>
      </p:sp>
      <p:sp>
        <p:nvSpPr>
          <p:cNvPr id="30" name="Shape 27"/>
          <p:cNvSpPr/>
          <p:nvPr/>
        </p:nvSpPr>
        <p:spPr>
          <a:xfrm>
            <a:off x="8997696" y="3108960"/>
            <a:ext cx="2633472" cy="1325880"/>
          </a:xfrm>
          <a:prstGeom prst="roundRect">
            <a:avLst>
              <a:gd name="adj" fmla="val 8276"/>
            </a:avLst>
          </a:prstGeom>
          <a:solidFill>
            <a:srgbClr val="FDECEC"/>
          </a:solidFill>
          <a:ln w="12700">
            <a:solidFill>
              <a:srgbClr val="FDECEC"/>
            </a:solidFill>
            <a:prstDash val="solid"/>
          </a:ln>
        </p:spPr>
      </p:sp>
      <p:sp>
        <p:nvSpPr>
          <p:cNvPr id="31" name="Text 28"/>
          <p:cNvSpPr txBox="1"/>
          <p:nvPr/>
        </p:nvSpPr>
        <p:spPr>
          <a:xfrm>
            <a:off x="9180576" y="3218688"/>
            <a:ext cx="2286000" cy="36576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FORGETS</a:t>
            </a:r>
            <a:endParaRPr lang="en-US" sz="1500" dirty="0"/>
          </a:p>
        </p:txBody>
      </p:sp>
      <p:sp>
        <p:nvSpPr>
          <p:cNvPr id="32" name="Text 29"/>
          <p:cNvSpPr txBox="1"/>
          <p:nvPr/>
        </p:nvSpPr>
        <p:spPr>
          <a:xfrm>
            <a:off x="9180576" y="3611880"/>
            <a:ext cx="22860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question starts from zero</a:t>
            </a:r>
            <a:endParaRPr lang="en-US" sz="1300" dirty="0"/>
          </a:p>
        </p:txBody>
      </p:sp>
      <p:sp>
        <p:nvSpPr>
          <p:cNvPr id="33" name="Shape 30"/>
          <p:cNvSpPr/>
          <p:nvPr/>
        </p:nvSpPr>
        <p:spPr>
          <a:xfrm>
            <a:off x="548640" y="4892040"/>
            <a:ext cx="11064240" cy="1051560"/>
          </a:xfrm>
          <a:prstGeom prst="roundRect">
            <a:avLst>
              <a:gd name="adj" fmla="val 10435"/>
            </a:avLst>
          </a:prstGeom>
          <a:solidFill>
            <a:schemeClr val="bg2"/>
          </a:solidFill>
          <a:ln w="12700">
            <a:solidFill>
              <a:schemeClr val="bg2"/>
            </a:solidFill>
            <a:prstDash val="solid"/>
          </a:ln>
        </p:spPr>
      </p:sp>
      <p:sp>
        <p:nvSpPr>
          <p:cNvPr id="34" name="Text 31"/>
          <p:cNvSpPr txBox="1"/>
          <p:nvPr/>
        </p:nvSpPr>
        <p:spPr>
          <a:xfrm>
            <a:off x="777240" y="5029200"/>
            <a:ext cx="10607040" cy="8229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In LangChain terms: </a:t>
            </a:r>
            <a:pPr indent="0" marL="0">
              <a:buNone/>
            </a:pPr>
            <a:r>
              <a:rPr lang="en-US" sz="1500" dirty="0">
                <a:solidFill>
                  <a:schemeClr val="tx1"/>
                </a:solidFill>
                <a:latin typeface="Calibri" pitchFamily="34" charset="0"/>
                <a:ea typeface="Calibri" pitchFamily="34" charset="-122"/>
                <a:cs typeface="Calibri" pitchFamily="34" charset="-120"/>
              </a:rPr>
              <a:t>an LCEL chain is a straight line (a DAG). It cannot branch on its own results, loop back, pause for a human, or keep state between calls. Those are exactly the things an agent needs.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Eight problems you can reproduce with our handbook</a:t>
            </a:r>
            <a:endParaRPr lang="en-US" sz="3000" dirty="0"/>
          </a:p>
        </p:txBody>
      </p:sp>
      <p:sp>
        <p:nvSpPr>
          <p:cNvPr id="4" name="Shape 1"/>
          <p:cNvSpPr/>
          <p:nvPr/>
        </p:nvSpPr>
        <p:spPr>
          <a:xfrm>
            <a:off x="548640" y="1417320"/>
            <a:ext cx="2606040" cy="2194560"/>
          </a:xfrm>
          <a:prstGeom prst="roundRect">
            <a:avLst>
              <a:gd name="adj" fmla="val 5000"/>
            </a:avLst>
          </a:prstGeom>
          <a:solidFill>
            <a:schemeClr val="accent5"/>
          </a:solidFill>
          <a:ln w="12700">
            <a:solidFill>
              <a:schemeClr val="accent5"/>
            </a:solidFill>
            <a:prstDash val="solid"/>
          </a:ln>
        </p:spPr>
      </p:sp>
      <p:sp>
        <p:nvSpPr>
          <p:cNvPr id="5" name="Text 2"/>
          <p:cNvSpPr txBox="1"/>
          <p:nvPr/>
        </p:nvSpPr>
        <p:spPr>
          <a:xfrm>
            <a:off x="777240" y="1600200"/>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S1·S2</a:t>
            </a:r>
            <a:endParaRPr lang="en-US" sz="1200" dirty="0"/>
          </a:p>
        </p:txBody>
      </p:sp>
      <p:sp>
        <p:nvSpPr>
          <p:cNvPr id="6" name="Text 3"/>
          <p:cNvSpPr txBox="1"/>
          <p:nvPr/>
        </p:nvSpPr>
        <p:spPr>
          <a:xfrm>
            <a:off x="777240" y="1874520"/>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Always retrieves</a:t>
            </a:r>
            <a:endParaRPr lang="en-US" sz="1700" dirty="0"/>
          </a:p>
        </p:txBody>
      </p:sp>
      <p:sp>
        <p:nvSpPr>
          <p:cNvPr id="7" name="Text 4"/>
          <p:cNvSpPr txBox="1"/>
          <p:nvPr/>
        </p:nvSpPr>
        <p:spPr>
          <a:xfrm>
            <a:off x="777240" y="2514600"/>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"Write me a Python function" still costs 1 rewrite + 4 searches + 1 answer</a:t>
            </a:r>
            <a:endParaRPr lang="en-US" sz="1300" dirty="0"/>
          </a:p>
        </p:txBody>
      </p:sp>
      <p:sp>
        <p:nvSpPr>
          <p:cNvPr id="8" name="Shape 5"/>
          <p:cNvSpPr/>
          <p:nvPr/>
        </p:nvSpPr>
        <p:spPr>
          <a:xfrm>
            <a:off x="3337560" y="1417320"/>
            <a:ext cx="2606040" cy="2194560"/>
          </a:xfrm>
          <a:prstGeom prst="roundRect">
            <a:avLst>
              <a:gd name="adj" fmla="val 5000"/>
            </a:avLst>
          </a:prstGeom>
          <a:solidFill>
            <a:schemeClr val="bg2"/>
          </a:solidFill>
          <a:ln w="12700">
            <a:solidFill>
              <a:schemeClr val="bg2"/>
            </a:solidFill>
            <a:prstDash val="solid"/>
          </a:ln>
        </p:spPr>
      </p:sp>
      <p:sp>
        <p:nvSpPr>
          <p:cNvPr id="9" name="Text 6"/>
          <p:cNvSpPr txBox="1"/>
          <p:nvPr/>
        </p:nvSpPr>
        <p:spPr>
          <a:xfrm>
            <a:off x="3566160" y="1600200"/>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S3</a:t>
            </a:r>
            <a:endParaRPr lang="en-US" sz="1200" dirty="0"/>
          </a:p>
        </p:txBody>
      </p:sp>
      <p:sp>
        <p:nvSpPr>
          <p:cNvPr id="10" name="Text 7"/>
          <p:cNvSpPr txBox="1"/>
          <p:nvPr/>
        </p:nvSpPr>
        <p:spPr>
          <a:xfrm>
            <a:off x="3566160" y="1874520"/>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Cannot ask back</a:t>
            </a:r>
            <a:endParaRPr lang="en-US" sz="1700" dirty="0"/>
          </a:p>
        </p:txBody>
      </p:sp>
      <p:sp>
        <p:nvSpPr>
          <p:cNvPr id="11" name="Text 8"/>
          <p:cNvSpPr txBox="1"/>
          <p:nvPr/>
        </p:nvSpPr>
        <p:spPr>
          <a:xfrm>
            <a:off x="3566160" y="2514600"/>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"What is the limit?" Hotel? Per diem? It guesses.</a:t>
            </a:r>
            <a:endParaRPr lang="en-US" sz="1300" dirty="0"/>
          </a:p>
        </p:txBody>
      </p:sp>
      <p:sp>
        <p:nvSpPr>
          <p:cNvPr id="12" name="Shape 9"/>
          <p:cNvSpPr/>
          <p:nvPr/>
        </p:nvSpPr>
        <p:spPr>
          <a:xfrm>
            <a:off x="6126480" y="1417320"/>
            <a:ext cx="2606040" cy="2194560"/>
          </a:xfrm>
          <a:prstGeom prst="roundRect">
            <a:avLst>
              <a:gd name="adj" fmla="val 5000"/>
            </a:avLst>
          </a:prstGeom>
          <a:solidFill>
            <a:schemeClr val="accent5"/>
          </a:solidFill>
          <a:ln w="12700">
            <a:solidFill>
              <a:schemeClr val="accent5"/>
            </a:solidFill>
            <a:prstDash val="solid"/>
          </a:ln>
        </p:spPr>
      </p:sp>
      <p:sp>
        <p:nvSpPr>
          <p:cNvPr id="13" name="Text 10"/>
          <p:cNvSpPr txBox="1"/>
          <p:nvPr/>
        </p:nvSpPr>
        <p:spPr>
          <a:xfrm>
            <a:off x="6355080" y="1600200"/>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S4</a:t>
            </a:r>
            <a:endParaRPr lang="en-US" sz="1200" dirty="0"/>
          </a:p>
        </p:txBody>
      </p:sp>
      <p:sp>
        <p:nvSpPr>
          <p:cNvPr id="14" name="Text 11"/>
          <p:cNvSpPr txBox="1"/>
          <p:nvPr/>
        </p:nvSpPr>
        <p:spPr>
          <a:xfrm>
            <a:off x="6355080" y="1874520"/>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One-shot, no multi-hop</a:t>
            </a:r>
            <a:endParaRPr lang="en-US" sz="1700" dirty="0"/>
          </a:p>
        </p:txBody>
      </p:sp>
      <p:sp>
        <p:nvSpPr>
          <p:cNvPr id="15" name="Text 12"/>
          <p:cNvSpPr txBox="1"/>
          <p:nvPr/>
        </p:nvSpPr>
        <p:spPr>
          <a:xfrm>
            <a:off x="6355080" y="2514600"/>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PAY-E5000 says 'follow Sev-2'; the Sev-2 times are in another doc</a:t>
            </a:r>
            <a:endParaRPr lang="en-US" sz="1300" dirty="0"/>
          </a:p>
        </p:txBody>
      </p:sp>
      <p:sp>
        <p:nvSpPr>
          <p:cNvPr id="16" name="Shape 13"/>
          <p:cNvSpPr/>
          <p:nvPr/>
        </p:nvSpPr>
        <p:spPr>
          <a:xfrm>
            <a:off x="8915400" y="1417320"/>
            <a:ext cx="2606040" cy="2194560"/>
          </a:xfrm>
          <a:prstGeom prst="roundRect">
            <a:avLst>
              <a:gd name="adj" fmla="val 5000"/>
            </a:avLst>
          </a:prstGeom>
          <a:solidFill>
            <a:schemeClr val="bg2"/>
          </a:solidFill>
          <a:ln w="12700">
            <a:solidFill>
              <a:schemeClr val="bg2"/>
            </a:solidFill>
            <a:prstDash val="solid"/>
          </a:ln>
        </p:spPr>
      </p:sp>
      <p:sp>
        <p:nvSpPr>
          <p:cNvPr id="17" name="Text 14"/>
          <p:cNvSpPr txBox="1"/>
          <p:nvPr/>
        </p:nvSpPr>
        <p:spPr>
          <a:xfrm>
            <a:off x="9144000" y="1600200"/>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S5</a:t>
            </a:r>
            <a:endParaRPr lang="en-US" sz="1200" dirty="0"/>
          </a:p>
        </p:txBody>
      </p:sp>
      <p:sp>
        <p:nvSpPr>
          <p:cNvPr id="18" name="Text 15"/>
          <p:cNvSpPr txBox="1"/>
          <p:nvPr/>
        </p:nvSpPr>
        <p:spPr>
          <a:xfrm>
            <a:off x="9144000" y="1874520"/>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Top-k cannot aggregate</a:t>
            </a:r>
            <a:endParaRPr lang="en-US" sz="1700" dirty="0"/>
          </a:p>
        </p:txBody>
      </p:sp>
      <p:sp>
        <p:nvSpPr>
          <p:cNvPr id="19" name="Text 16"/>
          <p:cNvSpPr txBox="1"/>
          <p:nvPr/>
        </p:nvSpPr>
        <p:spPr>
          <a:xfrm>
            <a:off x="9144000" y="2514600"/>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rule for graduate trainees": facts in 4 documents</a:t>
            </a:r>
            <a:endParaRPr lang="en-US" sz="1300" dirty="0"/>
          </a:p>
        </p:txBody>
      </p:sp>
      <p:sp>
        <p:nvSpPr>
          <p:cNvPr id="20" name="Shape 17"/>
          <p:cNvSpPr/>
          <p:nvPr/>
        </p:nvSpPr>
        <p:spPr>
          <a:xfrm>
            <a:off x="548640" y="3813048"/>
            <a:ext cx="2606040" cy="2194560"/>
          </a:xfrm>
          <a:prstGeom prst="roundRect">
            <a:avLst>
              <a:gd name="adj" fmla="val 5000"/>
            </a:avLst>
          </a:prstGeom>
          <a:solidFill>
            <a:schemeClr val="accent5"/>
          </a:solidFill>
          <a:ln w="12700">
            <a:solidFill>
              <a:schemeClr val="accent5"/>
            </a:solidFill>
            <a:prstDash val="solid"/>
          </a:ln>
        </p:spPr>
      </p:sp>
      <p:sp>
        <p:nvSpPr>
          <p:cNvPr id="21" name="Text 18"/>
          <p:cNvSpPr txBox="1"/>
          <p:nvPr/>
        </p:nvSpPr>
        <p:spPr>
          <a:xfrm>
            <a:off x="777240" y="3995928"/>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S6</a:t>
            </a:r>
            <a:endParaRPr lang="en-US" sz="1200" dirty="0"/>
          </a:p>
        </p:txBody>
      </p:sp>
      <p:sp>
        <p:nvSpPr>
          <p:cNvPr id="22" name="Text 19"/>
          <p:cNvSpPr txBox="1"/>
          <p:nvPr/>
        </p:nvSpPr>
        <p:spPr>
          <a:xfrm>
            <a:off x="777240" y="4270248"/>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No tools: mental maths</a:t>
            </a:r>
            <a:endParaRPr lang="en-US" sz="1700" dirty="0"/>
          </a:p>
        </p:txBody>
      </p:sp>
      <p:sp>
        <p:nvSpPr>
          <p:cNvPr id="23" name="Text 20"/>
          <p:cNvSpPr txBox="1"/>
          <p:nvPr/>
        </p:nvSpPr>
        <p:spPr>
          <a:xfrm>
            <a:off x="777240" y="4910328"/>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3 days per diem + 3 hotel nights: the LLM adds it up in its head</a:t>
            </a:r>
            <a:endParaRPr lang="en-US" sz="1300" dirty="0"/>
          </a:p>
        </p:txBody>
      </p:sp>
      <p:sp>
        <p:nvSpPr>
          <p:cNvPr id="24" name="Shape 21"/>
          <p:cNvSpPr/>
          <p:nvPr/>
        </p:nvSpPr>
        <p:spPr>
          <a:xfrm>
            <a:off x="3337560" y="3813048"/>
            <a:ext cx="2606040" cy="2194560"/>
          </a:xfrm>
          <a:prstGeom prst="roundRect">
            <a:avLst>
              <a:gd name="adj" fmla="val 5000"/>
            </a:avLst>
          </a:prstGeom>
          <a:solidFill>
            <a:schemeClr val="bg2"/>
          </a:solidFill>
          <a:ln w="12700">
            <a:solidFill>
              <a:schemeClr val="bg2"/>
            </a:solidFill>
            <a:prstDash val="solid"/>
          </a:ln>
        </p:spPr>
      </p:sp>
      <p:sp>
        <p:nvSpPr>
          <p:cNvPr id="25" name="Text 22"/>
          <p:cNvSpPr txBox="1"/>
          <p:nvPr/>
        </p:nvSpPr>
        <p:spPr>
          <a:xfrm>
            <a:off x="3566160" y="3995928"/>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S7</a:t>
            </a:r>
            <a:endParaRPr lang="en-US" sz="1200" dirty="0"/>
          </a:p>
        </p:txBody>
      </p:sp>
      <p:sp>
        <p:nvSpPr>
          <p:cNvPr id="26" name="Text 23"/>
          <p:cNvSpPr txBox="1"/>
          <p:nvPr/>
        </p:nvSpPr>
        <p:spPr>
          <a:xfrm>
            <a:off x="3566160" y="4270248"/>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Multi-part shares one top-5</a:t>
            </a:r>
            <a:endParaRPr lang="en-US" sz="1700" dirty="0"/>
          </a:p>
        </p:txBody>
      </p:sp>
      <p:sp>
        <p:nvSpPr>
          <p:cNvPr id="27" name="Text 24"/>
          <p:cNvSpPr txBox="1"/>
          <p:nvPr/>
        </p:nvSpPr>
        <p:spPr>
          <a:xfrm>
            <a:off x="3566160" y="4910328"/>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two facts from two docs compete for 5 slots</a:t>
            </a:r>
            <a:endParaRPr lang="en-US" sz="1300" dirty="0"/>
          </a:p>
        </p:txBody>
      </p:sp>
      <p:sp>
        <p:nvSpPr>
          <p:cNvPr id="28" name="Shape 25"/>
          <p:cNvSpPr/>
          <p:nvPr/>
        </p:nvSpPr>
        <p:spPr>
          <a:xfrm>
            <a:off x="6126480" y="3813048"/>
            <a:ext cx="2606040" cy="2194560"/>
          </a:xfrm>
          <a:prstGeom prst="roundRect">
            <a:avLst>
              <a:gd name="adj" fmla="val 5000"/>
            </a:avLst>
          </a:prstGeom>
          <a:solidFill>
            <a:schemeClr val="accent5"/>
          </a:solidFill>
          <a:ln w="12700">
            <a:solidFill>
              <a:schemeClr val="accent5"/>
            </a:solidFill>
            <a:prstDash val="solid"/>
          </a:ln>
        </p:spPr>
      </p:sp>
      <p:sp>
        <p:nvSpPr>
          <p:cNvPr id="29" name="Text 26"/>
          <p:cNvSpPr txBox="1"/>
          <p:nvPr/>
        </p:nvSpPr>
        <p:spPr>
          <a:xfrm>
            <a:off x="6355080" y="3995928"/>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a:t>
            </a:r>
            <a:endParaRPr lang="en-US" sz="1200" dirty="0"/>
          </a:p>
        </p:txBody>
      </p:sp>
      <p:sp>
        <p:nvSpPr>
          <p:cNvPr id="30" name="Text 27"/>
          <p:cNvSpPr txBox="1"/>
          <p:nvPr/>
        </p:nvSpPr>
        <p:spPr>
          <a:xfrm>
            <a:off x="6355080" y="4270248"/>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No self-check</a:t>
            </a:r>
            <a:endParaRPr lang="en-US" sz="1700" dirty="0"/>
          </a:p>
        </p:txBody>
      </p:sp>
      <p:sp>
        <p:nvSpPr>
          <p:cNvPr id="31" name="Text 28"/>
          <p:cNvSpPr txBox="1"/>
          <p:nvPr/>
        </p:nvSpPr>
        <p:spPr>
          <a:xfrm>
            <a:off x="6355080" y="4910328"/>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wrong chunks in, confident answer out; nobody checks</a:t>
            </a:r>
            <a:endParaRPr lang="en-US" sz="1300" dirty="0"/>
          </a:p>
        </p:txBody>
      </p:sp>
      <p:sp>
        <p:nvSpPr>
          <p:cNvPr id="32" name="Shape 29"/>
          <p:cNvSpPr/>
          <p:nvPr/>
        </p:nvSpPr>
        <p:spPr>
          <a:xfrm>
            <a:off x="8915400" y="3813048"/>
            <a:ext cx="2606040" cy="2194560"/>
          </a:xfrm>
          <a:prstGeom prst="roundRect">
            <a:avLst>
              <a:gd name="adj" fmla="val 5000"/>
            </a:avLst>
          </a:prstGeom>
          <a:solidFill>
            <a:schemeClr val="bg2"/>
          </a:solidFill>
          <a:ln w="12700">
            <a:solidFill>
              <a:schemeClr val="bg2"/>
            </a:solidFill>
            <a:prstDash val="solid"/>
          </a:ln>
        </p:spPr>
      </p:sp>
      <p:sp>
        <p:nvSpPr>
          <p:cNvPr id="33" name="Text 30"/>
          <p:cNvSpPr txBox="1"/>
          <p:nvPr/>
        </p:nvSpPr>
        <p:spPr>
          <a:xfrm>
            <a:off x="9144000" y="3995928"/>
            <a:ext cx="219456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S8</a:t>
            </a:r>
            <a:endParaRPr lang="en-US" sz="1200" dirty="0"/>
          </a:p>
        </p:txBody>
      </p:sp>
      <p:sp>
        <p:nvSpPr>
          <p:cNvPr id="34" name="Text 31"/>
          <p:cNvSpPr txBox="1"/>
          <p:nvPr/>
        </p:nvSpPr>
        <p:spPr>
          <a:xfrm>
            <a:off x="9144000" y="4270248"/>
            <a:ext cx="2194560" cy="5943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No memory</a:t>
            </a:r>
            <a:endParaRPr lang="en-US" sz="1700" dirty="0"/>
          </a:p>
        </p:txBody>
      </p:sp>
      <p:sp>
        <p:nvSpPr>
          <p:cNvPr id="35" name="Text 32"/>
          <p:cNvSpPr txBox="1"/>
          <p:nvPr/>
        </p:nvSpPr>
        <p:spPr>
          <a:xfrm>
            <a:off x="9144000" y="4910328"/>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"Can they be carried forward?" Who is 'they'?</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Deep dive: multi-hop needs a second search built on the first</a:t>
            </a:r>
            <a:endParaRPr lang="en-US" sz="3000" dirty="0"/>
          </a:p>
        </p:txBody>
      </p:sp>
      <p:sp>
        <p:nvSpPr>
          <p:cNvPr id="4" name="Text 1"/>
          <p:cNvSpPr txBox="1"/>
          <p:nvPr/>
        </p:nvSpPr>
        <p:spPr>
          <a:xfrm>
            <a:off x="548640" y="1280160"/>
            <a:ext cx="11064240" cy="548640"/>
          </a:xfrm>
          <a:prstGeom prst="rect">
            <a:avLst/>
          </a:prstGeom>
          <a:noFill/>
          <a:ln/>
        </p:spPr>
        <p:txBody>
          <a:bodyPr wrap="square" lIns="0" tIns="0" rIns="0" bIns="0" rtlCol="0" anchor="t"/>
          <a:lstStyle/>
          <a:p>
            <a:pPr indent="0" marL="0">
              <a:buNone/>
            </a:pPr>
            <a:r>
              <a:rPr lang="en-US" sz="1700" i="1" dirty="0">
                <a:solidFill>
                  <a:schemeClr val="accent2"/>
                </a:solidFill>
                <a:latin typeface="Calibri" pitchFamily="34" charset="0"/>
                <a:ea typeface="Calibri" pitchFamily="34" charset="-122"/>
                <a:cs typeface="Calibri" pitchFamily="34" charset="-120"/>
              </a:rPr>
              <a:t>"PAY-E5000 just fired at 11 pm. What process do we follow, and how fast must the on-call engineer acknowledge?"</a:t>
            </a:r>
            <a:endParaRPr lang="en-US" sz="1700" dirty="0"/>
          </a:p>
        </p:txBody>
      </p:sp>
      <p:sp>
        <p:nvSpPr>
          <p:cNvPr id="5" name="Shape 2"/>
          <p:cNvSpPr/>
          <p:nvPr/>
        </p:nvSpPr>
        <p:spPr>
          <a:xfrm>
            <a:off x="548640" y="2103120"/>
            <a:ext cx="3291840" cy="1234440"/>
          </a:xfrm>
          <a:prstGeom prst="roundRect">
            <a:avLst>
              <a:gd name="adj" fmla="val 8889"/>
            </a:avLst>
          </a:prstGeom>
          <a:solidFill>
            <a:schemeClr val="accent6"/>
          </a:solidFill>
          <a:ln w="12700">
            <a:solidFill>
              <a:schemeClr val="accent6"/>
            </a:solidFill>
            <a:prstDash val="solid"/>
          </a:ln>
        </p:spPr>
      </p:sp>
      <p:sp>
        <p:nvSpPr>
          <p:cNvPr id="6" name="Text 3"/>
          <p:cNvSpPr txBox="1"/>
          <p:nvPr/>
        </p:nvSpPr>
        <p:spPr>
          <a:xfrm>
            <a:off x="731520" y="2212848"/>
            <a:ext cx="292608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Hop 1 · search</a:t>
            </a:r>
            <a:endParaRPr lang="en-US" sz="1400" dirty="0"/>
          </a:p>
        </p:txBody>
      </p:sp>
      <p:sp>
        <p:nvSpPr>
          <p:cNvPr id="7" name="Text 4"/>
          <p:cNvSpPr txBox="1"/>
          <p:nvPr/>
        </p:nvSpPr>
        <p:spPr>
          <a:xfrm>
            <a:off x="731520" y="2578608"/>
            <a:ext cx="29260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"PAY-E5000" → 04_payment_error_codes: "page the payments on-call engineer and follow the Sev-2 incident process"</a:t>
            </a:r>
            <a:endParaRPr lang="en-US" sz="1300" dirty="0"/>
          </a:p>
        </p:txBody>
      </p:sp>
      <p:sp>
        <p:nvSpPr>
          <p:cNvPr id="8" name="Shape 5"/>
          <p:cNvSpPr/>
          <p:nvPr/>
        </p:nvSpPr>
        <p:spPr>
          <a:xfrm>
            <a:off x="3858768" y="2715768"/>
            <a:ext cx="512064" cy="914"/>
          </a:xfrm>
          <a:prstGeom prst="line">
            <a:avLst/>
          </a:prstGeom>
          <a:noFill/>
          <a:ln w="25400">
            <a:solidFill>
              <a:srgbClr val="0F766E"/>
            </a:solidFill>
            <a:prstDash val="solid"/>
            <a:tailEnd type="triangle"/>
          </a:ln>
        </p:spPr>
      </p:sp>
      <p:sp>
        <p:nvSpPr>
          <p:cNvPr id="9" name="Shape 6"/>
          <p:cNvSpPr/>
          <p:nvPr/>
        </p:nvSpPr>
        <p:spPr>
          <a:xfrm>
            <a:off x="4389120" y="2103120"/>
            <a:ext cx="3291840" cy="1234440"/>
          </a:xfrm>
          <a:prstGeom prst="roundRect">
            <a:avLst>
              <a:gd name="adj" fmla="val 8889"/>
            </a:avLst>
          </a:prstGeom>
          <a:solidFill>
            <a:schemeClr val="accent5"/>
          </a:solidFill>
          <a:ln w="12700">
            <a:solidFill>
              <a:schemeClr val="accent5"/>
            </a:solidFill>
            <a:prstDash val="solid"/>
          </a:ln>
        </p:spPr>
      </p:sp>
      <p:sp>
        <p:nvSpPr>
          <p:cNvPr id="10" name="Text 7"/>
          <p:cNvSpPr txBox="1"/>
          <p:nvPr/>
        </p:nvSpPr>
        <p:spPr>
          <a:xfrm>
            <a:off x="4572000" y="2212848"/>
            <a:ext cx="292608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Read &amp; decide</a:t>
            </a:r>
            <a:endParaRPr lang="en-US" sz="1400" dirty="0"/>
          </a:p>
        </p:txBody>
      </p:sp>
      <p:sp>
        <p:nvSpPr>
          <p:cNvPr id="11" name="Text 8"/>
          <p:cNvSpPr txBox="1"/>
          <p:nvPr/>
        </p:nvSpPr>
        <p:spPr>
          <a:xfrm>
            <a:off x="4572000" y="2578608"/>
            <a:ext cx="29260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Process found. Acknowledgement time? Not here. New term learned: "Sev-2"</a:t>
            </a:r>
            <a:endParaRPr lang="en-US" sz="1300" dirty="0"/>
          </a:p>
        </p:txBody>
      </p:sp>
      <p:sp>
        <p:nvSpPr>
          <p:cNvPr id="12" name="Shape 9"/>
          <p:cNvSpPr/>
          <p:nvPr/>
        </p:nvSpPr>
        <p:spPr>
          <a:xfrm>
            <a:off x="7699248" y="2715768"/>
            <a:ext cx="512064" cy="914"/>
          </a:xfrm>
          <a:prstGeom prst="line">
            <a:avLst/>
          </a:prstGeom>
          <a:noFill/>
          <a:ln w="25400">
            <a:solidFill>
              <a:srgbClr val="0F766E"/>
            </a:solidFill>
            <a:prstDash val="solid"/>
            <a:tailEnd type="triangle"/>
          </a:ln>
        </p:spPr>
      </p:sp>
      <p:sp>
        <p:nvSpPr>
          <p:cNvPr id="13" name="Shape 10"/>
          <p:cNvSpPr/>
          <p:nvPr/>
        </p:nvSpPr>
        <p:spPr>
          <a:xfrm>
            <a:off x="8229600" y="2103120"/>
            <a:ext cx="3383280" cy="1234440"/>
          </a:xfrm>
          <a:prstGeom prst="roundRect">
            <a:avLst>
              <a:gd name="adj" fmla="val 8889"/>
            </a:avLst>
          </a:prstGeom>
          <a:solidFill>
            <a:schemeClr val="accent6"/>
          </a:solidFill>
          <a:ln w="12700">
            <a:solidFill>
              <a:schemeClr val="accent6"/>
            </a:solidFill>
            <a:prstDash val="solid"/>
          </a:ln>
        </p:spPr>
      </p:sp>
      <p:sp>
        <p:nvSpPr>
          <p:cNvPr id="14" name="Text 11"/>
          <p:cNvSpPr txBox="1"/>
          <p:nvPr/>
        </p:nvSpPr>
        <p:spPr>
          <a:xfrm>
            <a:off x="8412480" y="2212848"/>
            <a:ext cx="301752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Hop 2 · search</a:t>
            </a:r>
            <a:endParaRPr lang="en-US" sz="1400" dirty="0"/>
          </a:p>
        </p:txBody>
      </p:sp>
      <p:sp>
        <p:nvSpPr>
          <p:cNvPr id="15" name="Text 12"/>
          <p:cNvSpPr txBox="1"/>
          <p:nvPr/>
        </p:nvSpPr>
        <p:spPr>
          <a:xfrm>
            <a:off x="8412480" y="2578608"/>
            <a:ext cx="301752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"Sev-2 acknowledgement time" → 07_oncall: "Sev-2 within 30 min in business hours, 60 min outside"</a:t>
            </a:r>
            <a:endParaRPr lang="en-US" sz="1300" dirty="0"/>
          </a:p>
        </p:txBody>
      </p:sp>
      <p:sp>
        <p:nvSpPr>
          <p:cNvPr id="16" name="Shape 13"/>
          <p:cNvSpPr/>
          <p:nvPr/>
        </p:nvSpPr>
        <p:spPr>
          <a:xfrm>
            <a:off x="548640" y="3657600"/>
            <a:ext cx="5394960" cy="2286000"/>
          </a:xfrm>
          <a:prstGeom prst="roundRect">
            <a:avLst>
              <a:gd name="adj" fmla="val 4800"/>
            </a:avLst>
          </a:prstGeom>
          <a:solidFill>
            <a:srgbClr val="FDECEC"/>
          </a:solidFill>
          <a:ln w="12700">
            <a:solidFill>
              <a:srgbClr val="FDECEC"/>
            </a:solidFill>
            <a:prstDash val="solid"/>
          </a:ln>
        </p:spPr>
      </p:sp>
      <p:sp>
        <p:nvSpPr>
          <p:cNvPr id="17" name="Text 14"/>
          <p:cNvSpPr txBox="1"/>
          <p:nvPr/>
        </p:nvSpPr>
        <p:spPr>
          <a:xfrm>
            <a:off x="777240" y="3794760"/>
            <a:ext cx="4937760" cy="365760"/>
          </a:xfrm>
          <a:prstGeom prst="rect">
            <a:avLst/>
          </a:prstGeom>
          <a:noFill/>
          <a:ln/>
        </p:spPr>
        <p:txBody>
          <a:bodyPr wrap="square" lIns="0" tIns="0" rIns="0" bIns="0" rtlCol="0" anchor="t"/>
          <a:lstStyle/>
          <a:p>
            <a:pPr indent="0" marL="0">
              <a:buNone/>
            </a:pPr>
            <a:r>
              <a:rPr lang="en-US" sz="1600" b="1" dirty="0">
                <a:solidFill>
                  <a:srgbClr val="B91C1C"/>
                </a:solidFill>
                <a:latin typeface="Calibri" pitchFamily="34" charset="0"/>
                <a:ea typeface="Calibri" pitchFamily="34" charset="-122"/>
                <a:cs typeface="Calibri" pitchFamily="34" charset="-120"/>
              </a:rPr>
              <a:t>MQR + RRF</a:t>
            </a:r>
            <a:endParaRPr lang="en-US" sz="1600" dirty="0"/>
          </a:p>
        </p:txBody>
      </p:sp>
      <p:sp>
        <p:nvSpPr>
          <p:cNvPr id="18" name="Text 15"/>
          <p:cNvSpPr txBox="1"/>
          <p:nvPr/>
        </p:nvSpPr>
        <p:spPr>
          <a:xfrm>
            <a:off x="777240" y="4206240"/>
            <a:ext cx="4937760" cy="164592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all 3 rewrites are written before reading anything</a:t>
            </a:r>
            <a:endParaRPr lang="en-US" sz="1400" dirty="0"/>
          </a:p>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none can contain "Sev-2": the user never said it</a:t>
            </a:r>
            <a:endParaRPr lang="en-US" sz="1400" dirty="0"/>
          </a:p>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answer: the process, but a guessed or missing time</a:t>
            </a:r>
            <a:endParaRPr lang="en-US" sz="1400" dirty="0"/>
          </a:p>
        </p:txBody>
      </p:sp>
      <p:sp>
        <p:nvSpPr>
          <p:cNvPr id="19" name="Shape 16"/>
          <p:cNvSpPr/>
          <p:nvPr/>
        </p:nvSpPr>
        <p:spPr>
          <a:xfrm>
            <a:off x="6217920" y="3657600"/>
            <a:ext cx="5394960" cy="2286000"/>
          </a:xfrm>
          <a:prstGeom prst="roundRect">
            <a:avLst>
              <a:gd name="adj" fmla="val 4800"/>
            </a:avLst>
          </a:prstGeom>
          <a:solidFill>
            <a:schemeClr val="accent6"/>
          </a:solidFill>
          <a:ln w="12700">
            <a:solidFill>
              <a:schemeClr val="accent6"/>
            </a:solidFill>
            <a:prstDash val="solid"/>
          </a:ln>
        </p:spPr>
      </p:sp>
      <p:sp>
        <p:nvSpPr>
          <p:cNvPr id="20" name="Text 17"/>
          <p:cNvSpPr txBox="1"/>
          <p:nvPr/>
        </p:nvSpPr>
        <p:spPr>
          <a:xfrm>
            <a:off x="6446520" y="3794760"/>
            <a:ext cx="49377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Agent</a:t>
            </a:r>
            <a:endParaRPr lang="en-US" sz="1600" dirty="0"/>
          </a:p>
        </p:txBody>
      </p:sp>
      <p:sp>
        <p:nvSpPr>
          <p:cNvPr id="21" name="Text 18"/>
          <p:cNvSpPr txBox="1"/>
          <p:nvPr/>
        </p:nvSpPr>
        <p:spPr>
          <a:xfrm>
            <a:off x="6446520" y="4206240"/>
            <a:ext cx="4937760" cy="164592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assess: "not sufficient, missing: Sev-2 acknowledgement time"</a:t>
            </a:r>
            <a:endParaRPr lang="en-US" sz="1400" dirty="0"/>
          </a:p>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second round uses the term it learned</a:t>
            </a:r>
            <a:endParaRPr lang="en-US" sz="1400" dirty="0"/>
          </a:p>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answer: Sev-2 process + 60 minutes at 11 pm, both cited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Deep dive: nobody checks the chunks or the answer</a:t>
            </a:r>
            <a:endParaRPr lang="en-US" sz="3000" dirty="0"/>
          </a:p>
        </p:txBody>
      </p:sp>
      <p:sp>
        <p:nvSpPr>
          <p:cNvPr id="4" name="Shape 1"/>
          <p:cNvSpPr/>
          <p:nvPr/>
        </p:nvSpPr>
        <p:spPr>
          <a:xfrm>
            <a:off x="548640" y="1417320"/>
            <a:ext cx="5394960" cy="4526280"/>
          </a:xfrm>
          <a:prstGeom prst="roundRect">
            <a:avLst>
              <a:gd name="adj" fmla="val 2424"/>
            </a:avLst>
          </a:prstGeom>
          <a:solidFill>
            <a:schemeClr val="bg2"/>
          </a:solidFill>
          <a:ln w="12700">
            <a:solidFill>
              <a:schemeClr val="bg2"/>
            </a:solidFill>
            <a:prstDash val="solid"/>
          </a:ln>
        </p:spPr>
      </p:sp>
      <p:sp>
        <p:nvSpPr>
          <p:cNvPr id="5" name="Text 2"/>
          <p:cNvSpPr txBox="1"/>
          <p:nvPr/>
        </p:nvSpPr>
        <p:spPr>
          <a:xfrm>
            <a:off x="822960" y="1600200"/>
            <a:ext cx="4846320" cy="45720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Before answering</a:t>
            </a:r>
            <a:endParaRPr lang="en-US" sz="2000" dirty="0"/>
          </a:p>
        </p:txBody>
      </p:sp>
      <p:sp>
        <p:nvSpPr>
          <p:cNvPr id="6" name="Text 3"/>
          <p:cNvSpPr txBox="1"/>
          <p:nvPr/>
        </p:nvSpPr>
        <p:spPr>
          <a:xfrm>
            <a:off x="822960" y="2103120"/>
            <a:ext cx="4846320" cy="6400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Are these chunks relevant? Are they enough?</a:t>
            </a:r>
            <a:endParaRPr lang="en-US" sz="1400" dirty="0"/>
          </a:p>
        </p:txBody>
      </p:sp>
      <p:sp>
        <p:nvSpPr>
          <p:cNvPr id="7" name="Shape 4"/>
          <p:cNvSpPr/>
          <p:nvPr/>
        </p:nvSpPr>
        <p:spPr>
          <a:xfrm>
            <a:off x="822960" y="2834640"/>
            <a:ext cx="4846320" cy="1325880"/>
          </a:xfrm>
          <a:prstGeom prst="roundRect">
            <a:avLst>
              <a:gd name="adj" fmla="val 8276"/>
            </a:avLst>
          </a:prstGeom>
          <a:solidFill>
            <a:srgbClr val="FDECEC"/>
          </a:solidFill>
          <a:ln w="12700">
            <a:solidFill>
              <a:srgbClr val="FDECEC"/>
            </a:solidFill>
            <a:prstDash val="solid"/>
          </a:ln>
        </p:spPr>
      </p:sp>
      <p:sp>
        <p:nvSpPr>
          <p:cNvPr id="8" name="Text 5"/>
          <p:cNvSpPr txBox="1"/>
          <p:nvPr/>
        </p:nvSpPr>
        <p:spPr>
          <a:xfrm>
            <a:off x="1005840" y="2944368"/>
            <a:ext cx="4480560" cy="114300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Lab 1: </a:t>
            </a:r>
            <a:pPr indent="0" marL="0">
              <a:buNone/>
            </a:pPr>
            <a:r>
              <a:rPr lang="en-US" sz="1400" dirty="0">
                <a:solidFill>
                  <a:schemeClr val="tx1"/>
                </a:solidFill>
                <a:latin typeface="Calibri" pitchFamily="34" charset="0"/>
                <a:ea typeface="Calibri" pitchFamily="34" charset="-122"/>
                <a:cs typeface="Calibri" pitchFamily="34" charset="-120"/>
              </a:rPr>
              <a:t>RRF ranks chunks against each other. It never says "none of these is good". 5 weak chunks still go in.</a:t>
            </a:r>
            <a:endParaRPr lang="en-US" sz="1400" dirty="0"/>
          </a:p>
        </p:txBody>
      </p:sp>
      <p:sp>
        <p:nvSpPr>
          <p:cNvPr id="9" name="Shape 6"/>
          <p:cNvSpPr/>
          <p:nvPr/>
        </p:nvSpPr>
        <p:spPr>
          <a:xfrm>
            <a:off x="822960" y="4343400"/>
            <a:ext cx="4846320" cy="1417320"/>
          </a:xfrm>
          <a:prstGeom prst="roundRect">
            <a:avLst>
              <a:gd name="adj" fmla="val 7742"/>
            </a:avLst>
          </a:prstGeom>
          <a:solidFill>
            <a:schemeClr val="accent6"/>
          </a:solidFill>
          <a:ln w="12700">
            <a:solidFill>
              <a:schemeClr val="accent6"/>
            </a:solidFill>
            <a:prstDash val="solid"/>
          </a:ln>
        </p:spPr>
      </p:sp>
      <p:sp>
        <p:nvSpPr>
          <p:cNvPr id="10" name="Text 7"/>
          <p:cNvSpPr txBox="1"/>
          <p:nvPr/>
        </p:nvSpPr>
        <p:spPr>
          <a:xfrm>
            <a:off x="1005840" y="4453128"/>
            <a:ext cx="4480560" cy="12344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Agent: </a:t>
            </a:r>
            <a:pPr indent="0" marL="0">
              <a:buNone/>
            </a:pPr>
            <a:r>
              <a:rPr lang="en-US" sz="1400" dirty="0">
                <a:solidFill>
                  <a:schemeClr val="tx1"/>
                </a:solidFill>
                <a:latin typeface="Calibri" pitchFamily="34" charset="0"/>
                <a:ea typeface="Calibri" pitchFamily="34" charset="-122"/>
                <a:cs typeface="Calibri" pitchFamily="34" charset="-120"/>
              </a:rPr>
              <a:t>assess grades each chunk, keeps the relevant ones, and searches again if something is missing (Corrective RAG).</a:t>
            </a:r>
            <a:endParaRPr lang="en-US" sz="1400" dirty="0"/>
          </a:p>
        </p:txBody>
      </p:sp>
      <p:sp>
        <p:nvSpPr>
          <p:cNvPr id="11" name="Shape 8"/>
          <p:cNvSpPr/>
          <p:nvPr/>
        </p:nvSpPr>
        <p:spPr>
          <a:xfrm>
            <a:off x="6217920" y="1417320"/>
            <a:ext cx="5394960" cy="4526280"/>
          </a:xfrm>
          <a:prstGeom prst="roundRect">
            <a:avLst>
              <a:gd name="adj" fmla="val 2424"/>
            </a:avLst>
          </a:prstGeom>
          <a:solidFill>
            <a:schemeClr val="bg2"/>
          </a:solidFill>
          <a:ln w="12700">
            <a:solidFill>
              <a:schemeClr val="bg2"/>
            </a:solidFill>
            <a:prstDash val="solid"/>
          </a:ln>
        </p:spPr>
      </p:sp>
      <p:sp>
        <p:nvSpPr>
          <p:cNvPr id="12" name="Text 9"/>
          <p:cNvSpPr txBox="1"/>
          <p:nvPr/>
        </p:nvSpPr>
        <p:spPr>
          <a:xfrm>
            <a:off x="6492240" y="1600200"/>
            <a:ext cx="4846320" cy="45720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After answering</a:t>
            </a:r>
            <a:endParaRPr lang="en-US" sz="2000" dirty="0"/>
          </a:p>
        </p:txBody>
      </p:sp>
      <p:sp>
        <p:nvSpPr>
          <p:cNvPr id="13" name="Text 10"/>
          <p:cNvSpPr txBox="1"/>
          <p:nvPr/>
        </p:nvSpPr>
        <p:spPr>
          <a:xfrm>
            <a:off x="6492240" y="2103120"/>
            <a:ext cx="4846320" cy="6400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Is every claim supported? Is every part answered?</a:t>
            </a:r>
            <a:endParaRPr lang="en-US" sz="1400" dirty="0"/>
          </a:p>
        </p:txBody>
      </p:sp>
      <p:sp>
        <p:nvSpPr>
          <p:cNvPr id="14" name="Shape 11"/>
          <p:cNvSpPr/>
          <p:nvPr/>
        </p:nvSpPr>
        <p:spPr>
          <a:xfrm>
            <a:off x="6492240" y="2834640"/>
            <a:ext cx="4846320" cy="1325880"/>
          </a:xfrm>
          <a:prstGeom prst="roundRect">
            <a:avLst>
              <a:gd name="adj" fmla="val 8276"/>
            </a:avLst>
          </a:prstGeom>
          <a:solidFill>
            <a:srgbClr val="FDECEC"/>
          </a:solidFill>
          <a:ln w="12700">
            <a:solidFill>
              <a:srgbClr val="FDECEC"/>
            </a:solidFill>
            <a:prstDash val="solid"/>
          </a:ln>
        </p:spPr>
      </p:sp>
      <p:sp>
        <p:nvSpPr>
          <p:cNvPr id="15" name="Text 12"/>
          <p:cNvSpPr txBox="1"/>
          <p:nvPr/>
        </p:nvSpPr>
        <p:spPr>
          <a:xfrm>
            <a:off x="6675120" y="2944368"/>
            <a:ext cx="4480560" cy="114300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Lab 1: </a:t>
            </a:r>
            <a:pPr indent="0" marL="0">
              <a:buNone/>
            </a:pPr>
            <a:r>
              <a:rPr lang="en-US" sz="1400" dirty="0">
                <a:solidFill>
                  <a:schemeClr val="tx1"/>
                </a:solidFill>
                <a:latin typeface="Calibri" pitchFamily="34" charset="0"/>
                <a:ea typeface="Calibri" pitchFamily="34" charset="-122"/>
                <a:cs typeface="Calibri" pitchFamily="34" charset="-120"/>
              </a:rPr>
              <a:t>Citations are requested but never verified. An unsupported number goes straight to the user.</a:t>
            </a:r>
            <a:endParaRPr lang="en-US" sz="1400" dirty="0"/>
          </a:p>
        </p:txBody>
      </p:sp>
      <p:sp>
        <p:nvSpPr>
          <p:cNvPr id="16" name="Shape 13"/>
          <p:cNvSpPr/>
          <p:nvPr/>
        </p:nvSpPr>
        <p:spPr>
          <a:xfrm>
            <a:off x="6492240" y="4343400"/>
            <a:ext cx="4846320" cy="1417320"/>
          </a:xfrm>
          <a:prstGeom prst="roundRect">
            <a:avLst>
              <a:gd name="adj" fmla="val 7742"/>
            </a:avLst>
          </a:prstGeom>
          <a:solidFill>
            <a:schemeClr val="accent6"/>
          </a:solidFill>
          <a:ln w="12700">
            <a:solidFill>
              <a:schemeClr val="accent6"/>
            </a:solidFill>
            <a:prstDash val="solid"/>
          </a:ln>
        </p:spPr>
      </p:sp>
      <p:sp>
        <p:nvSpPr>
          <p:cNvPr id="17" name="Text 14"/>
          <p:cNvSpPr txBox="1"/>
          <p:nvPr/>
        </p:nvSpPr>
        <p:spPr>
          <a:xfrm>
            <a:off x="6675120" y="4453128"/>
            <a:ext cx="4480560" cy="12344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Agent: </a:t>
            </a:r>
            <a:pPr indent="0" marL="0">
              <a:buNone/>
            </a:pPr>
            <a:r>
              <a:rPr lang="en-US" sz="1400" dirty="0">
                <a:solidFill>
                  <a:schemeClr val="tx1"/>
                </a:solidFill>
                <a:latin typeface="Calibri" pitchFamily="34" charset="0"/>
                <a:ea typeface="Calibri" pitchFamily="34" charset="-122"/>
                <a:cs typeface="Calibri" pitchFamily="34" charset="-120"/>
              </a:rPr>
              <a:t>check verifies grounded + complete. If not, generate rewrites once with the reviewer's feedback (Self-RAG).</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Deep dive: wasted calls, guesses, mental maths, no memory</a:t>
            </a:r>
            <a:endParaRPr lang="en-US" sz="3000" dirty="0"/>
          </a:p>
        </p:txBody>
      </p:sp>
      <p:sp>
        <p:nvSpPr>
          <p:cNvPr id="4" name="Text 1"/>
          <p:cNvSpPr txBox="1"/>
          <p:nvPr/>
        </p:nvSpPr>
        <p:spPr>
          <a:xfrm>
            <a:off x="548640" y="1325880"/>
            <a:ext cx="2286000" cy="32004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Problem</a:t>
            </a:r>
            <a:endParaRPr lang="en-US" sz="1300" dirty="0"/>
          </a:p>
        </p:txBody>
      </p:sp>
      <p:sp>
        <p:nvSpPr>
          <p:cNvPr id="5" name="Text 2"/>
          <p:cNvSpPr txBox="1"/>
          <p:nvPr/>
        </p:nvSpPr>
        <p:spPr>
          <a:xfrm>
            <a:off x="2926080" y="1325880"/>
            <a:ext cx="2926080" cy="32004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Example</a:t>
            </a:r>
            <a:endParaRPr lang="en-US" sz="1300" dirty="0"/>
          </a:p>
        </p:txBody>
      </p:sp>
      <p:sp>
        <p:nvSpPr>
          <p:cNvPr id="6" name="Text 3"/>
          <p:cNvSpPr txBox="1"/>
          <p:nvPr/>
        </p:nvSpPr>
        <p:spPr>
          <a:xfrm>
            <a:off x="5943600" y="1325880"/>
            <a:ext cx="2743200" cy="32004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Lab 1 does</a:t>
            </a:r>
            <a:endParaRPr lang="en-US" sz="1300" dirty="0"/>
          </a:p>
        </p:txBody>
      </p:sp>
      <p:sp>
        <p:nvSpPr>
          <p:cNvPr id="7" name="Text 4"/>
          <p:cNvSpPr txBox="1"/>
          <p:nvPr/>
        </p:nvSpPr>
        <p:spPr>
          <a:xfrm>
            <a:off x="8778240" y="1325880"/>
            <a:ext cx="2834640" cy="32004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Agent does</a:t>
            </a:r>
            <a:endParaRPr lang="en-US" sz="1300" dirty="0"/>
          </a:p>
        </p:txBody>
      </p:sp>
      <p:sp>
        <p:nvSpPr>
          <p:cNvPr id="8" name="Shape 5"/>
          <p:cNvSpPr/>
          <p:nvPr/>
        </p:nvSpPr>
        <p:spPr>
          <a:xfrm>
            <a:off x="548640" y="1737360"/>
            <a:ext cx="11064240" cy="960120"/>
          </a:xfrm>
          <a:prstGeom prst="roundRect">
            <a:avLst>
              <a:gd name="adj" fmla="val 11429"/>
            </a:avLst>
          </a:prstGeom>
          <a:solidFill>
            <a:schemeClr val="bg2"/>
          </a:solidFill>
          <a:ln w="12700">
            <a:solidFill>
              <a:srgbClr val="E2E7EE"/>
            </a:solidFill>
            <a:prstDash val="solid"/>
          </a:ln>
        </p:spPr>
      </p:sp>
      <p:sp>
        <p:nvSpPr>
          <p:cNvPr id="9" name="Text 6"/>
          <p:cNvSpPr txBox="1"/>
          <p:nvPr/>
        </p:nvSpPr>
        <p:spPr>
          <a:xfrm>
            <a:off x="777240" y="1737360"/>
            <a:ext cx="2103120" cy="96012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Always retrieves</a:t>
            </a:r>
            <a:endParaRPr lang="en-US" sz="1500" dirty="0"/>
          </a:p>
        </p:txBody>
      </p:sp>
      <p:sp>
        <p:nvSpPr>
          <p:cNvPr id="10" name="Text 7"/>
          <p:cNvSpPr txBox="1"/>
          <p:nvPr/>
        </p:nvSpPr>
        <p:spPr>
          <a:xfrm>
            <a:off x="2926080" y="1737360"/>
            <a:ext cx="2926080" cy="960120"/>
          </a:xfrm>
          <a:prstGeom prst="rect">
            <a:avLst/>
          </a:prstGeom>
          <a:noFill/>
          <a:ln/>
        </p:spPr>
        <p:txBody>
          <a:bodyPr wrap="square" lIns="0" tIns="0" rIns="0" bIns="0" rtlCol="0" anchor="ctr"/>
          <a:lstStyle/>
          <a:p>
            <a:pPr indent="0" marL="0">
              <a:buNone/>
            </a:pPr>
            <a:r>
              <a:rPr lang="en-US" sz="1350" i="1" dirty="0">
                <a:solidFill>
                  <a:schemeClr val="tx1"/>
                </a:solidFill>
                <a:latin typeface="Calibri" pitchFamily="34" charset="0"/>
                <a:ea typeface="Calibri" pitchFamily="34" charset="-122"/>
                <a:cs typeface="Calibri" pitchFamily="34" charset="-120"/>
              </a:rPr>
              <a:t>"Hi! What can you help me with?"</a:t>
            </a:r>
            <a:endParaRPr lang="en-US" sz="1350" dirty="0"/>
          </a:p>
        </p:txBody>
      </p:sp>
      <p:sp>
        <p:nvSpPr>
          <p:cNvPr id="11" name="Text 8"/>
          <p:cNvSpPr txBox="1"/>
          <p:nvPr/>
        </p:nvSpPr>
        <p:spPr>
          <a:xfrm>
            <a:off x="5943600" y="1737360"/>
            <a:ext cx="2743200" cy="9601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2 LLM + 4 embedding calls for a greeting</a:t>
            </a:r>
            <a:endParaRPr lang="en-US" sz="1350" dirty="0"/>
          </a:p>
        </p:txBody>
      </p:sp>
      <p:sp>
        <p:nvSpPr>
          <p:cNvPr id="12" name="Text 9"/>
          <p:cNvSpPr txBox="1"/>
          <p:nvPr/>
        </p:nvSpPr>
        <p:spPr>
          <a:xfrm>
            <a:off x="8778240" y="1737360"/>
            <a:ext cx="2743200" cy="960120"/>
          </a:xfrm>
          <a:prstGeom prst="rect">
            <a:avLst/>
          </a:prstGeom>
          <a:noFill/>
          <a:ln/>
        </p:spPr>
        <p:txBody>
          <a:bodyPr wrap="square" lIns="0" tIns="0" rIns="0" bIns="0" rtlCol="0" anchor="ctr"/>
          <a:lstStyle/>
          <a:p>
            <a:pPr indent="0" marL="0">
              <a:buNone/>
            </a:pPr>
            <a:r>
              <a:rPr lang="en-US" sz="1350" b="1" dirty="0">
                <a:solidFill>
                  <a:schemeClr val="accent1"/>
                </a:solidFill>
                <a:latin typeface="Calibri" pitchFamily="34" charset="0"/>
                <a:ea typeface="Calibri" pitchFamily="34" charset="-122"/>
                <a:cs typeface="Calibri" pitchFamily="34" charset="-120"/>
              </a:rPr>
              <a:t>route → direct answer, 1 call</a:t>
            </a:r>
            <a:endParaRPr lang="en-US" sz="1350" dirty="0"/>
          </a:p>
        </p:txBody>
      </p:sp>
      <p:sp>
        <p:nvSpPr>
          <p:cNvPr id="13" name="Shape 10"/>
          <p:cNvSpPr/>
          <p:nvPr/>
        </p:nvSpPr>
        <p:spPr>
          <a:xfrm>
            <a:off x="548640" y="2834640"/>
            <a:ext cx="11064240" cy="960120"/>
          </a:xfrm>
          <a:prstGeom prst="roundRect">
            <a:avLst>
              <a:gd name="adj" fmla="val 11429"/>
            </a:avLst>
          </a:prstGeom>
          <a:solidFill>
            <a:schemeClr val="bg1"/>
          </a:solidFill>
          <a:ln w="12700">
            <a:solidFill>
              <a:srgbClr val="E2E7EE"/>
            </a:solidFill>
            <a:prstDash val="solid"/>
          </a:ln>
        </p:spPr>
      </p:sp>
      <p:sp>
        <p:nvSpPr>
          <p:cNvPr id="14" name="Text 11"/>
          <p:cNvSpPr txBox="1"/>
          <p:nvPr/>
        </p:nvSpPr>
        <p:spPr>
          <a:xfrm>
            <a:off x="777240" y="2834640"/>
            <a:ext cx="2103120" cy="96012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Guesses on vague input</a:t>
            </a:r>
            <a:endParaRPr lang="en-US" sz="1500" dirty="0"/>
          </a:p>
        </p:txBody>
      </p:sp>
      <p:sp>
        <p:nvSpPr>
          <p:cNvPr id="15" name="Text 12"/>
          <p:cNvSpPr txBox="1"/>
          <p:nvPr/>
        </p:nvSpPr>
        <p:spPr>
          <a:xfrm>
            <a:off x="2926080" y="2834640"/>
            <a:ext cx="2926080" cy="960120"/>
          </a:xfrm>
          <a:prstGeom prst="rect">
            <a:avLst/>
          </a:prstGeom>
          <a:noFill/>
          <a:ln/>
        </p:spPr>
        <p:txBody>
          <a:bodyPr wrap="square" lIns="0" tIns="0" rIns="0" bIns="0" rtlCol="0" anchor="ctr"/>
          <a:lstStyle/>
          <a:p>
            <a:pPr indent="0" marL="0">
              <a:buNone/>
            </a:pPr>
            <a:r>
              <a:rPr lang="en-US" sz="1350" i="1" dirty="0">
                <a:solidFill>
                  <a:schemeClr val="tx1"/>
                </a:solidFill>
                <a:latin typeface="Calibri" pitchFamily="34" charset="0"/>
                <a:ea typeface="Calibri" pitchFamily="34" charset="-122"/>
                <a:cs typeface="Calibri" pitchFamily="34" charset="-120"/>
              </a:rPr>
              <a:t>"What is the limit?"</a:t>
            </a:r>
            <a:endParaRPr lang="en-US" sz="1350" dirty="0"/>
          </a:p>
        </p:txBody>
      </p:sp>
      <p:sp>
        <p:nvSpPr>
          <p:cNvPr id="16" name="Text 13"/>
          <p:cNvSpPr txBox="1"/>
          <p:nvPr/>
        </p:nvSpPr>
        <p:spPr>
          <a:xfrm>
            <a:off x="5943600" y="2834640"/>
            <a:ext cx="2743200" cy="9601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picks one of 4 limits at random</a:t>
            </a:r>
            <a:endParaRPr lang="en-US" sz="1350" dirty="0"/>
          </a:p>
        </p:txBody>
      </p:sp>
      <p:sp>
        <p:nvSpPr>
          <p:cNvPr id="17" name="Text 14"/>
          <p:cNvSpPr txBox="1"/>
          <p:nvPr/>
        </p:nvSpPr>
        <p:spPr>
          <a:xfrm>
            <a:off x="8778240" y="2834640"/>
            <a:ext cx="2743200" cy="960120"/>
          </a:xfrm>
          <a:prstGeom prst="rect">
            <a:avLst/>
          </a:prstGeom>
          <a:noFill/>
          <a:ln/>
        </p:spPr>
        <p:txBody>
          <a:bodyPr wrap="square" lIns="0" tIns="0" rIns="0" bIns="0" rtlCol="0" anchor="ctr"/>
          <a:lstStyle/>
          <a:p>
            <a:pPr indent="0" marL="0">
              <a:buNone/>
            </a:pPr>
            <a:r>
              <a:rPr lang="en-US" sz="1350" b="1" dirty="0">
                <a:solidFill>
                  <a:schemeClr val="accent1"/>
                </a:solidFill>
                <a:latin typeface="Calibri" pitchFamily="34" charset="0"/>
                <a:ea typeface="Calibri" pitchFamily="34" charset="-122"/>
                <a:cs typeface="Calibri" pitchFamily="34" charset="-120"/>
              </a:rPr>
              <a:t>clarify → asks once, then resumes</a:t>
            </a:r>
            <a:endParaRPr lang="en-US" sz="1350" dirty="0"/>
          </a:p>
        </p:txBody>
      </p:sp>
      <p:sp>
        <p:nvSpPr>
          <p:cNvPr id="18" name="Shape 15"/>
          <p:cNvSpPr/>
          <p:nvPr/>
        </p:nvSpPr>
        <p:spPr>
          <a:xfrm>
            <a:off x="548640" y="3931920"/>
            <a:ext cx="11064240" cy="960120"/>
          </a:xfrm>
          <a:prstGeom prst="roundRect">
            <a:avLst>
              <a:gd name="adj" fmla="val 11429"/>
            </a:avLst>
          </a:prstGeom>
          <a:solidFill>
            <a:schemeClr val="bg2"/>
          </a:solidFill>
          <a:ln w="12700">
            <a:solidFill>
              <a:srgbClr val="E2E7EE"/>
            </a:solidFill>
            <a:prstDash val="solid"/>
          </a:ln>
        </p:spPr>
      </p:sp>
      <p:sp>
        <p:nvSpPr>
          <p:cNvPr id="19" name="Text 16"/>
          <p:cNvSpPr txBox="1"/>
          <p:nvPr/>
        </p:nvSpPr>
        <p:spPr>
          <a:xfrm>
            <a:off x="777240" y="3931920"/>
            <a:ext cx="2103120" cy="9601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Mental maths</a:t>
            </a:r>
            <a:endParaRPr lang="en-US" sz="1500" dirty="0"/>
          </a:p>
        </p:txBody>
      </p:sp>
      <p:sp>
        <p:nvSpPr>
          <p:cNvPr id="20" name="Text 17"/>
          <p:cNvSpPr txBox="1"/>
          <p:nvPr/>
        </p:nvSpPr>
        <p:spPr>
          <a:xfrm>
            <a:off x="2926080" y="3931920"/>
            <a:ext cx="2926080" cy="960120"/>
          </a:xfrm>
          <a:prstGeom prst="rect">
            <a:avLst/>
          </a:prstGeom>
          <a:noFill/>
          <a:ln/>
        </p:spPr>
        <p:txBody>
          <a:bodyPr wrap="square" lIns="0" tIns="0" rIns="0" bIns="0" rtlCol="0" anchor="ctr"/>
          <a:lstStyle/>
          <a:p>
            <a:pPr indent="0" marL="0">
              <a:buNone/>
            </a:pPr>
            <a:r>
              <a:rPr lang="en-US" sz="1350" i="1" dirty="0">
                <a:solidFill>
                  <a:schemeClr val="tx1"/>
                </a:solidFill>
                <a:latin typeface="Calibri" pitchFamily="34" charset="0"/>
                <a:ea typeface="Calibri" pitchFamily="34" charset="-122"/>
                <a:cs typeface="Calibri" pitchFamily="34" charset="-120"/>
              </a:rPr>
              <a:t>"3 days + 3 nights in Pune: max claim?"</a:t>
            </a:r>
            <a:endParaRPr lang="en-US" sz="1350" dirty="0"/>
          </a:p>
        </p:txBody>
      </p:sp>
      <p:sp>
        <p:nvSpPr>
          <p:cNvPr id="21" name="Text 18"/>
          <p:cNvSpPr txBox="1"/>
          <p:nvPr/>
        </p:nvSpPr>
        <p:spPr>
          <a:xfrm>
            <a:off x="5943600" y="3931920"/>
            <a:ext cx="2743200" cy="9601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the LLM adds 6,000 + 22,500 itself</a:t>
            </a:r>
            <a:endParaRPr lang="en-US" sz="1350" dirty="0"/>
          </a:p>
        </p:txBody>
      </p:sp>
      <p:sp>
        <p:nvSpPr>
          <p:cNvPr id="22" name="Text 19"/>
          <p:cNvSpPr txBox="1"/>
          <p:nvPr/>
        </p:nvSpPr>
        <p:spPr>
          <a:xfrm>
            <a:off x="8778240" y="3931920"/>
            <a:ext cx="2743200" cy="960120"/>
          </a:xfrm>
          <a:prstGeom prst="rect">
            <a:avLst/>
          </a:prstGeom>
          <a:noFill/>
          <a:ln/>
        </p:spPr>
        <p:txBody>
          <a:bodyPr wrap="square" lIns="0" tIns="0" rIns="0" bIns="0" rtlCol="0" anchor="ctr"/>
          <a:lstStyle/>
          <a:p>
            <a:pPr indent="0" marL="0">
              <a:buNone/>
            </a:pPr>
            <a:r>
              <a:rPr lang="en-US" sz="1350" b="1" dirty="0">
                <a:solidFill>
                  <a:schemeClr val="accent1"/>
                </a:solidFill>
                <a:latin typeface="Calibri" pitchFamily="34" charset="0"/>
                <a:ea typeface="Calibri" pitchFamily="34" charset="-122"/>
                <a:cs typeface="Calibri" pitchFamily="34" charset="-120"/>
              </a:rPr>
              <a:t>&lt;calc&gt;3*2000 + 3*7500&lt;/calc&gt; → 28500</a:t>
            </a:r>
            <a:endParaRPr lang="en-US" sz="1350" dirty="0"/>
          </a:p>
        </p:txBody>
      </p:sp>
      <p:sp>
        <p:nvSpPr>
          <p:cNvPr id="23" name="Shape 20"/>
          <p:cNvSpPr/>
          <p:nvPr/>
        </p:nvSpPr>
        <p:spPr>
          <a:xfrm>
            <a:off x="548640" y="5029200"/>
            <a:ext cx="11064240" cy="960120"/>
          </a:xfrm>
          <a:prstGeom prst="roundRect">
            <a:avLst>
              <a:gd name="adj" fmla="val 11429"/>
            </a:avLst>
          </a:prstGeom>
          <a:solidFill>
            <a:schemeClr val="bg1"/>
          </a:solidFill>
          <a:ln w="12700">
            <a:solidFill>
              <a:srgbClr val="E2E7EE"/>
            </a:solidFill>
            <a:prstDash val="solid"/>
          </a:ln>
        </p:spPr>
      </p:sp>
      <p:sp>
        <p:nvSpPr>
          <p:cNvPr id="24" name="Text 21"/>
          <p:cNvSpPr txBox="1"/>
          <p:nvPr/>
        </p:nvSpPr>
        <p:spPr>
          <a:xfrm>
            <a:off x="777240" y="5029200"/>
            <a:ext cx="2103120" cy="960120"/>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No memory</a:t>
            </a:r>
            <a:endParaRPr lang="en-US" sz="1500" dirty="0"/>
          </a:p>
        </p:txBody>
      </p:sp>
      <p:sp>
        <p:nvSpPr>
          <p:cNvPr id="25" name="Text 22"/>
          <p:cNvSpPr txBox="1"/>
          <p:nvPr/>
        </p:nvSpPr>
        <p:spPr>
          <a:xfrm>
            <a:off x="2926080" y="5029200"/>
            <a:ext cx="2926080" cy="960120"/>
          </a:xfrm>
          <a:prstGeom prst="rect">
            <a:avLst/>
          </a:prstGeom>
          <a:noFill/>
          <a:ln/>
        </p:spPr>
        <p:txBody>
          <a:bodyPr wrap="square" lIns="0" tIns="0" rIns="0" bIns="0" rtlCol="0" anchor="ctr"/>
          <a:lstStyle/>
          <a:p>
            <a:pPr indent="0" marL="0">
              <a:buNone/>
            </a:pPr>
            <a:r>
              <a:rPr lang="en-US" sz="1350" i="1" dirty="0">
                <a:solidFill>
                  <a:schemeClr val="tx1"/>
                </a:solidFill>
                <a:latin typeface="Calibri" pitchFamily="34" charset="0"/>
                <a:ea typeface="Calibri" pitchFamily="34" charset="-122"/>
                <a:cs typeface="Calibri" pitchFamily="34" charset="-120"/>
              </a:rPr>
              <a:t>"Can they be carried forward?"</a:t>
            </a:r>
            <a:endParaRPr lang="en-US" sz="1350" dirty="0"/>
          </a:p>
        </p:txBody>
      </p:sp>
      <p:sp>
        <p:nvSpPr>
          <p:cNvPr id="26" name="Text 23"/>
          <p:cNvSpPr txBox="1"/>
          <p:nvPr/>
        </p:nvSpPr>
        <p:spPr>
          <a:xfrm>
            <a:off x="5943600" y="5029200"/>
            <a:ext cx="2743200" cy="9601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'they' = ? searches the pronoun</a:t>
            </a:r>
            <a:endParaRPr lang="en-US" sz="1350" dirty="0"/>
          </a:p>
        </p:txBody>
      </p:sp>
      <p:sp>
        <p:nvSpPr>
          <p:cNvPr id="27" name="Text 24"/>
          <p:cNvSpPr txBox="1"/>
          <p:nvPr/>
        </p:nvSpPr>
        <p:spPr>
          <a:xfrm>
            <a:off x="8778240" y="5029200"/>
            <a:ext cx="2743200" cy="960120"/>
          </a:xfrm>
          <a:prstGeom prst="rect">
            <a:avLst/>
          </a:prstGeom>
          <a:noFill/>
          <a:ln/>
        </p:spPr>
        <p:txBody>
          <a:bodyPr wrap="square" lIns="0" tIns="0" rIns="0" bIns="0" rtlCol="0" anchor="ctr"/>
          <a:lstStyle/>
          <a:p>
            <a:pPr indent="0" marL="0">
              <a:buNone/>
            </a:pPr>
            <a:r>
              <a:rPr lang="en-US" sz="1350" b="1" dirty="0">
                <a:solidFill>
                  <a:schemeClr val="accent1"/>
                </a:solidFill>
                <a:latin typeface="Calibri" pitchFamily="34" charset="0"/>
                <a:ea typeface="Calibri" pitchFamily="34" charset="-122"/>
                <a:cs typeface="Calibri" pitchFamily="34" charset="-120"/>
              </a:rPr>
              <a:t>contextualize → standalone question</a:t>
            </a:r>
            <a:endParaRPr lang="en-US" sz="135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makes RAG "agentic": the LLM controls the flow</a:t>
            </a:r>
            <a:endParaRPr lang="en-US" sz="3000" dirty="0"/>
          </a:p>
        </p:txBody>
      </p:sp>
      <p:sp>
        <p:nvSpPr>
          <p:cNvPr id="4" name="Shape 1"/>
          <p:cNvSpPr/>
          <p:nvPr/>
        </p:nvSpPr>
        <p:spPr>
          <a:xfrm>
            <a:off x="548640" y="1417320"/>
            <a:ext cx="5669280" cy="4526280"/>
          </a:xfrm>
          <a:prstGeom prst="roundRect">
            <a:avLst>
              <a:gd name="adj" fmla="val 2424"/>
            </a:avLst>
          </a:prstGeom>
          <a:solidFill>
            <a:schemeClr val="bg2"/>
          </a:solidFill>
          <a:ln w="12700">
            <a:solidFill>
              <a:schemeClr val="bg2"/>
            </a:solidFill>
            <a:prstDash val="solid"/>
          </a:ln>
        </p:spPr>
      </p:sp>
      <p:sp>
        <p:nvSpPr>
          <p:cNvPr id="5" name="Text 2"/>
          <p:cNvSpPr txBox="1"/>
          <p:nvPr/>
        </p:nvSpPr>
        <p:spPr>
          <a:xfrm>
            <a:off x="822960" y="1600200"/>
            <a:ext cx="5120640" cy="457200"/>
          </a:xfrm>
          <a:prstGeom prst="rect">
            <a:avLst/>
          </a:prstGeom>
          <a:noFill/>
          <a:ln/>
        </p:spPr>
        <p:txBody>
          <a:bodyPr wrap="square" lIns="0" tIns="0" rIns="0" bIns="0" rtlCol="0" anchor="t"/>
          <a:lstStyle/>
          <a:p>
            <a:pPr indent="0" marL="0">
              <a:buNone/>
            </a:pPr>
            <a:r>
              <a:rPr lang="en-US" sz="1900" b="1" dirty="0">
                <a:solidFill>
                  <a:schemeClr val="accent1"/>
                </a:solidFill>
                <a:latin typeface="Calibri" pitchFamily="34" charset="0"/>
                <a:ea typeface="Calibri" pitchFamily="34" charset="-122"/>
                <a:cs typeface="Calibri" pitchFamily="34" charset="-120"/>
              </a:rPr>
              <a:t>The LLM decides five things</a:t>
            </a:r>
            <a:endParaRPr lang="en-US" sz="1900" dirty="0"/>
          </a:p>
        </p:txBody>
      </p:sp>
      <p:sp>
        <p:nvSpPr>
          <p:cNvPr id="6" name="Shape 3"/>
          <p:cNvSpPr/>
          <p:nvPr/>
        </p:nvSpPr>
        <p:spPr>
          <a:xfrm>
            <a:off x="822960" y="2194560"/>
            <a:ext cx="502920" cy="502920"/>
          </a:xfrm>
          <a:prstGeom prst="ellipse">
            <a:avLst/>
          </a:prstGeom>
          <a:solidFill>
            <a:schemeClr val="accent1"/>
          </a:solidFill>
          <a:ln w="12700">
            <a:solidFill>
              <a:schemeClr val="accent1"/>
            </a:solidFill>
            <a:prstDash val="solid"/>
          </a:ln>
        </p:spPr>
      </p:sp>
      <p:sp>
        <p:nvSpPr>
          <p:cNvPr id="7" name="Text 4"/>
          <p:cNvSpPr txBox="1"/>
          <p:nvPr/>
        </p:nvSpPr>
        <p:spPr>
          <a:xfrm>
            <a:off x="822960" y="21945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508760" y="2194560"/>
            <a:ext cx="1417320" cy="5029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Whether</a:t>
            </a:r>
            <a:endParaRPr lang="en-US" sz="1600" dirty="0"/>
          </a:p>
        </p:txBody>
      </p:sp>
      <p:sp>
        <p:nvSpPr>
          <p:cNvPr id="9" name="Text 6"/>
          <p:cNvSpPr txBox="1"/>
          <p:nvPr/>
        </p:nvSpPr>
        <p:spPr>
          <a:xfrm>
            <a:off x="2926080" y="2194560"/>
            <a:ext cx="1965960" cy="5029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to retrieve at all</a:t>
            </a:r>
            <a:endParaRPr lang="en-US" sz="1350" dirty="0"/>
          </a:p>
        </p:txBody>
      </p:sp>
      <p:sp>
        <p:nvSpPr>
          <p:cNvPr id="10" name="Text 7"/>
          <p:cNvSpPr txBox="1"/>
          <p:nvPr/>
        </p:nvSpPr>
        <p:spPr>
          <a:xfrm>
            <a:off x="5029200" y="2194560"/>
            <a:ext cx="1097280" cy="502920"/>
          </a:xfrm>
          <a:prstGeom prst="rect">
            <a:avLst/>
          </a:prstGeom>
          <a:noFill/>
          <a:ln/>
        </p:spPr>
        <p:txBody>
          <a:bodyPr wrap="square" lIns="0" tIns="0" rIns="0" bIns="0" rtlCol="0" anchor="ctr"/>
          <a:lstStyle/>
          <a:p>
            <a:pPr indent="0" marL="0">
              <a:buNone/>
            </a:pPr>
            <a:r>
              <a:rPr lang="en-US" sz="1250" dirty="0">
                <a:solidFill>
                  <a:schemeClr val="accent2"/>
                </a:solidFill>
                <a:latin typeface="Consolas" pitchFamily="34" charset="0"/>
                <a:ea typeface="Consolas" pitchFamily="34" charset="-122"/>
                <a:cs typeface="Consolas" pitchFamily="34" charset="-120"/>
              </a:rPr>
              <a:t>route</a:t>
            </a:r>
            <a:endParaRPr lang="en-US" sz="1250" dirty="0"/>
          </a:p>
        </p:txBody>
      </p:sp>
      <p:sp>
        <p:nvSpPr>
          <p:cNvPr id="11" name="Shape 8"/>
          <p:cNvSpPr/>
          <p:nvPr/>
        </p:nvSpPr>
        <p:spPr>
          <a:xfrm>
            <a:off x="822960" y="2926080"/>
            <a:ext cx="502920" cy="502920"/>
          </a:xfrm>
          <a:prstGeom prst="ellipse">
            <a:avLst/>
          </a:prstGeom>
          <a:solidFill>
            <a:schemeClr val="accent1"/>
          </a:solidFill>
          <a:ln w="12700">
            <a:solidFill>
              <a:schemeClr val="accent1"/>
            </a:solidFill>
            <a:prstDash val="solid"/>
          </a:ln>
        </p:spPr>
      </p:sp>
      <p:sp>
        <p:nvSpPr>
          <p:cNvPr id="12" name="Text 9"/>
          <p:cNvSpPr txBox="1"/>
          <p:nvPr/>
        </p:nvSpPr>
        <p:spPr>
          <a:xfrm>
            <a:off x="822960" y="29260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1508760" y="2926080"/>
            <a:ext cx="1417320" cy="5029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What &amp; how</a:t>
            </a:r>
            <a:endParaRPr lang="en-US" sz="1600" dirty="0"/>
          </a:p>
        </p:txBody>
      </p:sp>
      <p:sp>
        <p:nvSpPr>
          <p:cNvPr id="14" name="Text 11"/>
          <p:cNvSpPr txBox="1"/>
          <p:nvPr/>
        </p:nvSpPr>
        <p:spPr>
          <a:xfrm>
            <a:off x="2926080" y="2926080"/>
            <a:ext cx="1965960" cy="5029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sub-questions + tool</a:t>
            </a:r>
            <a:endParaRPr lang="en-US" sz="1350" dirty="0"/>
          </a:p>
        </p:txBody>
      </p:sp>
      <p:sp>
        <p:nvSpPr>
          <p:cNvPr id="15" name="Text 12"/>
          <p:cNvSpPr txBox="1"/>
          <p:nvPr/>
        </p:nvSpPr>
        <p:spPr>
          <a:xfrm>
            <a:off x="5029200" y="2926080"/>
            <a:ext cx="1097280" cy="502920"/>
          </a:xfrm>
          <a:prstGeom prst="rect">
            <a:avLst/>
          </a:prstGeom>
          <a:noFill/>
          <a:ln/>
        </p:spPr>
        <p:txBody>
          <a:bodyPr wrap="square" lIns="0" tIns="0" rIns="0" bIns="0" rtlCol="0" anchor="ctr"/>
          <a:lstStyle/>
          <a:p>
            <a:pPr indent="0" marL="0">
              <a:buNone/>
            </a:pPr>
            <a:r>
              <a:rPr lang="en-US" sz="1250" dirty="0">
                <a:solidFill>
                  <a:schemeClr val="accent2"/>
                </a:solidFill>
                <a:latin typeface="Consolas" pitchFamily="34" charset="0"/>
                <a:ea typeface="Consolas" pitchFamily="34" charset="-122"/>
                <a:cs typeface="Consolas" pitchFamily="34" charset="-120"/>
              </a:rPr>
              <a:t>plan</a:t>
            </a:r>
            <a:endParaRPr lang="en-US" sz="1250" dirty="0"/>
          </a:p>
        </p:txBody>
      </p:sp>
      <p:sp>
        <p:nvSpPr>
          <p:cNvPr id="16" name="Shape 13"/>
          <p:cNvSpPr/>
          <p:nvPr/>
        </p:nvSpPr>
        <p:spPr>
          <a:xfrm>
            <a:off x="822960" y="3657600"/>
            <a:ext cx="502920" cy="502920"/>
          </a:xfrm>
          <a:prstGeom prst="ellipse">
            <a:avLst/>
          </a:prstGeom>
          <a:solidFill>
            <a:schemeClr val="accent1"/>
          </a:solidFill>
          <a:ln w="12700">
            <a:solidFill>
              <a:schemeClr val="accent1"/>
            </a:solidFill>
            <a:prstDash val="solid"/>
          </a:ln>
        </p:spPr>
      </p:sp>
      <p:sp>
        <p:nvSpPr>
          <p:cNvPr id="17" name="Text 14"/>
          <p:cNvSpPr txBox="1"/>
          <p:nvPr/>
        </p:nvSpPr>
        <p:spPr>
          <a:xfrm>
            <a:off x="822960" y="36576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508760" y="3657600"/>
            <a:ext cx="1417320" cy="5029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Enough?</a:t>
            </a:r>
            <a:endParaRPr lang="en-US" sz="1600" dirty="0"/>
          </a:p>
        </p:txBody>
      </p:sp>
      <p:sp>
        <p:nvSpPr>
          <p:cNvPr id="19" name="Text 16"/>
          <p:cNvSpPr txBox="1"/>
          <p:nvPr/>
        </p:nvSpPr>
        <p:spPr>
          <a:xfrm>
            <a:off x="2926080" y="3657600"/>
            <a:ext cx="1965960" cy="5029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grade, search again</a:t>
            </a:r>
            <a:endParaRPr lang="en-US" sz="1350" dirty="0"/>
          </a:p>
        </p:txBody>
      </p:sp>
      <p:sp>
        <p:nvSpPr>
          <p:cNvPr id="20" name="Text 17"/>
          <p:cNvSpPr txBox="1"/>
          <p:nvPr/>
        </p:nvSpPr>
        <p:spPr>
          <a:xfrm>
            <a:off x="5029200" y="3657600"/>
            <a:ext cx="1097280" cy="502920"/>
          </a:xfrm>
          <a:prstGeom prst="rect">
            <a:avLst/>
          </a:prstGeom>
          <a:noFill/>
          <a:ln/>
        </p:spPr>
        <p:txBody>
          <a:bodyPr wrap="square" lIns="0" tIns="0" rIns="0" bIns="0" rtlCol="0" anchor="ctr"/>
          <a:lstStyle/>
          <a:p>
            <a:pPr indent="0" marL="0">
              <a:buNone/>
            </a:pPr>
            <a:r>
              <a:rPr lang="en-US" sz="1250" dirty="0">
                <a:solidFill>
                  <a:schemeClr val="accent2"/>
                </a:solidFill>
                <a:latin typeface="Consolas" pitchFamily="34" charset="0"/>
                <a:ea typeface="Consolas" pitchFamily="34" charset="-122"/>
                <a:cs typeface="Consolas" pitchFamily="34" charset="-120"/>
              </a:rPr>
              <a:t>assess</a:t>
            </a:r>
            <a:endParaRPr lang="en-US" sz="1250" dirty="0"/>
          </a:p>
        </p:txBody>
      </p:sp>
      <p:sp>
        <p:nvSpPr>
          <p:cNvPr id="21" name="Shape 18"/>
          <p:cNvSpPr/>
          <p:nvPr/>
        </p:nvSpPr>
        <p:spPr>
          <a:xfrm>
            <a:off x="822960" y="4389120"/>
            <a:ext cx="502920" cy="502920"/>
          </a:xfrm>
          <a:prstGeom prst="ellipse">
            <a:avLst/>
          </a:prstGeom>
          <a:solidFill>
            <a:schemeClr val="accent1"/>
          </a:solidFill>
          <a:ln w="12700">
            <a:solidFill>
              <a:schemeClr val="accent1"/>
            </a:solidFill>
            <a:prstDash val="solid"/>
          </a:ln>
        </p:spPr>
      </p:sp>
      <p:sp>
        <p:nvSpPr>
          <p:cNvPr id="22" name="Text 19"/>
          <p:cNvSpPr txBox="1"/>
          <p:nvPr/>
        </p:nvSpPr>
        <p:spPr>
          <a:xfrm>
            <a:off x="822960" y="43891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1508760" y="4389120"/>
            <a:ext cx="1417320" cy="5029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Good?</a:t>
            </a:r>
            <a:endParaRPr lang="en-US" sz="1600" dirty="0"/>
          </a:p>
        </p:txBody>
      </p:sp>
      <p:sp>
        <p:nvSpPr>
          <p:cNvPr id="24" name="Text 21"/>
          <p:cNvSpPr txBox="1"/>
          <p:nvPr/>
        </p:nvSpPr>
        <p:spPr>
          <a:xfrm>
            <a:off x="2926080" y="4389120"/>
            <a:ext cx="1965960" cy="5029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answer grounded?</a:t>
            </a:r>
            <a:endParaRPr lang="en-US" sz="1350" dirty="0"/>
          </a:p>
        </p:txBody>
      </p:sp>
      <p:sp>
        <p:nvSpPr>
          <p:cNvPr id="25" name="Text 22"/>
          <p:cNvSpPr txBox="1"/>
          <p:nvPr/>
        </p:nvSpPr>
        <p:spPr>
          <a:xfrm>
            <a:off x="5029200" y="4389120"/>
            <a:ext cx="1097280" cy="502920"/>
          </a:xfrm>
          <a:prstGeom prst="rect">
            <a:avLst/>
          </a:prstGeom>
          <a:noFill/>
          <a:ln/>
        </p:spPr>
        <p:txBody>
          <a:bodyPr wrap="square" lIns="0" tIns="0" rIns="0" bIns="0" rtlCol="0" anchor="ctr"/>
          <a:lstStyle/>
          <a:p>
            <a:pPr indent="0" marL="0">
              <a:buNone/>
            </a:pPr>
            <a:r>
              <a:rPr lang="en-US" sz="1250" dirty="0">
                <a:solidFill>
                  <a:schemeClr val="accent2"/>
                </a:solidFill>
                <a:latin typeface="Consolas" pitchFamily="34" charset="0"/>
                <a:ea typeface="Consolas" pitchFamily="34" charset="-122"/>
                <a:cs typeface="Consolas" pitchFamily="34" charset="-120"/>
              </a:rPr>
              <a:t>check</a:t>
            </a:r>
            <a:endParaRPr lang="en-US" sz="1250" dirty="0"/>
          </a:p>
        </p:txBody>
      </p:sp>
      <p:sp>
        <p:nvSpPr>
          <p:cNvPr id="26" name="Shape 23"/>
          <p:cNvSpPr/>
          <p:nvPr/>
        </p:nvSpPr>
        <p:spPr>
          <a:xfrm>
            <a:off x="822960" y="5120640"/>
            <a:ext cx="502920" cy="502920"/>
          </a:xfrm>
          <a:prstGeom prst="ellipse">
            <a:avLst/>
          </a:prstGeom>
          <a:solidFill>
            <a:schemeClr val="accent1"/>
          </a:solidFill>
          <a:ln w="12700">
            <a:solidFill>
              <a:schemeClr val="accent1"/>
            </a:solidFill>
            <a:prstDash val="solid"/>
          </a:ln>
        </p:spPr>
      </p:sp>
      <p:sp>
        <p:nvSpPr>
          <p:cNvPr id="27" name="Text 24"/>
          <p:cNvSpPr txBox="1"/>
          <p:nvPr/>
        </p:nvSpPr>
        <p:spPr>
          <a:xfrm>
            <a:off x="822960" y="5120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508760" y="5120640"/>
            <a:ext cx="1417320" cy="5029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Ask?</a:t>
            </a:r>
            <a:endParaRPr lang="en-US" sz="1600" dirty="0"/>
          </a:p>
        </p:txBody>
      </p:sp>
      <p:sp>
        <p:nvSpPr>
          <p:cNvPr id="29" name="Text 26"/>
          <p:cNvSpPr txBox="1"/>
          <p:nvPr/>
        </p:nvSpPr>
        <p:spPr>
          <a:xfrm>
            <a:off x="2926080" y="5120640"/>
            <a:ext cx="1965960" cy="502920"/>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pause for the human</a:t>
            </a:r>
            <a:endParaRPr lang="en-US" sz="1350" dirty="0"/>
          </a:p>
        </p:txBody>
      </p:sp>
      <p:sp>
        <p:nvSpPr>
          <p:cNvPr id="30" name="Text 27"/>
          <p:cNvSpPr txBox="1"/>
          <p:nvPr/>
        </p:nvSpPr>
        <p:spPr>
          <a:xfrm>
            <a:off x="5029200" y="5120640"/>
            <a:ext cx="1097280" cy="502920"/>
          </a:xfrm>
          <a:prstGeom prst="rect">
            <a:avLst/>
          </a:prstGeom>
          <a:noFill/>
          <a:ln/>
        </p:spPr>
        <p:txBody>
          <a:bodyPr wrap="square" lIns="0" tIns="0" rIns="0" bIns="0" rtlCol="0" anchor="ctr"/>
          <a:lstStyle/>
          <a:p>
            <a:pPr indent="0" marL="0">
              <a:buNone/>
            </a:pPr>
            <a:r>
              <a:rPr lang="en-US" sz="1250" dirty="0">
                <a:solidFill>
                  <a:schemeClr val="accent2"/>
                </a:solidFill>
                <a:latin typeface="Consolas" pitchFamily="34" charset="0"/>
                <a:ea typeface="Consolas" pitchFamily="34" charset="-122"/>
                <a:cs typeface="Consolas" pitchFamily="34" charset="-120"/>
              </a:rPr>
              <a:t>clarify</a:t>
            </a:r>
            <a:endParaRPr lang="en-US" sz="1250" dirty="0"/>
          </a:p>
        </p:txBody>
      </p:sp>
      <p:sp>
        <p:nvSpPr>
          <p:cNvPr id="31" name="Text 28"/>
          <p:cNvSpPr txBox="1"/>
          <p:nvPr/>
        </p:nvSpPr>
        <p:spPr>
          <a:xfrm>
            <a:off x="6583680" y="1463040"/>
            <a:ext cx="5029200" cy="36576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More autonomy →</a:t>
            </a:r>
            <a:endParaRPr lang="en-US" sz="1400" dirty="0"/>
          </a:p>
        </p:txBody>
      </p:sp>
      <p:sp>
        <p:nvSpPr>
          <p:cNvPr id="32" name="Shape 29"/>
          <p:cNvSpPr/>
          <p:nvPr/>
        </p:nvSpPr>
        <p:spPr>
          <a:xfrm>
            <a:off x="6583680" y="1920240"/>
            <a:ext cx="5029200" cy="841248"/>
          </a:xfrm>
          <a:prstGeom prst="roundRect">
            <a:avLst>
              <a:gd name="adj" fmla="val 13043"/>
            </a:avLst>
          </a:prstGeom>
          <a:solidFill>
            <a:schemeClr val="bg2"/>
          </a:solidFill>
          <a:ln w="19050">
            <a:solidFill>
              <a:schemeClr val="bg2"/>
            </a:solidFill>
            <a:prstDash val="solid"/>
          </a:ln>
        </p:spPr>
      </p:sp>
      <p:sp>
        <p:nvSpPr>
          <p:cNvPr id="33" name="Text 30"/>
          <p:cNvSpPr txBox="1"/>
          <p:nvPr/>
        </p:nvSpPr>
        <p:spPr>
          <a:xfrm>
            <a:off x="6812280" y="1920240"/>
            <a:ext cx="1737360" cy="84124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Chain</a:t>
            </a:r>
            <a:endParaRPr lang="en-US" sz="1600" dirty="0"/>
          </a:p>
        </p:txBody>
      </p:sp>
      <p:sp>
        <p:nvSpPr>
          <p:cNvPr id="34" name="Text 31"/>
          <p:cNvSpPr txBox="1"/>
          <p:nvPr/>
        </p:nvSpPr>
        <p:spPr>
          <a:xfrm>
            <a:off x="8549640" y="1920240"/>
            <a:ext cx="2926080" cy="841248"/>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Lab 1: fixed steps</a:t>
            </a:r>
            <a:endParaRPr lang="en-US" sz="1350" dirty="0"/>
          </a:p>
        </p:txBody>
      </p:sp>
      <p:sp>
        <p:nvSpPr>
          <p:cNvPr id="35" name="Shape 32"/>
          <p:cNvSpPr/>
          <p:nvPr/>
        </p:nvSpPr>
        <p:spPr>
          <a:xfrm>
            <a:off x="6583680" y="2926080"/>
            <a:ext cx="5029200" cy="841248"/>
          </a:xfrm>
          <a:prstGeom prst="roundRect">
            <a:avLst>
              <a:gd name="adj" fmla="val 13043"/>
            </a:avLst>
          </a:prstGeom>
          <a:solidFill>
            <a:schemeClr val="bg2"/>
          </a:solidFill>
          <a:ln w="19050">
            <a:solidFill>
              <a:schemeClr val="bg2"/>
            </a:solidFill>
            <a:prstDash val="solid"/>
          </a:ln>
        </p:spPr>
      </p:sp>
      <p:sp>
        <p:nvSpPr>
          <p:cNvPr id="36" name="Text 33"/>
          <p:cNvSpPr txBox="1"/>
          <p:nvPr/>
        </p:nvSpPr>
        <p:spPr>
          <a:xfrm>
            <a:off x="6812280" y="2926080"/>
            <a:ext cx="1737360" cy="84124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Router</a:t>
            </a:r>
            <a:endParaRPr lang="en-US" sz="1600" dirty="0"/>
          </a:p>
        </p:txBody>
      </p:sp>
      <p:sp>
        <p:nvSpPr>
          <p:cNvPr id="37" name="Text 34"/>
          <p:cNvSpPr txBox="1"/>
          <p:nvPr/>
        </p:nvSpPr>
        <p:spPr>
          <a:xfrm>
            <a:off x="8549640" y="2926080"/>
            <a:ext cx="2926080" cy="841248"/>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one decision, then a fixed path</a:t>
            </a:r>
            <a:endParaRPr lang="en-US" sz="1350" dirty="0"/>
          </a:p>
        </p:txBody>
      </p:sp>
      <p:sp>
        <p:nvSpPr>
          <p:cNvPr id="38" name="Shape 35"/>
          <p:cNvSpPr/>
          <p:nvPr/>
        </p:nvSpPr>
        <p:spPr>
          <a:xfrm>
            <a:off x="6583680" y="3931920"/>
            <a:ext cx="5029200" cy="841248"/>
          </a:xfrm>
          <a:prstGeom prst="roundRect">
            <a:avLst>
              <a:gd name="adj" fmla="val 13043"/>
            </a:avLst>
          </a:prstGeom>
          <a:solidFill>
            <a:schemeClr val="accent6"/>
          </a:solidFill>
          <a:ln w="19050">
            <a:solidFill>
              <a:srgbClr val="0F766E"/>
            </a:solidFill>
            <a:prstDash val="solid"/>
          </a:ln>
        </p:spPr>
      </p:sp>
      <p:sp>
        <p:nvSpPr>
          <p:cNvPr id="39" name="Text 36"/>
          <p:cNvSpPr txBox="1"/>
          <p:nvPr/>
        </p:nvSpPr>
        <p:spPr>
          <a:xfrm>
            <a:off x="6812280" y="3931920"/>
            <a:ext cx="1737360" cy="841248"/>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Our agent</a:t>
            </a:r>
            <a:endParaRPr lang="en-US" sz="1600" dirty="0"/>
          </a:p>
        </p:txBody>
      </p:sp>
      <p:sp>
        <p:nvSpPr>
          <p:cNvPr id="40" name="Text 37"/>
          <p:cNvSpPr txBox="1"/>
          <p:nvPr/>
        </p:nvSpPr>
        <p:spPr>
          <a:xfrm>
            <a:off x="8549640" y="3931920"/>
            <a:ext cx="2926080" cy="841248"/>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router + planner + 2 bounded loops + tools</a:t>
            </a:r>
            <a:endParaRPr lang="en-US" sz="1350" dirty="0"/>
          </a:p>
        </p:txBody>
      </p:sp>
      <p:sp>
        <p:nvSpPr>
          <p:cNvPr id="41" name="Shape 38"/>
          <p:cNvSpPr/>
          <p:nvPr/>
        </p:nvSpPr>
        <p:spPr>
          <a:xfrm>
            <a:off x="6583680" y="4937760"/>
            <a:ext cx="5029200" cy="841248"/>
          </a:xfrm>
          <a:prstGeom prst="roundRect">
            <a:avLst>
              <a:gd name="adj" fmla="val 13043"/>
            </a:avLst>
          </a:prstGeom>
          <a:solidFill>
            <a:schemeClr val="bg2"/>
          </a:solidFill>
          <a:ln w="19050">
            <a:solidFill>
              <a:schemeClr val="bg2"/>
            </a:solidFill>
            <a:prstDash val="solid"/>
          </a:ln>
        </p:spPr>
      </p:sp>
      <p:sp>
        <p:nvSpPr>
          <p:cNvPr id="42" name="Text 39"/>
          <p:cNvSpPr txBox="1"/>
          <p:nvPr/>
        </p:nvSpPr>
        <p:spPr>
          <a:xfrm>
            <a:off x="6812280" y="4937760"/>
            <a:ext cx="1737360" cy="841248"/>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ReAct agent</a:t>
            </a:r>
            <a:endParaRPr lang="en-US" sz="1600" dirty="0"/>
          </a:p>
        </p:txBody>
      </p:sp>
      <p:sp>
        <p:nvSpPr>
          <p:cNvPr id="43" name="Text 40"/>
          <p:cNvSpPr txBox="1"/>
          <p:nvPr/>
        </p:nvSpPr>
        <p:spPr>
          <a:xfrm>
            <a:off x="8549640" y="4937760"/>
            <a:ext cx="2926080" cy="841248"/>
          </a:xfrm>
          <a:prstGeom prst="rect">
            <a:avLst/>
          </a:prstGeom>
          <a:noFill/>
          <a:ln/>
        </p:spPr>
        <p:txBody>
          <a:bodyPr wrap="square" lIns="0" tIns="0" rIns="0" bIns="0" rtlCol="0" anchor="ctr"/>
          <a:lstStyle/>
          <a:p>
            <a:pPr indent="0" marL="0">
              <a:buNone/>
            </a:pPr>
            <a:r>
              <a:rPr lang="en-US" sz="1350" dirty="0">
                <a:solidFill>
                  <a:schemeClr val="tx1"/>
                </a:solidFill>
                <a:latin typeface="Calibri" pitchFamily="34" charset="0"/>
                <a:ea typeface="Calibri" pitchFamily="34" charset="-122"/>
                <a:cs typeface="Calibri" pitchFamily="34" charset="-120"/>
              </a:rPr>
              <a:t>LLM picks every next step and tool</a:t>
            </a:r>
            <a:endParaRPr lang="en-US" sz="1350" dirty="0"/>
          </a:p>
        </p:txBody>
      </p:sp>
      <p:sp>
        <p:nvSpPr>
          <p:cNvPr id="44" name="Text 41"/>
          <p:cNvSpPr txBox="1"/>
          <p:nvPr/>
        </p:nvSpPr>
        <p:spPr>
          <a:xfrm>
            <a:off x="6583680" y="5989320"/>
            <a:ext cx="5029200" cy="320040"/>
          </a:xfrm>
          <a:prstGeom prst="rect">
            <a:avLst/>
          </a:prstGeom>
          <a:noFill/>
          <a:ln/>
        </p:spPr>
        <p:txBody>
          <a:bodyPr wrap="square" lIns="0" tIns="0" rIns="0" bIns="0" rtlCol="0" anchor="t"/>
          <a:lstStyle/>
          <a:p>
            <a:pPr algn="ctr" indent="0" marL="0">
              <a:buNone/>
            </a:pPr>
            <a:r>
              <a:rPr lang="en-US" sz="1200" i="1" dirty="0">
                <a:solidFill>
                  <a:schemeClr val="accent3"/>
                </a:solidFill>
                <a:latin typeface="Calibri" pitchFamily="34" charset="0"/>
                <a:ea typeface="Calibri" pitchFamily="34" charset="-122"/>
                <a:cs typeface="Calibri" pitchFamily="34" charset="-120"/>
              </a:rPr>
              <a:t>predictable, cheap  ·  flexible, costly</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agentic RAG patterns we combine</a:t>
            </a:r>
            <a:endParaRPr lang="en-US" sz="3000" dirty="0"/>
          </a:p>
        </p:txBody>
      </p:sp>
      <p:sp>
        <p:nvSpPr>
          <p:cNvPr id="4" name="Shape 1"/>
          <p:cNvSpPr/>
          <p:nvPr/>
        </p:nvSpPr>
        <p:spPr>
          <a:xfrm>
            <a:off x="548640" y="1371600"/>
            <a:ext cx="5440680" cy="1005840"/>
          </a:xfrm>
          <a:prstGeom prst="roundRect">
            <a:avLst>
              <a:gd name="adj" fmla="val 10909"/>
            </a:avLst>
          </a:prstGeom>
          <a:solidFill>
            <a:schemeClr val="bg2"/>
          </a:solidFill>
          <a:ln w="12700">
            <a:solidFill>
              <a:schemeClr val="bg2"/>
            </a:solidFill>
            <a:prstDash val="solid"/>
          </a:ln>
        </p:spPr>
      </p:sp>
      <p:sp>
        <p:nvSpPr>
          <p:cNvPr id="5" name="Text 2"/>
          <p:cNvSpPr txBox="1"/>
          <p:nvPr/>
        </p:nvSpPr>
        <p:spPr>
          <a:xfrm>
            <a:off x="777240" y="1481328"/>
            <a:ext cx="32004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Adaptive RAG</a:t>
            </a:r>
            <a:endParaRPr lang="en-US" sz="1600" dirty="0"/>
          </a:p>
        </p:txBody>
      </p:sp>
      <p:sp>
        <p:nvSpPr>
          <p:cNvPr id="6" name="Text 3"/>
          <p:cNvSpPr txBox="1"/>
          <p:nvPr/>
        </p:nvSpPr>
        <p:spPr>
          <a:xfrm>
            <a:off x="777240" y="1874520"/>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 / simple / complex strategy per question</a:t>
            </a:r>
            <a:endParaRPr lang="en-US" sz="1300" dirty="0"/>
          </a:p>
        </p:txBody>
      </p:sp>
      <p:sp>
        <p:nvSpPr>
          <p:cNvPr id="7" name="Shape 4"/>
          <p:cNvSpPr/>
          <p:nvPr/>
        </p:nvSpPr>
        <p:spPr>
          <a:xfrm>
            <a:off x="4160520" y="1673352"/>
            <a:ext cx="1645920" cy="402336"/>
          </a:xfrm>
          <a:prstGeom prst="roundRect">
            <a:avLst>
              <a:gd name="adj" fmla="val 18182"/>
            </a:avLst>
          </a:prstGeom>
          <a:solidFill>
            <a:schemeClr val="bg1"/>
          </a:solidFill>
          <a:ln w="12700">
            <a:solidFill>
              <a:srgbClr val="D5DCE5"/>
            </a:solidFill>
            <a:prstDash val="solid"/>
          </a:ln>
        </p:spPr>
      </p:sp>
      <p:sp>
        <p:nvSpPr>
          <p:cNvPr id="8" name="Text 5"/>
          <p:cNvSpPr txBox="1"/>
          <p:nvPr/>
        </p:nvSpPr>
        <p:spPr>
          <a:xfrm>
            <a:off x="4160520" y="1673352"/>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route</a:t>
            </a:r>
            <a:endParaRPr lang="en-US" sz="1050" dirty="0"/>
          </a:p>
        </p:txBody>
      </p:sp>
      <p:sp>
        <p:nvSpPr>
          <p:cNvPr id="9" name="Shape 6"/>
          <p:cNvSpPr/>
          <p:nvPr/>
        </p:nvSpPr>
        <p:spPr>
          <a:xfrm>
            <a:off x="6172200" y="1371600"/>
            <a:ext cx="5440680" cy="1005840"/>
          </a:xfrm>
          <a:prstGeom prst="roundRect">
            <a:avLst>
              <a:gd name="adj" fmla="val 10909"/>
            </a:avLst>
          </a:prstGeom>
          <a:solidFill>
            <a:schemeClr val="bg2"/>
          </a:solidFill>
          <a:ln w="12700">
            <a:solidFill>
              <a:schemeClr val="bg2"/>
            </a:solidFill>
            <a:prstDash val="solid"/>
          </a:ln>
        </p:spPr>
      </p:sp>
      <p:sp>
        <p:nvSpPr>
          <p:cNvPr id="10" name="Text 7"/>
          <p:cNvSpPr txBox="1"/>
          <p:nvPr/>
        </p:nvSpPr>
        <p:spPr>
          <a:xfrm>
            <a:off x="6400800" y="1481328"/>
            <a:ext cx="32004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Query planning</a:t>
            </a:r>
            <a:endParaRPr lang="en-US" sz="1600" dirty="0"/>
          </a:p>
        </p:txBody>
      </p:sp>
      <p:sp>
        <p:nvSpPr>
          <p:cNvPr id="11" name="Text 8"/>
          <p:cNvSpPr txBox="1"/>
          <p:nvPr/>
        </p:nvSpPr>
        <p:spPr>
          <a:xfrm>
            <a:off x="6400800" y="1874520"/>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split a question into sub-questions</a:t>
            </a:r>
            <a:endParaRPr lang="en-US" sz="1300" dirty="0"/>
          </a:p>
        </p:txBody>
      </p:sp>
      <p:sp>
        <p:nvSpPr>
          <p:cNvPr id="12" name="Shape 9"/>
          <p:cNvSpPr/>
          <p:nvPr/>
        </p:nvSpPr>
        <p:spPr>
          <a:xfrm>
            <a:off x="9784080" y="1673352"/>
            <a:ext cx="1645920" cy="402336"/>
          </a:xfrm>
          <a:prstGeom prst="roundRect">
            <a:avLst>
              <a:gd name="adj" fmla="val 18182"/>
            </a:avLst>
          </a:prstGeom>
          <a:solidFill>
            <a:schemeClr val="bg1"/>
          </a:solidFill>
          <a:ln w="12700">
            <a:solidFill>
              <a:srgbClr val="D5DCE5"/>
            </a:solidFill>
            <a:prstDash val="solid"/>
          </a:ln>
        </p:spPr>
      </p:sp>
      <p:sp>
        <p:nvSpPr>
          <p:cNvPr id="13" name="Text 10"/>
          <p:cNvSpPr txBox="1"/>
          <p:nvPr/>
        </p:nvSpPr>
        <p:spPr>
          <a:xfrm>
            <a:off x="9784080" y="1673352"/>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plan</a:t>
            </a:r>
            <a:endParaRPr lang="en-US" sz="1050" dirty="0"/>
          </a:p>
        </p:txBody>
      </p:sp>
      <p:sp>
        <p:nvSpPr>
          <p:cNvPr id="14" name="Shape 11"/>
          <p:cNvSpPr/>
          <p:nvPr/>
        </p:nvSpPr>
        <p:spPr>
          <a:xfrm>
            <a:off x="548640" y="2532888"/>
            <a:ext cx="5440680"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 y="2642616"/>
            <a:ext cx="3200400" cy="36576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Tool use</a:t>
            </a:r>
            <a:endParaRPr lang="en-US" sz="1600" dirty="0"/>
          </a:p>
        </p:txBody>
      </p:sp>
      <p:sp>
        <p:nvSpPr>
          <p:cNvPr id="16" name="Text 13"/>
          <p:cNvSpPr txBox="1"/>
          <p:nvPr/>
        </p:nvSpPr>
        <p:spPr>
          <a:xfrm>
            <a:off x="777240" y="3035808"/>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search, entity graph, calculator</a:t>
            </a:r>
            <a:endParaRPr lang="en-US" sz="1300" dirty="0"/>
          </a:p>
        </p:txBody>
      </p:sp>
      <p:sp>
        <p:nvSpPr>
          <p:cNvPr id="17" name="Shape 14"/>
          <p:cNvSpPr/>
          <p:nvPr/>
        </p:nvSpPr>
        <p:spPr>
          <a:xfrm>
            <a:off x="4160520" y="2834640"/>
            <a:ext cx="1645920" cy="402336"/>
          </a:xfrm>
          <a:prstGeom prst="roundRect">
            <a:avLst>
              <a:gd name="adj" fmla="val 18182"/>
            </a:avLst>
          </a:prstGeom>
          <a:solidFill>
            <a:schemeClr val="bg1"/>
          </a:solidFill>
          <a:ln w="12700">
            <a:solidFill>
              <a:srgbClr val="D5DCE5"/>
            </a:solidFill>
            <a:prstDash val="solid"/>
          </a:ln>
        </p:spPr>
      </p:sp>
      <p:sp>
        <p:nvSpPr>
          <p:cNvPr id="18" name="Text 15"/>
          <p:cNvSpPr txBox="1"/>
          <p:nvPr/>
        </p:nvSpPr>
        <p:spPr>
          <a:xfrm>
            <a:off x="4160520" y="2834640"/>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retrieve, generate</a:t>
            </a:r>
            <a:endParaRPr lang="en-US" sz="1050" dirty="0"/>
          </a:p>
        </p:txBody>
      </p:sp>
      <p:sp>
        <p:nvSpPr>
          <p:cNvPr id="19" name="Shape 16"/>
          <p:cNvSpPr/>
          <p:nvPr/>
        </p:nvSpPr>
        <p:spPr>
          <a:xfrm>
            <a:off x="6172200" y="2532888"/>
            <a:ext cx="5440680" cy="1005840"/>
          </a:xfrm>
          <a:prstGeom prst="roundRect">
            <a:avLst>
              <a:gd name="adj" fmla="val 10909"/>
            </a:avLst>
          </a:prstGeom>
          <a:solidFill>
            <a:schemeClr val="bg2"/>
          </a:solidFill>
          <a:ln w="12700">
            <a:solidFill>
              <a:schemeClr val="bg2"/>
            </a:solidFill>
            <a:prstDash val="solid"/>
          </a:ln>
        </p:spPr>
      </p:sp>
      <p:sp>
        <p:nvSpPr>
          <p:cNvPr id="20" name="Text 17"/>
          <p:cNvSpPr txBox="1"/>
          <p:nvPr/>
        </p:nvSpPr>
        <p:spPr>
          <a:xfrm>
            <a:off x="6400800" y="2642616"/>
            <a:ext cx="32004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Corrective RAG</a:t>
            </a:r>
            <a:endParaRPr lang="en-US" sz="1600" dirty="0"/>
          </a:p>
        </p:txBody>
      </p:sp>
      <p:sp>
        <p:nvSpPr>
          <p:cNvPr id="21" name="Text 18"/>
          <p:cNvSpPr txBox="1"/>
          <p:nvPr/>
        </p:nvSpPr>
        <p:spPr>
          <a:xfrm>
            <a:off x="6400800" y="3035808"/>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grade chunks; re-retrieve when weak</a:t>
            </a:r>
            <a:endParaRPr lang="en-US" sz="1300" dirty="0"/>
          </a:p>
        </p:txBody>
      </p:sp>
      <p:sp>
        <p:nvSpPr>
          <p:cNvPr id="22" name="Shape 19"/>
          <p:cNvSpPr/>
          <p:nvPr/>
        </p:nvSpPr>
        <p:spPr>
          <a:xfrm>
            <a:off x="9784080" y="2834640"/>
            <a:ext cx="1645920" cy="402336"/>
          </a:xfrm>
          <a:prstGeom prst="roundRect">
            <a:avLst>
              <a:gd name="adj" fmla="val 18182"/>
            </a:avLst>
          </a:prstGeom>
          <a:solidFill>
            <a:schemeClr val="bg1"/>
          </a:solidFill>
          <a:ln w="12700">
            <a:solidFill>
              <a:srgbClr val="D5DCE5"/>
            </a:solidFill>
            <a:prstDash val="solid"/>
          </a:ln>
        </p:spPr>
      </p:sp>
      <p:sp>
        <p:nvSpPr>
          <p:cNvPr id="23" name="Text 20"/>
          <p:cNvSpPr txBox="1"/>
          <p:nvPr/>
        </p:nvSpPr>
        <p:spPr>
          <a:xfrm>
            <a:off x="9784080" y="2834640"/>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assess</a:t>
            </a:r>
            <a:endParaRPr lang="en-US" sz="1050" dirty="0"/>
          </a:p>
        </p:txBody>
      </p:sp>
      <p:sp>
        <p:nvSpPr>
          <p:cNvPr id="24" name="Shape 21"/>
          <p:cNvSpPr/>
          <p:nvPr/>
        </p:nvSpPr>
        <p:spPr>
          <a:xfrm>
            <a:off x="548640" y="3694176"/>
            <a:ext cx="5440680" cy="1005840"/>
          </a:xfrm>
          <a:prstGeom prst="roundRect">
            <a:avLst>
              <a:gd name="adj" fmla="val 10909"/>
            </a:avLst>
          </a:prstGeom>
          <a:solidFill>
            <a:schemeClr val="bg2"/>
          </a:solidFill>
          <a:ln w="12700">
            <a:solidFill>
              <a:schemeClr val="bg2"/>
            </a:solidFill>
            <a:prstDash val="solid"/>
          </a:ln>
        </p:spPr>
      </p:sp>
      <p:sp>
        <p:nvSpPr>
          <p:cNvPr id="25" name="Text 22"/>
          <p:cNvSpPr txBox="1"/>
          <p:nvPr/>
        </p:nvSpPr>
        <p:spPr>
          <a:xfrm>
            <a:off x="777240" y="3803904"/>
            <a:ext cx="32004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Iterative multi-hop</a:t>
            </a:r>
            <a:endParaRPr lang="en-US" sz="1600" dirty="0"/>
          </a:p>
        </p:txBody>
      </p:sp>
      <p:sp>
        <p:nvSpPr>
          <p:cNvPr id="26" name="Text 23"/>
          <p:cNvSpPr txBox="1"/>
          <p:nvPr/>
        </p:nvSpPr>
        <p:spPr>
          <a:xfrm>
            <a:off x="777240" y="4197096"/>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next query uses what was just learned</a:t>
            </a:r>
            <a:endParaRPr lang="en-US" sz="1300" dirty="0"/>
          </a:p>
        </p:txBody>
      </p:sp>
      <p:sp>
        <p:nvSpPr>
          <p:cNvPr id="27" name="Shape 24"/>
          <p:cNvSpPr/>
          <p:nvPr/>
        </p:nvSpPr>
        <p:spPr>
          <a:xfrm>
            <a:off x="4160520" y="3995928"/>
            <a:ext cx="1645920" cy="402336"/>
          </a:xfrm>
          <a:prstGeom prst="roundRect">
            <a:avLst>
              <a:gd name="adj" fmla="val 18182"/>
            </a:avLst>
          </a:prstGeom>
          <a:solidFill>
            <a:schemeClr val="bg1"/>
          </a:solidFill>
          <a:ln w="12700">
            <a:solidFill>
              <a:srgbClr val="D5DCE5"/>
            </a:solidFill>
            <a:prstDash val="solid"/>
          </a:ln>
        </p:spPr>
      </p:sp>
      <p:sp>
        <p:nvSpPr>
          <p:cNvPr id="28" name="Text 25"/>
          <p:cNvSpPr txBox="1"/>
          <p:nvPr/>
        </p:nvSpPr>
        <p:spPr>
          <a:xfrm>
            <a:off x="4160520" y="3995928"/>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assess → retrieve</a:t>
            </a:r>
            <a:endParaRPr lang="en-US" sz="1050" dirty="0"/>
          </a:p>
        </p:txBody>
      </p:sp>
      <p:sp>
        <p:nvSpPr>
          <p:cNvPr id="29" name="Shape 26"/>
          <p:cNvSpPr/>
          <p:nvPr/>
        </p:nvSpPr>
        <p:spPr>
          <a:xfrm>
            <a:off x="6172200" y="3694176"/>
            <a:ext cx="5440680" cy="1005840"/>
          </a:xfrm>
          <a:prstGeom prst="roundRect">
            <a:avLst>
              <a:gd name="adj" fmla="val 10909"/>
            </a:avLst>
          </a:prstGeom>
          <a:solidFill>
            <a:schemeClr val="bg2"/>
          </a:solidFill>
          <a:ln w="12700">
            <a:solidFill>
              <a:schemeClr val="bg2"/>
            </a:solidFill>
            <a:prstDash val="solid"/>
          </a:ln>
        </p:spPr>
      </p:sp>
      <p:sp>
        <p:nvSpPr>
          <p:cNvPr id="30" name="Text 27"/>
          <p:cNvSpPr txBox="1"/>
          <p:nvPr/>
        </p:nvSpPr>
        <p:spPr>
          <a:xfrm>
            <a:off x="6400800" y="3803904"/>
            <a:ext cx="32004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Self-RAG</a:t>
            </a:r>
            <a:endParaRPr lang="en-US" sz="1600" dirty="0"/>
          </a:p>
        </p:txBody>
      </p:sp>
      <p:sp>
        <p:nvSpPr>
          <p:cNvPr id="31" name="Text 28"/>
          <p:cNvSpPr txBox="1"/>
          <p:nvPr/>
        </p:nvSpPr>
        <p:spPr>
          <a:xfrm>
            <a:off x="6400800" y="4197096"/>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critique the answer, rewrite once</a:t>
            </a:r>
            <a:endParaRPr lang="en-US" sz="1300" dirty="0"/>
          </a:p>
        </p:txBody>
      </p:sp>
      <p:sp>
        <p:nvSpPr>
          <p:cNvPr id="32" name="Shape 29"/>
          <p:cNvSpPr/>
          <p:nvPr/>
        </p:nvSpPr>
        <p:spPr>
          <a:xfrm>
            <a:off x="9784080" y="3995928"/>
            <a:ext cx="1645920" cy="402336"/>
          </a:xfrm>
          <a:prstGeom prst="roundRect">
            <a:avLst>
              <a:gd name="adj" fmla="val 18182"/>
            </a:avLst>
          </a:prstGeom>
          <a:solidFill>
            <a:schemeClr val="bg1"/>
          </a:solidFill>
          <a:ln w="12700">
            <a:solidFill>
              <a:srgbClr val="D5DCE5"/>
            </a:solidFill>
            <a:prstDash val="solid"/>
          </a:ln>
        </p:spPr>
      </p:sp>
      <p:sp>
        <p:nvSpPr>
          <p:cNvPr id="33" name="Text 30"/>
          <p:cNvSpPr txBox="1"/>
          <p:nvPr/>
        </p:nvSpPr>
        <p:spPr>
          <a:xfrm>
            <a:off x="9784080" y="3995928"/>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check</a:t>
            </a:r>
            <a:endParaRPr lang="en-US" sz="1050" dirty="0"/>
          </a:p>
        </p:txBody>
      </p:sp>
      <p:sp>
        <p:nvSpPr>
          <p:cNvPr id="34" name="Shape 31"/>
          <p:cNvSpPr/>
          <p:nvPr/>
        </p:nvSpPr>
        <p:spPr>
          <a:xfrm>
            <a:off x="548640" y="4855464"/>
            <a:ext cx="5440680" cy="1005840"/>
          </a:xfrm>
          <a:prstGeom prst="roundRect">
            <a:avLst>
              <a:gd name="adj" fmla="val 10909"/>
            </a:avLst>
          </a:prstGeom>
          <a:solidFill>
            <a:schemeClr val="bg2"/>
          </a:solidFill>
          <a:ln w="12700">
            <a:solidFill>
              <a:schemeClr val="bg2"/>
            </a:solidFill>
            <a:prstDash val="solid"/>
          </a:ln>
        </p:spPr>
      </p:sp>
      <p:sp>
        <p:nvSpPr>
          <p:cNvPr id="35" name="Text 32"/>
          <p:cNvSpPr txBox="1"/>
          <p:nvPr/>
        </p:nvSpPr>
        <p:spPr>
          <a:xfrm>
            <a:off x="777240" y="4965192"/>
            <a:ext cx="3200400" cy="365760"/>
          </a:xfrm>
          <a:prstGeom prst="rect">
            <a:avLst/>
          </a:prstGeom>
          <a:noFill/>
          <a:ln/>
        </p:spPr>
        <p:txBody>
          <a:bodyPr wrap="square" lIns="0" tIns="0" rIns="0" bIns="0" rtlCol="0" anchor="t"/>
          <a:lstStyle/>
          <a:p>
            <a:pPr indent="0" marL="0">
              <a:buNone/>
            </a:pPr>
            <a:r>
              <a:rPr lang="en-US" sz="1600" b="1" dirty="0">
                <a:solidFill>
                  <a:srgbClr val="6D28D9"/>
                </a:solidFill>
                <a:latin typeface="Calibri" pitchFamily="34" charset="0"/>
                <a:ea typeface="Calibri" pitchFamily="34" charset="-122"/>
                <a:cs typeface="Calibri" pitchFamily="34" charset="-120"/>
              </a:rPr>
              <a:t>Memory</a:t>
            </a:r>
            <a:endParaRPr lang="en-US" sz="1600" dirty="0"/>
          </a:p>
        </p:txBody>
      </p:sp>
      <p:sp>
        <p:nvSpPr>
          <p:cNvPr id="36" name="Text 33"/>
          <p:cNvSpPr txBox="1"/>
          <p:nvPr/>
        </p:nvSpPr>
        <p:spPr>
          <a:xfrm>
            <a:off x="777240" y="5358384"/>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rewrite follow-ups using chat history</a:t>
            </a:r>
            <a:endParaRPr lang="en-US" sz="1300" dirty="0"/>
          </a:p>
        </p:txBody>
      </p:sp>
      <p:sp>
        <p:nvSpPr>
          <p:cNvPr id="37" name="Shape 34"/>
          <p:cNvSpPr/>
          <p:nvPr/>
        </p:nvSpPr>
        <p:spPr>
          <a:xfrm>
            <a:off x="4160520" y="5157216"/>
            <a:ext cx="1645920" cy="402336"/>
          </a:xfrm>
          <a:prstGeom prst="roundRect">
            <a:avLst>
              <a:gd name="adj" fmla="val 18182"/>
            </a:avLst>
          </a:prstGeom>
          <a:solidFill>
            <a:schemeClr val="bg1"/>
          </a:solidFill>
          <a:ln w="12700">
            <a:solidFill>
              <a:srgbClr val="D5DCE5"/>
            </a:solidFill>
            <a:prstDash val="solid"/>
          </a:ln>
        </p:spPr>
      </p:sp>
      <p:sp>
        <p:nvSpPr>
          <p:cNvPr id="38" name="Text 35"/>
          <p:cNvSpPr txBox="1"/>
          <p:nvPr/>
        </p:nvSpPr>
        <p:spPr>
          <a:xfrm>
            <a:off x="4160520" y="5157216"/>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contextualize</a:t>
            </a:r>
            <a:endParaRPr lang="en-US" sz="1050" dirty="0"/>
          </a:p>
        </p:txBody>
      </p:sp>
      <p:sp>
        <p:nvSpPr>
          <p:cNvPr id="39" name="Shape 36"/>
          <p:cNvSpPr/>
          <p:nvPr/>
        </p:nvSpPr>
        <p:spPr>
          <a:xfrm>
            <a:off x="6172200" y="4855464"/>
            <a:ext cx="5440680" cy="1005840"/>
          </a:xfrm>
          <a:prstGeom prst="roundRect">
            <a:avLst>
              <a:gd name="adj" fmla="val 10909"/>
            </a:avLst>
          </a:prstGeom>
          <a:solidFill>
            <a:schemeClr val="bg2"/>
          </a:solidFill>
          <a:ln w="12700">
            <a:solidFill>
              <a:schemeClr val="bg2"/>
            </a:solidFill>
            <a:prstDash val="solid"/>
          </a:ln>
        </p:spPr>
      </p:sp>
      <p:sp>
        <p:nvSpPr>
          <p:cNvPr id="40" name="Text 37"/>
          <p:cNvSpPr txBox="1"/>
          <p:nvPr/>
        </p:nvSpPr>
        <p:spPr>
          <a:xfrm>
            <a:off x="6400800" y="4965192"/>
            <a:ext cx="3200400" cy="36576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Human-in-the-loop</a:t>
            </a:r>
            <a:endParaRPr lang="en-US" sz="1600" dirty="0"/>
          </a:p>
        </p:txBody>
      </p:sp>
      <p:sp>
        <p:nvSpPr>
          <p:cNvPr id="41" name="Text 38"/>
          <p:cNvSpPr txBox="1"/>
          <p:nvPr/>
        </p:nvSpPr>
        <p:spPr>
          <a:xfrm>
            <a:off x="6400800" y="5358384"/>
            <a:ext cx="33375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pause and ask when the question is vague</a:t>
            </a:r>
            <a:endParaRPr lang="en-US" sz="1300" dirty="0"/>
          </a:p>
        </p:txBody>
      </p:sp>
      <p:sp>
        <p:nvSpPr>
          <p:cNvPr id="42" name="Shape 39"/>
          <p:cNvSpPr/>
          <p:nvPr/>
        </p:nvSpPr>
        <p:spPr>
          <a:xfrm>
            <a:off x="9784080" y="5157216"/>
            <a:ext cx="1645920" cy="402336"/>
          </a:xfrm>
          <a:prstGeom prst="roundRect">
            <a:avLst>
              <a:gd name="adj" fmla="val 18182"/>
            </a:avLst>
          </a:prstGeom>
          <a:solidFill>
            <a:schemeClr val="bg1"/>
          </a:solidFill>
          <a:ln w="12700">
            <a:solidFill>
              <a:srgbClr val="D5DCE5"/>
            </a:solidFill>
            <a:prstDash val="solid"/>
          </a:ln>
        </p:spPr>
      </p:sp>
      <p:sp>
        <p:nvSpPr>
          <p:cNvPr id="43" name="Text 40"/>
          <p:cNvSpPr txBox="1"/>
          <p:nvPr/>
        </p:nvSpPr>
        <p:spPr>
          <a:xfrm>
            <a:off x="9784080" y="5157216"/>
            <a:ext cx="1645920" cy="402336"/>
          </a:xfrm>
          <a:prstGeom prst="rect">
            <a:avLst/>
          </a:prstGeom>
          <a:noFill/>
          <a:ln/>
        </p:spPr>
        <p:txBody>
          <a:bodyPr wrap="square" lIns="0" tIns="0" rIns="0" bIns="0" rtlCol="0" anchor="ctr"/>
          <a:lstStyle/>
          <a:p>
            <a:pPr algn="ctr" indent="0" marL="0">
              <a:buNone/>
            </a:pPr>
            <a:r>
              <a:rPr lang="en-US" sz="1050" dirty="0">
                <a:solidFill>
                  <a:schemeClr val="tx1"/>
                </a:solidFill>
                <a:latin typeface="Consolas" pitchFamily="34" charset="0"/>
                <a:ea typeface="Consolas" pitchFamily="34" charset="-122"/>
                <a:cs typeface="Consolas" pitchFamily="34" charset="-120"/>
              </a:rPr>
              <a:t>clarify</a:t>
            </a:r>
            <a:endParaRPr lang="en-US" sz="105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Problem by problem: what the agent changes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2377440"/>
                <a:gridCol w="4937760"/>
                <a:gridCol w="1188720"/>
              </a:tblGrid>
              <a:tr h="47548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Problem in Lab 1</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Agent node</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 now</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Scenario</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Always retrieves</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route</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small talk / out of scope answered directly, 1 LLM call</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S1, S2</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Cannot ask back</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clarify</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graph pauses with interrupt(), resumes with the answer</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S3</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One-shot</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assess → retrieve</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follow-up search with newly learned terms (max 2 rounds)</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S4</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Top-k cannot aggregate</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plan → entity tool</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Graph RAG lite returns every mention across documents</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S5</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Mental maths</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generate + calculator</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&lt;calc&gt; tags evaluated safely in Python</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S6</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Multi-part shares top-5</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plan + Send</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one search per sub-question, in parallel</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S7</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No self-check</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assess, check</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irrelevant chunks dropped; ungrounded answer rewritten once</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all</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No memory</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contextualize + checkpointer</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follow-ups rewritten using the thread's history</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50" dirty="0">
                          <a:solidFill>
                            <a:srgbClr val="0F1B2D"/>
                          </a:solidFill>
                          <a:latin typeface="Calibri" pitchFamily="34" charset="0"/>
                          <a:ea typeface="Calibri" pitchFamily="34" charset="-122"/>
                          <a:cs typeface="Calibri" pitchFamily="34" charset="-120"/>
                        </a:rPr>
                        <a:t>S8</a:t>
                      </a:r>
                      <a:endParaRPr lang="en-US" sz="135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Not free: the agent costs more calls and more time</a:t>
            </a:r>
            <a:endParaRPr lang="en-US" sz="3000" dirty="0"/>
          </a:p>
        </p:txBody>
      </p:sp>
      <p:graphicFrame>
        <p:nvGraphicFramePr>
          <p:cNvPr id="4" name="Chart 0" descr=""/>
          <p:cNvGraphicFramePr/>
          <p:nvPr/>
        </p:nvGraphicFramePr>
        <p:xfrm>
          <a:off x="548640" y="132588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680960" y="1417320"/>
            <a:ext cx="3931920" cy="2103120"/>
          </a:xfrm>
          <a:prstGeom prst="roundRect">
            <a:avLst>
              <a:gd name="adj" fmla="val 5217"/>
            </a:avLst>
          </a:prstGeom>
          <a:solidFill>
            <a:schemeClr val="accent6"/>
          </a:solidFill>
          <a:ln w="12700">
            <a:solidFill>
              <a:schemeClr val="accent6"/>
            </a:solidFill>
            <a:prstDash val="solid"/>
          </a:ln>
        </p:spPr>
      </p:sp>
      <p:sp>
        <p:nvSpPr>
          <p:cNvPr id="6" name="Text 2"/>
          <p:cNvSpPr txBox="1"/>
          <p:nvPr/>
        </p:nvSpPr>
        <p:spPr>
          <a:xfrm>
            <a:off x="7955280" y="1673352"/>
            <a:ext cx="3429000" cy="45720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Use an agent when</a:t>
            </a:r>
            <a:endParaRPr lang="en-US" sz="1700" dirty="0"/>
          </a:p>
        </p:txBody>
      </p:sp>
      <p:sp>
        <p:nvSpPr>
          <p:cNvPr id="7" name="Text 3"/>
          <p:cNvSpPr txBox="1"/>
          <p:nvPr/>
        </p:nvSpPr>
        <p:spPr>
          <a:xfrm>
            <a:off x="7955280" y="2258568"/>
            <a:ext cx="3383280"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questions are multi-step, multi-part, vague or conversational, and a wrong answer is expensive.</a:t>
            </a:r>
            <a:endParaRPr lang="en-US" sz="1400" dirty="0"/>
          </a:p>
        </p:txBody>
      </p:sp>
      <p:sp>
        <p:nvSpPr>
          <p:cNvPr id="8" name="Shape 4"/>
          <p:cNvSpPr/>
          <p:nvPr/>
        </p:nvSpPr>
        <p:spPr>
          <a:xfrm>
            <a:off x="7680960" y="3749040"/>
            <a:ext cx="3931920" cy="2194560"/>
          </a:xfrm>
          <a:prstGeom prst="roundRect">
            <a:avLst>
              <a:gd name="adj" fmla="val 5000"/>
            </a:avLst>
          </a:prstGeom>
          <a:solidFill>
            <a:schemeClr val="accent5"/>
          </a:solidFill>
          <a:ln w="12700">
            <a:solidFill>
              <a:schemeClr val="accent5"/>
            </a:solidFill>
            <a:prstDash val="solid"/>
          </a:ln>
        </p:spPr>
      </p:sp>
      <p:sp>
        <p:nvSpPr>
          <p:cNvPr id="9" name="Text 5"/>
          <p:cNvSpPr txBox="1"/>
          <p:nvPr/>
        </p:nvSpPr>
        <p:spPr>
          <a:xfrm>
            <a:off x="7955280" y="4005072"/>
            <a:ext cx="3429000" cy="457200"/>
          </a:xfrm>
          <a:prstGeom prst="rect">
            <a:avLst/>
          </a:prstGeom>
          <a:noFill/>
          <a:ln/>
        </p:spPr>
        <p:txBody>
          <a:bodyPr wrap="square" lIns="0" tIns="0" rIns="0" bIns="0" rtlCol="0" anchor="ctr"/>
          <a:lstStyle/>
          <a:p>
            <a:pPr indent="0" marL="0">
              <a:buNone/>
            </a:pPr>
            <a:r>
              <a:rPr lang="en-US" sz="1700" b="1" dirty="0">
                <a:solidFill>
                  <a:schemeClr val="accent2"/>
                </a:solidFill>
                <a:latin typeface="Calibri" pitchFamily="34" charset="0"/>
                <a:ea typeface="Calibri" pitchFamily="34" charset="-122"/>
                <a:cs typeface="Calibri" pitchFamily="34" charset="-120"/>
              </a:rPr>
              <a:t>Stay with Lab 1 when</a:t>
            </a:r>
            <a:endParaRPr lang="en-US" sz="1700" dirty="0"/>
          </a:p>
        </p:txBody>
      </p:sp>
      <p:sp>
        <p:nvSpPr>
          <p:cNvPr id="10" name="Text 6"/>
          <p:cNvSpPr txBox="1"/>
          <p:nvPr/>
        </p:nvSpPr>
        <p:spPr>
          <a:xfrm>
            <a:off x="7955280" y="4590288"/>
            <a:ext cx="338328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questions are simple FAQs, volume is high, or latency is tight. Knobs: self-check off, fewer rounds.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731520" y="2514600"/>
            <a:ext cx="65836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Graph RAG: what chunk retrieval cannot see</a:t>
            </a:r>
            <a:endParaRPr lang="en-US" sz="4000" dirty="0"/>
          </a:p>
        </p:txBody>
      </p:sp>
      <p:sp>
        <p:nvSpPr>
          <p:cNvPr id="4" name="Text 0"/>
          <p:cNvSpPr/>
          <p:nvPr>
            <p:ph idx="100" type="body" hasCustomPrompt="1"/>
          </p:nvPr>
        </p:nvSpPr>
        <p:spPr>
          <a:xfrm>
            <a:off x="731520" y="2011680"/>
            <a:ext cx="6217920" cy="457200"/>
          </a:xfrm>
          <a:prstGeom prst="rect">
            <a:avLst/>
          </a:prstGeom>
          <a:noFill/>
          <a:ln/>
        </p:spPr>
        <p:txBody>
          <a:bodyPr wrap="square" rtlCol="0"/>
          <a:lstStyle/>
          <a:p>
            <a:pPr indent="0" marL="0">
              <a:buNone/>
            </a:pPr>
            <a:r>
              <a:rPr lang="en-US" sz="1600" b="1" spc="300" kern="0" dirty="0">
                <a:solidFill>
                  <a:schemeClr val="accent4"/>
                </a:solidFill>
              </a:rPr>
              <a:t>PART 2 · GRAPH RAG</a:t>
            </a:r>
            <a:endParaRPr lang="en-US" sz="1600" dirty="0"/>
          </a:p>
        </p:txBody>
      </p:sp>
      <p:sp>
        <p:nvSpPr>
          <p:cNvPr id="5" name="Text 0"/>
          <p:cNvSpPr/>
          <p:nvPr>
            <p:ph idx="102" type="body" hasCustomPrompt="1"/>
          </p:nvPr>
        </p:nvSpPr>
        <p:spPr>
          <a:xfrm>
            <a:off x="731520" y="3931920"/>
            <a:ext cx="6400800" cy="1463040"/>
          </a:xfrm>
          <a:prstGeom prst="rect">
            <a:avLst/>
          </a:prstGeom>
          <a:noFill/>
          <a:ln/>
        </p:spPr>
        <p:txBody>
          <a:bodyPr wrap="square" rtlCol="0" anchor="t"/>
          <a:lstStyle/>
          <a:p>
            <a:pPr indent="0" marL="0">
              <a:buNone/>
            </a:pPr>
            <a:r>
              <a:rPr lang="en-US" sz="1800" dirty="0">
                <a:solidFill>
                  <a:srgbClr val="CFE9E5"/>
                </a:solidFill>
              </a:rPr>
              <a:t>Vector and keyword search treat every chunk as an island. Some answers live in the connections between chunks.</a:t>
            </a:r>
            <a:endParaRPr lang="en-US" sz="1800" dirty="0"/>
          </a:p>
        </p:txBody>
      </p:sp>
      <p:sp>
        <p:nvSpPr>
          <p:cNvPr id="6" name="Shape 3"/>
          <p:cNvSpPr/>
          <p:nvPr/>
        </p:nvSpPr>
        <p:spPr>
          <a:xfrm flipH="1">
            <a:off x="8412480" y="2377440"/>
            <a:ext cx="1463040" cy="1280160"/>
          </a:xfrm>
          <a:prstGeom prst="line">
            <a:avLst/>
          </a:prstGeom>
          <a:noFill/>
          <a:ln w="19050">
            <a:solidFill>
              <a:srgbClr val="4F8F89"/>
            </a:solidFill>
            <a:prstDash val="solid"/>
          </a:ln>
        </p:spPr>
      </p:sp>
      <p:sp>
        <p:nvSpPr>
          <p:cNvPr id="7" name="Shape 4"/>
          <p:cNvSpPr/>
          <p:nvPr/>
        </p:nvSpPr>
        <p:spPr>
          <a:xfrm>
            <a:off x="9875520" y="2377440"/>
            <a:ext cx="1463040" cy="1280160"/>
          </a:xfrm>
          <a:prstGeom prst="line">
            <a:avLst/>
          </a:prstGeom>
          <a:noFill/>
          <a:ln w="19050">
            <a:solidFill>
              <a:srgbClr val="4F8F89"/>
            </a:solidFill>
            <a:prstDash val="solid"/>
          </a:ln>
        </p:spPr>
      </p:sp>
      <p:sp>
        <p:nvSpPr>
          <p:cNvPr id="8" name="Shape 5"/>
          <p:cNvSpPr/>
          <p:nvPr/>
        </p:nvSpPr>
        <p:spPr>
          <a:xfrm flipH="1">
            <a:off x="8869680" y="2377440"/>
            <a:ext cx="1005840" cy="2743200"/>
          </a:xfrm>
          <a:prstGeom prst="line">
            <a:avLst/>
          </a:prstGeom>
          <a:noFill/>
          <a:ln w="19050">
            <a:solidFill>
              <a:srgbClr val="4F8F89"/>
            </a:solidFill>
            <a:prstDash val="solid"/>
          </a:ln>
        </p:spPr>
      </p:sp>
      <p:sp>
        <p:nvSpPr>
          <p:cNvPr id="9" name="Shape 6"/>
          <p:cNvSpPr/>
          <p:nvPr/>
        </p:nvSpPr>
        <p:spPr>
          <a:xfrm>
            <a:off x="9875520" y="2377440"/>
            <a:ext cx="1005840" cy="2743200"/>
          </a:xfrm>
          <a:prstGeom prst="line">
            <a:avLst/>
          </a:prstGeom>
          <a:noFill/>
          <a:ln w="19050">
            <a:solidFill>
              <a:srgbClr val="4F8F89"/>
            </a:solidFill>
            <a:prstDash val="solid"/>
          </a:ln>
        </p:spPr>
      </p:sp>
      <p:sp>
        <p:nvSpPr>
          <p:cNvPr id="10" name="Shape 7"/>
          <p:cNvSpPr/>
          <p:nvPr/>
        </p:nvSpPr>
        <p:spPr>
          <a:xfrm>
            <a:off x="9326880" y="1828800"/>
            <a:ext cx="1097280" cy="1097280"/>
          </a:xfrm>
          <a:prstGeom prst="ellipse">
            <a:avLst/>
          </a:prstGeom>
          <a:solidFill>
            <a:schemeClr val="accent4"/>
          </a:solidFill>
          <a:ln w="12700">
            <a:solidFill>
              <a:schemeClr val="accent4"/>
            </a:solidFill>
            <a:prstDash val="solid"/>
          </a:ln>
        </p:spPr>
      </p:sp>
      <p:sp>
        <p:nvSpPr>
          <p:cNvPr id="11" name="Text 8"/>
          <p:cNvSpPr txBox="1"/>
          <p:nvPr/>
        </p:nvSpPr>
        <p:spPr>
          <a:xfrm>
            <a:off x="9326880" y="1828800"/>
            <a:ext cx="1097280" cy="1097280"/>
          </a:xfrm>
          <a:prstGeom prst="rect">
            <a:avLst/>
          </a:prstGeom>
          <a:noFill/>
          <a:ln/>
        </p:spPr>
        <p:txBody>
          <a:bodyPr wrap="square" lIns="0" tIns="0" rIns="0" bIns="0" rtlCol="0" anchor="ctr"/>
          <a:lstStyle/>
          <a:p>
            <a:pPr algn="ctr" indent="0" marL="0">
              <a:buNone/>
            </a:pPr>
            <a:endParaRPr lang="en-US" sz="1200" dirty="0"/>
          </a:p>
        </p:txBody>
      </p:sp>
      <p:sp>
        <p:nvSpPr>
          <p:cNvPr id="12" name="Text 9"/>
          <p:cNvSpPr txBox="1"/>
          <p:nvPr/>
        </p:nvSpPr>
        <p:spPr>
          <a:xfrm>
            <a:off x="9326880" y="1828800"/>
            <a:ext cx="1097280" cy="10972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graduate</a:t>
            </a:r>
            <a:endParaRPr lang="en-US" sz="1200" dirty="0"/>
          </a:p>
          <a:p>
            <a:pPr algn="ctr" indent="0" marL="0">
              <a:buNone/>
            </a:pPr>
            <a:r>
              <a:rPr lang="en-US" sz="1200" b="1" dirty="0">
                <a:solidFill>
                  <a:schemeClr val="tx2"/>
                </a:solidFill>
                <a:latin typeface="Calibri" pitchFamily="34" charset="0"/>
                <a:ea typeface="Calibri" pitchFamily="34" charset="-122"/>
                <a:cs typeface="Calibri" pitchFamily="34" charset="-120"/>
              </a:rPr>
              <a:t>trainee</a:t>
            </a:r>
            <a:endParaRPr lang="en-US" sz="1200" dirty="0"/>
          </a:p>
        </p:txBody>
      </p:sp>
      <p:sp>
        <p:nvSpPr>
          <p:cNvPr id="13" name="Shape 10"/>
          <p:cNvSpPr/>
          <p:nvPr/>
        </p:nvSpPr>
        <p:spPr>
          <a:xfrm>
            <a:off x="7863840" y="3108960"/>
            <a:ext cx="1097280" cy="1097280"/>
          </a:xfrm>
          <a:prstGeom prst="ellipse">
            <a:avLst/>
          </a:prstGeom>
          <a:solidFill>
            <a:srgbClr val="0E4A46"/>
          </a:solidFill>
          <a:ln w="12700">
            <a:solidFill>
              <a:srgbClr val="0E4A46"/>
            </a:solidFill>
            <a:prstDash val="solid"/>
          </a:ln>
        </p:spPr>
      </p:sp>
      <p:sp>
        <p:nvSpPr>
          <p:cNvPr id="14" name="Text 11"/>
          <p:cNvSpPr txBox="1"/>
          <p:nvPr/>
        </p:nvSpPr>
        <p:spPr>
          <a:xfrm>
            <a:off x="7863840" y="3108960"/>
            <a:ext cx="1097280" cy="1097280"/>
          </a:xfrm>
          <a:prstGeom prst="rect">
            <a:avLst/>
          </a:prstGeom>
          <a:noFill/>
          <a:ln/>
        </p:spPr>
        <p:txBody>
          <a:bodyPr wrap="square" lIns="0" tIns="0" rIns="0" bIns="0" rtlCol="0" anchor="ctr"/>
          <a:lstStyle/>
          <a:p>
            <a:pPr algn="ctr" indent="0" marL="0">
              <a:buNone/>
            </a:pPr>
            <a:endParaRPr lang="en-US" sz="1200" dirty="0"/>
          </a:p>
        </p:txBody>
      </p:sp>
      <p:sp>
        <p:nvSpPr>
          <p:cNvPr id="15" name="Text 12"/>
          <p:cNvSpPr txBox="1"/>
          <p:nvPr/>
        </p:nvSpPr>
        <p:spPr>
          <a:xfrm>
            <a:off x="7863840" y="3108960"/>
            <a:ext cx="1097280" cy="1097280"/>
          </a:xfrm>
          <a:prstGeom prst="rect">
            <a:avLst/>
          </a:prstGeom>
          <a:noFill/>
          <a:ln/>
        </p:spPr>
        <p:txBody>
          <a:bodyPr wrap="square" lIns="0" tIns="0" rIns="0" bIns="0" rtlCol="0" anchor="ctr"/>
          <a:lstStyle/>
          <a:p>
            <a:pPr algn="ctr" indent="0" marL="0">
              <a:buNone/>
            </a:pPr>
            <a:r>
              <a:rPr lang="en-US" sz="1200" b="1" dirty="0">
                <a:solidFill>
                  <a:srgbClr val="CFE9E5"/>
                </a:solidFill>
                <a:latin typeface="Calibri" pitchFamily="34" charset="0"/>
                <a:ea typeface="Calibri" pitchFamily="34" charset="-122"/>
                <a:cs typeface="Calibri" pitchFamily="34" charset="-120"/>
              </a:rPr>
              <a:t>earned</a:t>
            </a:r>
            <a:endParaRPr lang="en-US" sz="1200" dirty="0"/>
          </a:p>
          <a:p>
            <a:pPr algn="ctr" indent="0" marL="0">
              <a:buNone/>
            </a:pPr>
            <a:r>
              <a:rPr lang="en-US" sz="1200" b="1" dirty="0">
                <a:solidFill>
                  <a:srgbClr val="CFE9E5"/>
                </a:solidFill>
                <a:latin typeface="Calibri" pitchFamily="34" charset="0"/>
                <a:ea typeface="Calibri" pitchFamily="34" charset="-122"/>
                <a:cs typeface="Calibri" pitchFamily="34" charset="-120"/>
              </a:rPr>
              <a:t>leave</a:t>
            </a:r>
            <a:endParaRPr lang="en-US" sz="1200" dirty="0"/>
          </a:p>
        </p:txBody>
      </p:sp>
      <p:sp>
        <p:nvSpPr>
          <p:cNvPr id="16" name="Shape 13"/>
          <p:cNvSpPr/>
          <p:nvPr/>
        </p:nvSpPr>
        <p:spPr>
          <a:xfrm>
            <a:off x="10789920" y="3108960"/>
            <a:ext cx="1097280" cy="1097280"/>
          </a:xfrm>
          <a:prstGeom prst="ellipse">
            <a:avLst/>
          </a:prstGeom>
          <a:solidFill>
            <a:srgbClr val="0E4A46"/>
          </a:solidFill>
          <a:ln w="12700">
            <a:solidFill>
              <a:srgbClr val="0E4A46"/>
            </a:solidFill>
            <a:prstDash val="solid"/>
          </a:ln>
        </p:spPr>
      </p:sp>
      <p:sp>
        <p:nvSpPr>
          <p:cNvPr id="17" name="Text 14"/>
          <p:cNvSpPr txBox="1"/>
          <p:nvPr/>
        </p:nvSpPr>
        <p:spPr>
          <a:xfrm>
            <a:off x="10789920" y="3108960"/>
            <a:ext cx="1097280" cy="1097280"/>
          </a:xfrm>
          <a:prstGeom prst="rect">
            <a:avLst/>
          </a:prstGeom>
          <a:noFill/>
          <a:ln/>
        </p:spPr>
        <p:txBody>
          <a:bodyPr wrap="square" lIns="0" tIns="0" rIns="0" bIns="0" rtlCol="0" anchor="ctr"/>
          <a:lstStyle/>
          <a:p>
            <a:pPr algn="ctr" indent="0" marL="0">
              <a:buNone/>
            </a:pPr>
            <a:endParaRPr lang="en-US" sz="1200" dirty="0"/>
          </a:p>
        </p:txBody>
      </p:sp>
      <p:sp>
        <p:nvSpPr>
          <p:cNvPr id="18" name="Text 15"/>
          <p:cNvSpPr txBox="1"/>
          <p:nvPr/>
        </p:nvSpPr>
        <p:spPr>
          <a:xfrm>
            <a:off x="10789920" y="3108960"/>
            <a:ext cx="1097280" cy="1097280"/>
          </a:xfrm>
          <a:prstGeom prst="rect">
            <a:avLst/>
          </a:prstGeom>
          <a:noFill/>
          <a:ln/>
        </p:spPr>
        <p:txBody>
          <a:bodyPr wrap="square" lIns="0" tIns="0" rIns="0" bIns="0" rtlCol="0" anchor="ctr"/>
          <a:lstStyle/>
          <a:p>
            <a:pPr algn="ctr" indent="0" marL="0">
              <a:buNone/>
            </a:pPr>
            <a:r>
              <a:rPr lang="en-US" sz="1200" b="1" dirty="0">
                <a:solidFill>
                  <a:srgbClr val="CFE9E5"/>
                </a:solidFill>
                <a:latin typeface="Calibri" pitchFamily="34" charset="0"/>
                <a:ea typeface="Calibri" pitchFamily="34" charset="-122"/>
                <a:cs typeface="Calibri" pitchFamily="34" charset="-120"/>
              </a:rPr>
              <a:t>on-call</a:t>
            </a:r>
            <a:endParaRPr lang="en-US" sz="1200" dirty="0"/>
          </a:p>
        </p:txBody>
      </p:sp>
      <p:sp>
        <p:nvSpPr>
          <p:cNvPr id="19" name="Shape 16"/>
          <p:cNvSpPr/>
          <p:nvPr/>
        </p:nvSpPr>
        <p:spPr>
          <a:xfrm>
            <a:off x="8321040" y="4572000"/>
            <a:ext cx="1097280" cy="1097280"/>
          </a:xfrm>
          <a:prstGeom prst="ellipse">
            <a:avLst/>
          </a:prstGeom>
          <a:solidFill>
            <a:srgbClr val="0E4A46"/>
          </a:solidFill>
          <a:ln w="12700">
            <a:solidFill>
              <a:srgbClr val="0E4A46"/>
            </a:solidFill>
            <a:prstDash val="solid"/>
          </a:ln>
        </p:spPr>
      </p:sp>
      <p:sp>
        <p:nvSpPr>
          <p:cNvPr id="20" name="Text 17"/>
          <p:cNvSpPr txBox="1"/>
          <p:nvPr/>
        </p:nvSpPr>
        <p:spPr>
          <a:xfrm>
            <a:off x="8321040" y="4572000"/>
            <a:ext cx="1097280" cy="1097280"/>
          </a:xfrm>
          <a:prstGeom prst="rect">
            <a:avLst/>
          </a:prstGeom>
          <a:noFill/>
          <a:ln/>
        </p:spPr>
        <p:txBody>
          <a:bodyPr wrap="square" lIns="0" tIns="0" rIns="0" bIns="0" rtlCol="0" anchor="ctr"/>
          <a:lstStyle/>
          <a:p>
            <a:pPr algn="ctr" indent="0" marL="0">
              <a:buNone/>
            </a:pPr>
            <a:endParaRPr lang="en-US" sz="1200" dirty="0"/>
          </a:p>
        </p:txBody>
      </p:sp>
      <p:sp>
        <p:nvSpPr>
          <p:cNvPr id="21" name="Text 18"/>
          <p:cNvSpPr txBox="1"/>
          <p:nvPr/>
        </p:nvSpPr>
        <p:spPr>
          <a:xfrm>
            <a:off x="8321040" y="4572000"/>
            <a:ext cx="1097280" cy="1097280"/>
          </a:xfrm>
          <a:prstGeom prst="rect">
            <a:avLst/>
          </a:prstGeom>
          <a:noFill/>
          <a:ln/>
        </p:spPr>
        <p:txBody>
          <a:bodyPr wrap="square" lIns="0" tIns="0" rIns="0" bIns="0" rtlCol="0" anchor="ctr"/>
          <a:lstStyle/>
          <a:p>
            <a:pPr algn="ctr" indent="0" marL="0">
              <a:buNone/>
            </a:pPr>
            <a:r>
              <a:rPr lang="en-US" sz="1200" b="1" dirty="0">
                <a:solidFill>
                  <a:srgbClr val="CFE9E5"/>
                </a:solidFill>
                <a:latin typeface="Calibri" pitchFamily="34" charset="0"/>
                <a:ea typeface="Calibri" pitchFamily="34" charset="-122"/>
                <a:cs typeface="Calibri" pitchFamily="34" charset="-120"/>
              </a:rPr>
              <a:t>new</a:t>
            </a:r>
            <a:endParaRPr lang="en-US" sz="1200" dirty="0"/>
          </a:p>
          <a:p>
            <a:pPr algn="ctr" indent="0" marL="0">
              <a:buNone/>
            </a:pPr>
            <a:r>
              <a:rPr lang="en-US" sz="1200" b="1" dirty="0">
                <a:solidFill>
                  <a:srgbClr val="CFE9E5"/>
                </a:solidFill>
                <a:latin typeface="Calibri" pitchFamily="34" charset="0"/>
                <a:ea typeface="Calibri" pitchFamily="34" charset="-122"/>
                <a:cs typeface="Calibri" pitchFamily="34" charset="-120"/>
              </a:rPr>
              <a:t>joiner</a:t>
            </a:r>
            <a:endParaRPr lang="en-US" sz="1200" dirty="0"/>
          </a:p>
        </p:txBody>
      </p:sp>
      <p:sp>
        <p:nvSpPr>
          <p:cNvPr id="22" name="Shape 19"/>
          <p:cNvSpPr/>
          <p:nvPr/>
        </p:nvSpPr>
        <p:spPr>
          <a:xfrm>
            <a:off x="10332720" y="4572000"/>
            <a:ext cx="1097280" cy="1097280"/>
          </a:xfrm>
          <a:prstGeom prst="ellipse">
            <a:avLst/>
          </a:prstGeom>
          <a:solidFill>
            <a:srgbClr val="0E4A46"/>
          </a:solidFill>
          <a:ln w="12700">
            <a:solidFill>
              <a:srgbClr val="0E4A46"/>
            </a:solidFill>
            <a:prstDash val="solid"/>
          </a:ln>
        </p:spPr>
      </p:sp>
      <p:sp>
        <p:nvSpPr>
          <p:cNvPr id="23" name="Text 20"/>
          <p:cNvSpPr txBox="1"/>
          <p:nvPr/>
        </p:nvSpPr>
        <p:spPr>
          <a:xfrm>
            <a:off x="10332720" y="4572000"/>
            <a:ext cx="1097280" cy="1097280"/>
          </a:xfrm>
          <a:prstGeom prst="rect">
            <a:avLst/>
          </a:prstGeom>
          <a:noFill/>
          <a:ln/>
        </p:spPr>
        <p:txBody>
          <a:bodyPr wrap="square" lIns="0" tIns="0" rIns="0" bIns="0" rtlCol="0" anchor="ctr"/>
          <a:lstStyle/>
          <a:p>
            <a:pPr algn="ctr" indent="0" marL="0">
              <a:buNone/>
            </a:pPr>
            <a:endParaRPr lang="en-US" sz="1200" dirty="0"/>
          </a:p>
        </p:txBody>
      </p:sp>
      <p:sp>
        <p:nvSpPr>
          <p:cNvPr id="24" name="Text 21"/>
          <p:cNvSpPr txBox="1"/>
          <p:nvPr/>
        </p:nvSpPr>
        <p:spPr>
          <a:xfrm>
            <a:off x="10332720" y="4572000"/>
            <a:ext cx="1097280" cy="1097280"/>
          </a:xfrm>
          <a:prstGeom prst="rect">
            <a:avLst/>
          </a:prstGeom>
          <a:noFill/>
          <a:ln/>
        </p:spPr>
        <p:txBody>
          <a:bodyPr wrap="square" lIns="0" tIns="0" rIns="0" bIns="0" rtlCol="0" anchor="ctr"/>
          <a:lstStyle/>
          <a:p>
            <a:pPr algn="ctr" indent="0" marL="0">
              <a:buNone/>
            </a:pPr>
            <a:r>
              <a:rPr lang="en-US" sz="1200" b="1" dirty="0">
                <a:solidFill>
                  <a:srgbClr val="CFE9E5"/>
                </a:solidFill>
                <a:latin typeface="Calibri" pitchFamily="34" charset="0"/>
                <a:ea typeface="Calibri" pitchFamily="34" charset="-122"/>
                <a:cs typeface="Calibri" pitchFamily="34" charset="-120"/>
              </a:rPr>
              <a:t>learning</a:t>
            </a:r>
            <a:endParaRPr lang="en-US" sz="1200" dirty="0"/>
          </a:p>
          <a:p>
            <a:pPr algn="ctr" indent="0" marL="0">
              <a:buNone/>
            </a:pPr>
            <a:r>
              <a:rPr lang="en-US" sz="1200" b="1" dirty="0">
                <a:solidFill>
                  <a:srgbClr val="CFE9E5"/>
                </a:solidFill>
                <a:latin typeface="Calibri" pitchFamily="34" charset="0"/>
                <a:ea typeface="Calibri" pitchFamily="34" charset="-122"/>
                <a:cs typeface="Calibri" pitchFamily="34" charset="-120"/>
              </a:rPr>
              <a:t>budget</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B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Chunks are islands: two questions top-k cannot answer</a:t>
            </a:r>
            <a:endParaRPr lang="en-US" sz="3000" dirty="0"/>
          </a:p>
        </p:txBody>
      </p:sp>
      <p:sp>
        <p:nvSpPr>
          <p:cNvPr id="4" name="Shape 1"/>
          <p:cNvSpPr/>
          <p:nvPr/>
        </p:nvSpPr>
        <p:spPr>
          <a:xfrm>
            <a:off x="548640" y="1371600"/>
            <a:ext cx="5440680" cy="4617720"/>
          </a:xfrm>
          <a:prstGeom prst="roundRect">
            <a:avLst>
              <a:gd name="adj" fmla="val 2376"/>
            </a:avLst>
          </a:prstGeom>
          <a:solidFill>
            <a:schemeClr val="accent6"/>
          </a:solidFill>
          <a:ln w="12700">
            <a:solidFill>
              <a:schemeClr val="accent6"/>
            </a:solidFill>
            <a:prstDash val="solid"/>
          </a:ln>
        </p:spPr>
      </p:sp>
      <p:sp>
        <p:nvSpPr>
          <p:cNvPr id="5" name="Text 2"/>
          <p:cNvSpPr txBox="1"/>
          <p:nvPr/>
        </p:nvSpPr>
        <p:spPr>
          <a:xfrm>
            <a:off x="822960" y="1536192"/>
            <a:ext cx="4937760" cy="411480"/>
          </a:xfrm>
          <a:prstGeom prst="rect">
            <a:avLst/>
          </a:prstGeom>
          <a:noFill/>
          <a:ln/>
        </p:spPr>
        <p:txBody>
          <a:bodyPr wrap="square" lIns="0" tIns="0" rIns="0" bIns="0" rtlCol="0" anchor="t"/>
          <a:lstStyle/>
          <a:p>
            <a:pPr indent="0" marL="0">
              <a:buNone/>
            </a:pPr>
            <a:r>
              <a:rPr lang="en-US" sz="1900" b="1" dirty="0">
                <a:solidFill>
                  <a:schemeClr val="accent1"/>
                </a:solidFill>
                <a:latin typeface="Calibri" pitchFamily="34" charset="0"/>
                <a:ea typeface="Calibri" pitchFamily="34" charset="-122"/>
                <a:cs typeface="Calibri" pitchFamily="34" charset="-120"/>
              </a:rPr>
              <a:t>1 · Aggregation</a:t>
            </a:r>
            <a:endParaRPr lang="en-US" sz="1900" dirty="0"/>
          </a:p>
        </p:txBody>
      </p:sp>
      <p:sp>
        <p:nvSpPr>
          <p:cNvPr id="6" name="Text 3"/>
          <p:cNvSpPr txBox="1"/>
          <p:nvPr/>
        </p:nvSpPr>
        <p:spPr>
          <a:xfrm>
            <a:off x="822960" y="1965960"/>
            <a:ext cx="4937760" cy="640080"/>
          </a:xfrm>
          <a:prstGeom prst="rect">
            <a:avLst/>
          </a:prstGeom>
          <a:noFill/>
          <a:ln/>
        </p:spPr>
        <p:txBody>
          <a:bodyPr wrap="square" lIns="0" tIns="0" rIns="0" bIns="0" rtlCol="0" anchor="t"/>
          <a:lstStyle/>
          <a:p>
            <a:pPr indent="0" marL="0">
              <a:buNone/>
            </a:pPr>
            <a:r>
              <a:rPr lang="en-US" sz="1450" i="1" dirty="0">
                <a:solidFill>
                  <a:schemeClr val="tx1"/>
                </a:solidFill>
                <a:latin typeface="Calibri" pitchFamily="34" charset="0"/>
                <a:ea typeface="Calibri" pitchFamily="34" charset="-122"/>
                <a:cs typeface="Calibri" pitchFamily="34" charset="-120"/>
              </a:rPr>
              <a:t>"List every rule that applies to graduate trainees."</a:t>
            </a:r>
            <a:endParaRPr lang="en-US" sz="1450" dirty="0"/>
          </a:p>
        </p:txBody>
      </p:sp>
      <p:sp>
        <p:nvSpPr>
          <p:cNvPr id="7" name="Shape 4"/>
          <p:cNvSpPr/>
          <p:nvPr/>
        </p:nvSpPr>
        <p:spPr>
          <a:xfrm>
            <a:off x="822960" y="2651760"/>
            <a:ext cx="4892040" cy="402336"/>
          </a:xfrm>
          <a:prstGeom prst="roundRect">
            <a:avLst>
              <a:gd name="adj" fmla="val 27273"/>
            </a:avLst>
          </a:prstGeom>
          <a:solidFill>
            <a:schemeClr val="bg1"/>
          </a:solidFill>
          <a:ln w="19050">
            <a:solidFill>
              <a:schemeClr val="accent1"/>
            </a:solidFill>
            <a:prstDash val="solid"/>
          </a:ln>
        </p:spPr>
      </p:sp>
      <p:sp>
        <p:nvSpPr>
          <p:cNvPr id="8" name="Text 5"/>
          <p:cNvSpPr txBox="1"/>
          <p:nvPr/>
        </p:nvSpPr>
        <p:spPr>
          <a:xfrm>
            <a:off x="960120" y="2651760"/>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01_leave_policy</a:t>
            </a:r>
            <a:endParaRPr lang="en-US" sz="1150" dirty="0"/>
          </a:p>
        </p:txBody>
      </p:sp>
      <p:sp>
        <p:nvSpPr>
          <p:cNvPr id="9" name="Text 6"/>
          <p:cNvSpPr txBox="1"/>
          <p:nvPr/>
        </p:nvSpPr>
        <p:spPr>
          <a:xfrm>
            <a:off x="2926080" y="2651760"/>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1.5 days leave / month</a:t>
            </a:r>
            <a:endParaRPr lang="en-US" sz="1250" dirty="0"/>
          </a:p>
        </p:txBody>
      </p:sp>
      <p:sp>
        <p:nvSpPr>
          <p:cNvPr id="10" name="Shape 7"/>
          <p:cNvSpPr/>
          <p:nvPr/>
        </p:nvSpPr>
        <p:spPr>
          <a:xfrm>
            <a:off x="822960" y="3127248"/>
            <a:ext cx="4892040" cy="402336"/>
          </a:xfrm>
          <a:prstGeom prst="roundRect">
            <a:avLst>
              <a:gd name="adj" fmla="val 27273"/>
            </a:avLst>
          </a:prstGeom>
          <a:solidFill>
            <a:schemeClr val="bg1"/>
          </a:solidFill>
          <a:ln w="19050">
            <a:solidFill>
              <a:schemeClr val="accent1"/>
            </a:solidFill>
            <a:prstDash val="solid"/>
          </a:ln>
        </p:spPr>
      </p:sp>
      <p:sp>
        <p:nvSpPr>
          <p:cNvPr id="11" name="Text 8"/>
          <p:cNvSpPr txBox="1"/>
          <p:nvPr/>
        </p:nvSpPr>
        <p:spPr>
          <a:xfrm>
            <a:off x="960120" y="3127248"/>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02_hybrid_working</a:t>
            </a:r>
            <a:endParaRPr lang="en-US" sz="1150" dirty="0"/>
          </a:p>
        </p:txBody>
      </p:sp>
      <p:sp>
        <p:nvSpPr>
          <p:cNvPr id="12" name="Text 9"/>
          <p:cNvSpPr txBox="1"/>
          <p:nvPr/>
        </p:nvSpPr>
        <p:spPr>
          <a:xfrm>
            <a:off x="2926080" y="3127248"/>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45 days in office</a:t>
            </a:r>
            <a:endParaRPr lang="en-US" sz="1250" dirty="0"/>
          </a:p>
        </p:txBody>
      </p:sp>
      <p:sp>
        <p:nvSpPr>
          <p:cNvPr id="13" name="Shape 10"/>
          <p:cNvSpPr/>
          <p:nvPr/>
        </p:nvSpPr>
        <p:spPr>
          <a:xfrm>
            <a:off x="822960" y="3602736"/>
            <a:ext cx="4892040" cy="402336"/>
          </a:xfrm>
          <a:prstGeom prst="roundRect">
            <a:avLst>
              <a:gd name="adj" fmla="val 27273"/>
            </a:avLst>
          </a:prstGeom>
          <a:solidFill>
            <a:schemeClr val="bg1"/>
          </a:solidFill>
          <a:ln w="19050">
            <a:solidFill>
              <a:schemeClr val="accent1"/>
            </a:solidFill>
            <a:prstDash val="solid"/>
          </a:ln>
        </p:spPr>
      </p:sp>
      <p:sp>
        <p:nvSpPr>
          <p:cNvPr id="14" name="Text 11"/>
          <p:cNvSpPr txBox="1"/>
          <p:nvPr/>
        </p:nvSpPr>
        <p:spPr>
          <a:xfrm>
            <a:off x="960120" y="3602736"/>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07_oncall</a:t>
            </a:r>
            <a:endParaRPr lang="en-US" sz="1150" dirty="0"/>
          </a:p>
        </p:txBody>
      </p:sp>
      <p:sp>
        <p:nvSpPr>
          <p:cNvPr id="15" name="Text 12"/>
          <p:cNvSpPr txBox="1"/>
          <p:nvPr/>
        </p:nvSpPr>
        <p:spPr>
          <a:xfrm>
            <a:off x="2926080" y="3602736"/>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shadow on-call 6 months</a:t>
            </a:r>
            <a:endParaRPr lang="en-US" sz="1250" dirty="0"/>
          </a:p>
        </p:txBody>
      </p:sp>
      <p:sp>
        <p:nvSpPr>
          <p:cNvPr id="16" name="Shape 13"/>
          <p:cNvSpPr/>
          <p:nvPr/>
        </p:nvSpPr>
        <p:spPr>
          <a:xfrm>
            <a:off x="822960" y="4078224"/>
            <a:ext cx="4892040" cy="402336"/>
          </a:xfrm>
          <a:prstGeom prst="roundRect">
            <a:avLst>
              <a:gd name="adj" fmla="val 27273"/>
            </a:avLst>
          </a:prstGeom>
          <a:solidFill>
            <a:schemeClr val="bg1"/>
          </a:solidFill>
          <a:ln w="19050">
            <a:solidFill>
              <a:schemeClr val="accent1"/>
            </a:solidFill>
            <a:prstDash val="solid"/>
          </a:ln>
        </p:spPr>
      </p:sp>
      <p:sp>
        <p:nvSpPr>
          <p:cNvPr id="17" name="Text 14"/>
          <p:cNvSpPr txBox="1"/>
          <p:nvPr/>
        </p:nvSpPr>
        <p:spPr>
          <a:xfrm>
            <a:off x="960120" y="4078224"/>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10_learning_budget</a:t>
            </a:r>
            <a:endParaRPr lang="en-US" sz="1150" dirty="0"/>
          </a:p>
        </p:txBody>
      </p:sp>
      <p:sp>
        <p:nvSpPr>
          <p:cNvPr id="18" name="Text 15"/>
          <p:cNvSpPr txBox="1"/>
          <p:nvPr/>
        </p:nvSpPr>
        <p:spPr>
          <a:xfrm>
            <a:off x="2926080" y="4078224"/>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INR 25,000 budget</a:t>
            </a:r>
            <a:endParaRPr lang="en-US" sz="1250" dirty="0"/>
          </a:p>
        </p:txBody>
      </p:sp>
      <p:sp>
        <p:nvSpPr>
          <p:cNvPr id="19" name="Shape 16"/>
          <p:cNvSpPr/>
          <p:nvPr/>
        </p:nvSpPr>
        <p:spPr>
          <a:xfrm>
            <a:off x="822960" y="4553712"/>
            <a:ext cx="4892040" cy="402336"/>
          </a:xfrm>
          <a:prstGeom prst="roundRect">
            <a:avLst>
              <a:gd name="adj" fmla="val 27273"/>
            </a:avLst>
          </a:prstGeom>
          <a:solidFill>
            <a:schemeClr val="bg1"/>
          </a:solidFill>
          <a:ln w="19050">
            <a:solidFill>
              <a:schemeClr val="accent1"/>
            </a:solidFill>
            <a:prstDash val="solid"/>
          </a:ln>
        </p:spPr>
      </p:sp>
      <p:sp>
        <p:nvSpPr>
          <p:cNvPr id="20" name="Text 17"/>
          <p:cNvSpPr txBox="1"/>
          <p:nvPr/>
        </p:nvSpPr>
        <p:spPr>
          <a:xfrm>
            <a:off x="960120" y="4553712"/>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10_learning_budget</a:t>
            </a:r>
            <a:endParaRPr lang="en-US" sz="1150" dirty="0"/>
          </a:p>
        </p:txBody>
      </p:sp>
      <p:sp>
        <p:nvSpPr>
          <p:cNvPr id="21" name="Text 18"/>
          <p:cNvSpPr txBox="1"/>
          <p:nvPr/>
        </p:nvSpPr>
        <p:spPr>
          <a:xfrm>
            <a:off x="2926080" y="4553712"/>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GenAI track mandatory</a:t>
            </a:r>
            <a:endParaRPr lang="en-US" sz="1250" dirty="0"/>
          </a:p>
        </p:txBody>
      </p:sp>
      <p:sp>
        <p:nvSpPr>
          <p:cNvPr id="22" name="Text 19"/>
          <p:cNvSpPr txBox="1"/>
          <p:nvPr/>
        </p:nvSpPr>
        <p:spPr>
          <a:xfrm>
            <a:off x="822960" y="5166360"/>
            <a:ext cx="4937760" cy="731520"/>
          </a:xfrm>
          <a:prstGeom prst="rect">
            <a:avLst/>
          </a:prstGeom>
          <a:noFill/>
          <a:ln/>
        </p:spPr>
        <p:txBody>
          <a:bodyPr wrap="square" lIns="0" tIns="0" rIns="0" bIns="0" rtlCol="0" anchor="t"/>
          <a:lstStyle/>
          <a:p>
            <a:pPr indent="0" marL="0">
              <a:buNone/>
            </a:pPr>
            <a:r>
              <a:rPr lang="en-US" sz="1350" b="1" dirty="0">
                <a:solidFill>
                  <a:schemeClr val="accent1"/>
                </a:solidFill>
                <a:latin typeface="Calibri" pitchFamily="34" charset="0"/>
                <a:ea typeface="Calibri" pitchFamily="34" charset="-122"/>
                <a:cs typeface="Calibri" pitchFamily="34" charset="-120"/>
              </a:rPr>
              <a:t>5 facts in 4 documents. Top-5 by similarity rarely returns all of them.</a:t>
            </a:r>
            <a:endParaRPr lang="en-US" sz="1350" dirty="0"/>
          </a:p>
        </p:txBody>
      </p:sp>
      <p:sp>
        <p:nvSpPr>
          <p:cNvPr id="23" name="Shape 20"/>
          <p:cNvSpPr/>
          <p:nvPr/>
        </p:nvSpPr>
        <p:spPr>
          <a:xfrm>
            <a:off x="6172200" y="1371600"/>
            <a:ext cx="5440680" cy="4617720"/>
          </a:xfrm>
          <a:prstGeom prst="roundRect">
            <a:avLst>
              <a:gd name="adj" fmla="val 2376"/>
            </a:avLst>
          </a:prstGeom>
          <a:solidFill>
            <a:schemeClr val="accent5"/>
          </a:solidFill>
          <a:ln w="12700">
            <a:solidFill>
              <a:schemeClr val="accent5"/>
            </a:solidFill>
            <a:prstDash val="solid"/>
          </a:ln>
        </p:spPr>
      </p:sp>
      <p:sp>
        <p:nvSpPr>
          <p:cNvPr id="24" name="Text 21"/>
          <p:cNvSpPr txBox="1"/>
          <p:nvPr/>
        </p:nvSpPr>
        <p:spPr>
          <a:xfrm>
            <a:off x="6446520" y="1536192"/>
            <a:ext cx="4937760" cy="411480"/>
          </a:xfrm>
          <a:prstGeom prst="rect">
            <a:avLst/>
          </a:prstGeom>
          <a:noFill/>
          <a:ln/>
        </p:spPr>
        <p:txBody>
          <a:bodyPr wrap="square" lIns="0" tIns="0" rIns="0" bIns="0" rtlCol="0" anchor="t"/>
          <a:lstStyle/>
          <a:p>
            <a:pPr indent="0" marL="0">
              <a:buNone/>
            </a:pPr>
            <a:r>
              <a:rPr lang="en-US" sz="1900" b="1" dirty="0">
                <a:solidFill>
                  <a:schemeClr val="accent2"/>
                </a:solidFill>
                <a:latin typeface="Calibri" pitchFamily="34" charset="0"/>
                <a:ea typeface="Calibri" pitchFamily="34" charset="-122"/>
                <a:cs typeface="Calibri" pitchFamily="34" charset="-120"/>
              </a:rPr>
              <a:t>2 · Relationships</a:t>
            </a:r>
            <a:endParaRPr lang="en-US" sz="1900" dirty="0"/>
          </a:p>
        </p:txBody>
      </p:sp>
      <p:sp>
        <p:nvSpPr>
          <p:cNvPr id="25" name="Text 22"/>
          <p:cNvSpPr txBox="1"/>
          <p:nvPr/>
        </p:nvSpPr>
        <p:spPr>
          <a:xfrm>
            <a:off x="6446520" y="1965960"/>
            <a:ext cx="4937760" cy="640080"/>
          </a:xfrm>
          <a:prstGeom prst="rect">
            <a:avLst/>
          </a:prstGeom>
          <a:noFill/>
          <a:ln/>
        </p:spPr>
        <p:txBody>
          <a:bodyPr wrap="square" lIns="0" tIns="0" rIns="0" bIns="0" rtlCol="0" anchor="t"/>
          <a:lstStyle/>
          <a:p>
            <a:pPr indent="0" marL="0">
              <a:buNone/>
            </a:pPr>
            <a:r>
              <a:rPr lang="en-US" sz="1450" i="1" dirty="0">
                <a:solidFill>
                  <a:schemeClr val="tx1"/>
                </a:solidFill>
                <a:latin typeface="Calibri" pitchFamily="34" charset="0"/>
                <a:ea typeface="Calibri" pitchFamily="34" charset="-122"/>
                <a:cs typeface="Calibri" pitchFamily="34" charset="-120"/>
              </a:rPr>
              <a:t>"What does PAY-E4035 have to do with the HSM?"</a:t>
            </a:r>
            <a:endParaRPr lang="en-US" sz="1450" dirty="0"/>
          </a:p>
        </p:txBody>
      </p:sp>
      <p:sp>
        <p:nvSpPr>
          <p:cNvPr id="26" name="Shape 23"/>
          <p:cNvSpPr/>
          <p:nvPr/>
        </p:nvSpPr>
        <p:spPr>
          <a:xfrm>
            <a:off x="6446520" y="2651760"/>
            <a:ext cx="4892040" cy="402336"/>
          </a:xfrm>
          <a:prstGeom prst="roundRect">
            <a:avLst>
              <a:gd name="adj" fmla="val 27273"/>
            </a:avLst>
          </a:prstGeom>
          <a:solidFill>
            <a:schemeClr val="bg1"/>
          </a:solidFill>
          <a:ln w="19050">
            <a:solidFill>
              <a:schemeClr val="accent2"/>
            </a:solidFill>
            <a:prstDash val="solid"/>
          </a:ln>
        </p:spPr>
      </p:sp>
      <p:sp>
        <p:nvSpPr>
          <p:cNvPr id="27" name="Text 24"/>
          <p:cNvSpPr txBox="1"/>
          <p:nvPr/>
        </p:nvSpPr>
        <p:spPr>
          <a:xfrm>
            <a:off x="6583680" y="2651760"/>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04_payment_errors</a:t>
            </a:r>
            <a:endParaRPr lang="en-US" sz="1150" dirty="0"/>
          </a:p>
        </p:txBody>
      </p:sp>
      <p:sp>
        <p:nvSpPr>
          <p:cNvPr id="28" name="Text 25"/>
          <p:cNvSpPr txBox="1"/>
          <p:nvPr/>
        </p:nvSpPr>
        <p:spPr>
          <a:xfrm>
            <a:off x="8549640" y="2651760"/>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PAY-E4035 → re-sign with HSM key</a:t>
            </a:r>
            <a:endParaRPr lang="en-US" sz="1250" dirty="0"/>
          </a:p>
        </p:txBody>
      </p:sp>
      <p:sp>
        <p:nvSpPr>
          <p:cNvPr id="29" name="Shape 26"/>
          <p:cNvSpPr/>
          <p:nvPr/>
        </p:nvSpPr>
        <p:spPr>
          <a:xfrm>
            <a:off x="6446520" y="3127248"/>
            <a:ext cx="4892040" cy="402336"/>
          </a:xfrm>
          <a:prstGeom prst="roundRect">
            <a:avLst>
              <a:gd name="adj" fmla="val 27273"/>
            </a:avLst>
          </a:prstGeom>
          <a:solidFill>
            <a:schemeClr val="bg1"/>
          </a:solidFill>
          <a:ln w="19050">
            <a:solidFill>
              <a:schemeClr val="accent2"/>
            </a:solidFill>
            <a:prstDash val="solid"/>
          </a:ln>
        </p:spPr>
      </p:sp>
      <p:sp>
        <p:nvSpPr>
          <p:cNvPr id="30" name="Text 27"/>
          <p:cNvSpPr txBox="1"/>
          <p:nvPr/>
        </p:nvSpPr>
        <p:spPr>
          <a:xfrm>
            <a:off x="6583680" y="3127248"/>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11_glossary</a:t>
            </a:r>
            <a:endParaRPr lang="en-US" sz="1150" dirty="0"/>
          </a:p>
        </p:txBody>
      </p:sp>
      <p:sp>
        <p:nvSpPr>
          <p:cNvPr id="31" name="Text 28"/>
          <p:cNvSpPr txBox="1"/>
          <p:nvPr/>
        </p:nvSpPr>
        <p:spPr>
          <a:xfrm>
            <a:off x="8549640" y="3127248"/>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HSM = Hardware Security Module</a:t>
            </a:r>
            <a:endParaRPr lang="en-US" sz="1250" dirty="0"/>
          </a:p>
        </p:txBody>
      </p:sp>
      <p:sp>
        <p:nvSpPr>
          <p:cNvPr id="32" name="Shape 29"/>
          <p:cNvSpPr/>
          <p:nvPr/>
        </p:nvSpPr>
        <p:spPr>
          <a:xfrm>
            <a:off x="6446520" y="3602736"/>
            <a:ext cx="4892040" cy="402336"/>
          </a:xfrm>
          <a:prstGeom prst="roundRect">
            <a:avLst>
              <a:gd name="adj" fmla="val 27273"/>
            </a:avLst>
          </a:prstGeom>
          <a:solidFill>
            <a:schemeClr val="bg1"/>
          </a:solidFill>
          <a:ln w="12700">
            <a:solidFill>
              <a:srgbClr val="E2E7EE"/>
            </a:solidFill>
            <a:prstDash val="solid"/>
          </a:ln>
        </p:spPr>
      </p:sp>
      <p:sp>
        <p:nvSpPr>
          <p:cNvPr id="33" name="Text 30"/>
          <p:cNvSpPr txBox="1"/>
          <p:nvPr/>
        </p:nvSpPr>
        <p:spPr>
          <a:xfrm>
            <a:off x="6583680" y="3602736"/>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06_release</a:t>
            </a:r>
            <a:endParaRPr lang="en-US" sz="1150" dirty="0"/>
          </a:p>
        </p:txBody>
      </p:sp>
      <p:sp>
        <p:nvSpPr>
          <p:cNvPr id="34" name="Text 31"/>
          <p:cNvSpPr txBox="1"/>
          <p:nvPr/>
        </p:nvSpPr>
        <p:spPr>
          <a:xfrm>
            <a:off x="8549640" y="3602736"/>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CAB, rollback …</a:t>
            </a:r>
            <a:endParaRPr lang="en-US" sz="1250" dirty="0"/>
          </a:p>
        </p:txBody>
      </p:sp>
      <p:sp>
        <p:nvSpPr>
          <p:cNvPr id="35" name="Shape 32"/>
          <p:cNvSpPr/>
          <p:nvPr/>
        </p:nvSpPr>
        <p:spPr>
          <a:xfrm>
            <a:off x="6446520" y="4078224"/>
            <a:ext cx="4892040" cy="402336"/>
          </a:xfrm>
          <a:prstGeom prst="roundRect">
            <a:avLst>
              <a:gd name="adj" fmla="val 27273"/>
            </a:avLst>
          </a:prstGeom>
          <a:solidFill>
            <a:schemeClr val="bg1"/>
          </a:solidFill>
          <a:ln w="12700">
            <a:solidFill>
              <a:srgbClr val="E2E7EE"/>
            </a:solidFill>
            <a:prstDash val="solid"/>
          </a:ln>
        </p:spPr>
      </p:sp>
      <p:sp>
        <p:nvSpPr>
          <p:cNvPr id="36" name="Text 33"/>
          <p:cNvSpPr txBox="1"/>
          <p:nvPr/>
        </p:nvSpPr>
        <p:spPr>
          <a:xfrm>
            <a:off x="6583680" y="4078224"/>
            <a:ext cx="2011680" cy="402336"/>
          </a:xfrm>
          <a:prstGeom prst="rect">
            <a:avLst/>
          </a:prstGeom>
          <a:noFill/>
          <a:ln/>
        </p:spPr>
        <p:txBody>
          <a:bodyPr wrap="square" lIns="0" tIns="0" rIns="0" bIns="0" rtlCol="0" anchor="ctr"/>
          <a:lstStyle/>
          <a:p>
            <a:pPr indent="0" marL="0">
              <a:buNone/>
            </a:pPr>
            <a:r>
              <a:rPr lang="en-US" sz="1150" dirty="0">
                <a:solidFill>
                  <a:schemeClr val="accent3"/>
                </a:solidFill>
                <a:latin typeface="Consolas" pitchFamily="34" charset="0"/>
                <a:ea typeface="Consolas" pitchFamily="34" charset="-122"/>
                <a:cs typeface="Consolas" pitchFamily="34" charset="-120"/>
              </a:rPr>
              <a:t>12_dr_retention</a:t>
            </a:r>
            <a:endParaRPr lang="en-US" sz="1150" dirty="0"/>
          </a:p>
        </p:txBody>
      </p:sp>
      <p:sp>
        <p:nvSpPr>
          <p:cNvPr id="37" name="Text 34"/>
          <p:cNvSpPr txBox="1"/>
          <p:nvPr/>
        </p:nvSpPr>
        <p:spPr>
          <a:xfrm>
            <a:off x="8549640" y="4078224"/>
            <a:ext cx="2743200" cy="402336"/>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RTO, RPO …</a:t>
            </a:r>
            <a:endParaRPr lang="en-US" sz="1250" dirty="0"/>
          </a:p>
        </p:txBody>
      </p:sp>
      <p:sp>
        <p:nvSpPr>
          <p:cNvPr id="38" name="Text 35"/>
          <p:cNvSpPr txBox="1"/>
          <p:nvPr/>
        </p:nvSpPr>
        <p:spPr>
          <a:xfrm>
            <a:off x="6446520" y="5166360"/>
            <a:ext cx="4937760" cy="731520"/>
          </a:xfrm>
          <a:prstGeom prst="rect">
            <a:avLst/>
          </a:prstGeom>
          <a:noFill/>
          <a:ln/>
        </p:spPr>
        <p:txBody>
          <a:bodyPr wrap="square" lIns="0" tIns="0" rIns="0" bIns="0" rtlCol="0" anchor="t"/>
          <a:lstStyle/>
          <a:p>
            <a:pPr indent="0" marL="0">
              <a:buNone/>
            </a:pPr>
            <a:r>
              <a:rPr lang="en-US" sz="1350" b="1" dirty="0">
                <a:solidFill>
                  <a:schemeClr val="accent2"/>
                </a:solidFill>
                <a:latin typeface="Calibri" pitchFamily="34" charset="0"/>
                <a:ea typeface="Calibri" pitchFamily="34" charset="-122"/>
                <a:cs typeface="Calibri" pitchFamily="34" charset="-120"/>
              </a:rPr>
              <a:t>The answer is the link (a shared entity), not a chunk similar to the question.</a:t>
            </a:r>
            <a:endParaRPr lang="en-US" sz="135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Graph RAG adds structure: entities as nodes, relations as edges</a:t>
            </a:r>
            <a:endParaRPr lang="en-US" sz="3000" dirty="0"/>
          </a:p>
        </p:txBody>
      </p:sp>
      <p:sp>
        <p:nvSpPr>
          <p:cNvPr id="4" name="Shape 1"/>
          <p:cNvSpPr/>
          <p:nvPr/>
        </p:nvSpPr>
        <p:spPr>
          <a:xfrm flipH="1" flipV="1">
            <a:off x="1508760" y="2011680"/>
            <a:ext cx="2103120" cy="1280160"/>
          </a:xfrm>
          <a:prstGeom prst="line">
            <a:avLst/>
          </a:prstGeom>
          <a:noFill/>
          <a:ln w="19050">
            <a:solidFill>
              <a:srgbClr val="A8B4C3"/>
            </a:solidFill>
            <a:prstDash val="solid"/>
          </a:ln>
        </p:spPr>
      </p:sp>
      <p:sp>
        <p:nvSpPr>
          <p:cNvPr id="5" name="Shape 2"/>
          <p:cNvSpPr/>
          <p:nvPr/>
        </p:nvSpPr>
        <p:spPr>
          <a:xfrm flipH="1">
            <a:off x="1600200" y="3291840"/>
            <a:ext cx="2011680" cy="1463040"/>
          </a:xfrm>
          <a:prstGeom prst="line">
            <a:avLst/>
          </a:prstGeom>
          <a:noFill/>
          <a:ln w="19050">
            <a:solidFill>
              <a:srgbClr val="A8B4C3"/>
            </a:solidFill>
            <a:prstDash val="solid"/>
          </a:ln>
        </p:spPr>
      </p:sp>
      <p:sp>
        <p:nvSpPr>
          <p:cNvPr id="6" name="Shape 3"/>
          <p:cNvSpPr/>
          <p:nvPr/>
        </p:nvSpPr>
        <p:spPr>
          <a:xfrm flipV="1">
            <a:off x="3611880" y="1874520"/>
            <a:ext cx="2194560" cy="1417320"/>
          </a:xfrm>
          <a:prstGeom prst="line">
            <a:avLst/>
          </a:prstGeom>
          <a:noFill/>
          <a:ln w="19050">
            <a:solidFill>
              <a:srgbClr val="A8B4C3"/>
            </a:solidFill>
            <a:prstDash val="solid"/>
          </a:ln>
        </p:spPr>
      </p:sp>
      <p:sp>
        <p:nvSpPr>
          <p:cNvPr id="7" name="Shape 4"/>
          <p:cNvSpPr/>
          <p:nvPr/>
        </p:nvSpPr>
        <p:spPr>
          <a:xfrm>
            <a:off x="3611880" y="3291840"/>
            <a:ext cx="2286000" cy="1554480"/>
          </a:xfrm>
          <a:prstGeom prst="line">
            <a:avLst/>
          </a:prstGeom>
          <a:noFill/>
          <a:ln w="19050">
            <a:solidFill>
              <a:srgbClr val="A8B4C3"/>
            </a:solidFill>
            <a:prstDash val="solid"/>
          </a:ln>
        </p:spPr>
      </p:sp>
      <p:sp>
        <p:nvSpPr>
          <p:cNvPr id="8" name="Shape 5"/>
          <p:cNvSpPr/>
          <p:nvPr/>
        </p:nvSpPr>
        <p:spPr>
          <a:xfrm flipH="1">
            <a:off x="1965960" y="3291840"/>
            <a:ext cx="1645920" cy="45720"/>
          </a:xfrm>
          <a:prstGeom prst="line">
            <a:avLst/>
          </a:prstGeom>
          <a:noFill/>
          <a:ln w="19050">
            <a:solidFill>
              <a:srgbClr val="A8B4C3"/>
            </a:solidFill>
            <a:prstDash val="solid"/>
          </a:ln>
        </p:spPr>
      </p:sp>
      <p:sp>
        <p:nvSpPr>
          <p:cNvPr id="9" name="Shape 6"/>
          <p:cNvSpPr/>
          <p:nvPr/>
        </p:nvSpPr>
        <p:spPr>
          <a:xfrm>
            <a:off x="8366760" y="2377440"/>
            <a:ext cx="1828800" cy="1188720"/>
          </a:xfrm>
          <a:prstGeom prst="line">
            <a:avLst/>
          </a:prstGeom>
          <a:noFill/>
          <a:ln w="19050">
            <a:solidFill>
              <a:srgbClr val="A8B4C3"/>
            </a:solidFill>
            <a:prstDash val="solid"/>
          </a:ln>
        </p:spPr>
      </p:sp>
      <p:sp>
        <p:nvSpPr>
          <p:cNvPr id="10" name="Shape 7"/>
          <p:cNvSpPr/>
          <p:nvPr/>
        </p:nvSpPr>
        <p:spPr>
          <a:xfrm flipH="1">
            <a:off x="8458200" y="3566160"/>
            <a:ext cx="1737360" cy="1188720"/>
          </a:xfrm>
          <a:prstGeom prst="line">
            <a:avLst/>
          </a:prstGeom>
          <a:noFill/>
          <a:ln w="19050">
            <a:solidFill>
              <a:srgbClr val="A8B4C3"/>
            </a:solidFill>
            <a:prstDash val="solid"/>
          </a:ln>
        </p:spPr>
      </p:sp>
      <p:sp>
        <p:nvSpPr>
          <p:cNvPr id="11" name="Shape 8"/>
          <p:cNvSpPr/>
          <p:nvPr/>
        </p:nvSpPr>
        <p:spPr>
          <a:xfrm flipV="1">
            <a:off x="10195560" y="2011680"/>
            <a:ext cx="731520" cy="1554480"/>
          </a:xfrm>
          <a:prstGeom prst="line">
            <a:avLst/>
          </a:prstGeom>
          <a:noFill/>
          <a:ln w="19050">
            <a:solidFill>
              <a:srgbClr val="A8B4C3"/>
            </a:solidFill>
            <a:prstDash val="solid"/>
          </a:ln>
        </p:spPr>
      </p:sp>
      <p:sp>
        <p:nvSpPr>
          <p:cNvPr id="12" name="Shape 9"/>
          <p:cNvSpPr/>
          <p:nvPr/>
        </p:nvSpPr>
        <p:spPr>
          <a:xfrm>
            <a:off x="1508760" y="2011680"/>
            <a:ext cx="457200" cy="1325880"/>
          </a:xfrm>
          <a:prstGeom prst="line">
            <a:avLst/>
          </a:prstGeom>
          <a:noFill/>
          <a:ln w="19050">
            <a:solidFill>
              <a:srgbClr val="A8B4C3"/>
            </a:solidFill>
            <a:prstDash val="solid"/>
          </a:ln>
        </p:spPr>
      </p:sp>
      <p:sp>
        <p:nvSpPr>
          <p:cNvPr id="13" name="Shape 10"/>
          <p:cNvSpPr/>
          <p:nvPr/>
        </p:nvSpPr>
        <p:spPr>
          <a:xfrm>
            <a:off x="2834640" y="3017520"/>
            <a:ext cx="1554480" cy="548640"/>
          </a:xfrm>
          <a:prstGeom prst="roundRect">
            <a:avLst>
              <a:gd name="adj" fmla="val 50000"/>
            </a:avLst>
          </a:prstGeom>
          <a:solidFill>
            <a:schemeClr val="accent1"/>
          </a:solidFill>
          <a:ln w="19050">
            <a:solidFill>
              <a:schemeClr val="accent1"/>
            </a:solidFill>
            <a:prstDash val="solid"/>
          </a:ln>
        </p:spPr>
      </p:sp>
      <p:sp>
        <p:nvSpPr>
          <p:cNvPr id="14" name="Text 11"/>
          <p:cNvSpPr txBox="1"/>
          <p:nvPr/>
        </p:nvSpPr>
        <p:spPr>
          <a:xfrm>
            <a:off x="2834640" y="3017520"/>
            <a:ext cx="1554480" cy="548640"/>
          </a:xfrm>
          <a:prstGeom prst="rect">
            <a:avLst/>
          </a:prstGeom>
          <a:noFill/>
          <a:ln/>
        </p:spPr>
        <p:txBody>
          <a:bodyPr wrap="square" lIns="0" tIns="0" rIns="0" bIns="0" rtlCol="0" anchor="ctr"/>
          <a:lstStyle/>
          <a:p>
            <a:pPr algn="ctr" indent="0" marL="0">
              <a:buNone/>
            </a:pPr>
            <a:r>
              <a:rPr lang="en-US" sz="1250" b="1" dirty="0">
                <a:solidFill>
                  <a:schemeClr val="bg1"/>
                </a:solidFill>
                <a:latin typeface="Calibri" pitchFamily="34" charset="0"/>
                <a:ea typeface="Calibri" pitchFamily="34" charset="-122"/>
                <a:cs typeface="Calibri" pitchFamily="34" charset="-120"/>
              </a:rPr>
              <a:t>graduate trainee</a:t>
            </a:r>
            <a:endParaRPr lang="en-US" sz="1250" dirty="0"/>
          </a:p>
        </p:txBody>
      </p:sp>
      <p:sp>
        <p:nvSpPr>
          <p:cNvPr id="15" name="Shape 12"/>
          <p:cNvSpPr/>
          <p:nvPr/>
        </p:nvSpPr>
        <p:spPr>
          <a:xfrm>
            <a:off x="731520" y="1737360"/>
            <a:ext cx="1554480" cy="548640"/>
          </a:xfrm>
          <a:prstGeom prst="roundRect">
            <a:avLst>
              <a:gd name="adj" fmla="val 50000"/>
            </a:avLst>
          </a:prstGeom>
          <a:solidFill>
            <a:schemeClr val="bg1"/>
          </a:solidFill>
          <a:ln w="19050">
            <a:solidFill>
              <a:schemeClr val="accent3"/>
            </a:solidFill>
            <a:prstDash val="solid"/>
          </a:ln>
        </p:spPr>
      </p:sp>
      <p:sp>
        <p:nvSpPr>
          <p:cNvPr id="16" name="Text 13"/>
          <p:cNvSpPr txBox="1"/>
          <p:nvPr/>
        </p:nvSpPr>
        <p:spPr>
          <a:xfrm>
            <a:off x="731520" y="173736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earned leave</a:t>
            </a:r>
            <a:endParaRPr lang="en-US" sz="1250" dirty="0"/>
          </a:p>
        </p:txBody>
      </p:sp>
      <p:sp>
        <p:nvSpPr>
          <p:cNvPr id="17" name="Shape 14"/>
          <p:cNvSpPr/>
          <p:nvPr/>
        </p:nvSpPr>
        <p:spPr>
          <a:xfrm>
            <a:off x="822960" y="4480560"/>
            <a:ext cx="1554480" cy="548640"/>
          </a:xfrm>
          <a:prstGeom prst="roundRect">
            <a:avLst>
              <a:gd name="adj" fmla="val 50000"/>
            </a:avLst>
          </a:prstGeom>
          <a:solidFill>
            <a:schemeClr val="bg1"/>
          </a:solidFill>
          <a:ln w="19050">
            <a:solidFill>
              <a:schemeClr val="accent3"/>
            </a:solidFill>
            <a:prstDash val="solid"/>
          </a:ln>
        </p:spPr>
      </p:sp>
      <p:sp>
        <p:nvSpPr>
          <p:cNvPr id="18" name="Text 15"/>
          <p:cNvSpPr txBox="1"/>
          <p:nvPr/>
        </p:nvSpPr>
        <p:spPr>
          <a:xfrm>
            <a:off x="822960" y="448056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new joiner</a:t>
            </a:r>
            <a:endParaRPr lang="en-US" sz="1250" dirty="0"/>
          </a:p>
        </p:txBody>
      </p:sp>
      <p:sp>
        <p:nvSpPr>
          <p:cNvPr id="19" name="Shape 16"/>
          <p:cNvSpPr/>
          <p:nvPr/>
        </p:nvSpPr>
        <p:spPr>
          <a:xfrm>
            <a:off x="5029200" y="1600200"/>
            <a:ext cx="1554480" cy="548640"/>
          </a:xfrm>
          <a:prstGeom prst="roundRect">
            <a:avLst>
              <a:gd name="adj" fmla="val 50000"/>
            </a:avLst>
          </a:prstGeom>
          <a:solidFill>
            <a:schemeClr val="bg1"/>
          </a:solidFill>
          <a:ln w="19050">
            <a:solidFill>
              <a:schemeClr val="accent3"/>
            </a:solidFill>
            <a:prstDash val="solid"/>
          </a:ln>
        </p:spPr>
      </p:sp>
      <p:sp>
        <p:nvSpPr>
          <p:cNvPr id="20" name="Text 17"/>
          <p:cNvSpPr txBox="1"/>
          <p:nvPr/>
        </p:nvSpPr>
        <p:spPr>
          <a:xfrm>
            <a:off x="5029200" y="160020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on-call</a:t>
            </a:r>
            <a:endParaRPr lang="en-US" sz="1250" dirty="0"/>
          </a:p>
        </p:txBody>
      </p:sp>
      <p:sp>
        <p:nvSpPr>
          <p:cNvPr id="21" name="Shape 18"/>
          <p:cNvSpPr/>
          <p:nvPr/>
        </p:nvSpPr>
        <p:spPr>
          <a:xfrm>
            <a:off x="5120640" y="4572000"/>
            <a:ext cx="1554480" cy="548640"/>
          </a:xfrm>
          <a:prstGeom prst="roundRect">
            <a:avLst>
              <a:gd name="adj" fmla="val 50000"/>
            </a:avLst>
          </a:prstGeom>
          <a:solidFill>
            <a:schemeClr val="bg1"/>
          </a:solidFill>
          <a:ln w="19050">
            <a:solidFill>
              <a:schemeClr val="accent3"/>
            </a:solidFill>
            <a:prstDash val="solid"/>
          </a:ln>
        </p:spPr>
      </p:sp>
      <p:sp>
        <p:nvSpPr>
          <p:cNvPr id="22" name="Text 19"/>
          <p:cNvSpPr txBox="1"/>
          <p:nvPr/>
        </p:nvSpPr>
        <p:spPr>
          <a:xfrm>
            <a:off x="5120640" y="457200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NovaAcademy</a:t>
            </a:r>
            <a:endParaRPr lang="en-US" sz="1250" dirty="0"/>
          </a:p>
        </p:txBody>
      </p:sp>
      <p:sp>
        <p:nvSpPr>
          <p:cNvPr id="23" name="Shape 20"/>
          <p:cNvSpPr/>
          <p:nvPr/>
        </p:nvSpPr>
        <p:spPr>
          <a:xfrm>
            <a:off x="1188720" y="3063240"/>
            <a:ext cx="1554480" cy="548640"/>
          </a:xfrm>
          <a:prstGeom prst="roundRect">
            <a:avLst>
              <a:gd name="adj" fmla="val 50000"/>
            </a:avLst>
          </a:prstGeom>
          <a:solidFill>
            <a:schemeClr val="bg1"/>
          </a:solidFill>
          <a:ln w="19050">
            <a:solidFill>
              <a:schemeClr val="accent3"/>
            </a:solidFill>
            <a:prstDash val="solid"/>
          </a:ln>
        </p:spPr>
      </p:sp>
      <p:sp>
        <p:nvSpPr>
          <p:cNvPr id="24" name="Text 21"/>
          <p:cNvSpPr txBox="1"/>
          <p:nvPr/>
        </p:nvSpPr>
        <p:spPr>
          <a:xfrm>
            <a:off x="1188720" y="306324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intern</a:t>
            </a:r>
            <a:endParaRPr lang="en-US" sz="1250" dirty="0"/>
          </a:p>
        </p:txBody>
      </p:sp>
      <p:sp>
        <p:nvSpPr>
          <p:cNvPr id="25" name="Shape 22"/>
          <p:cNvSpPr/>
          <p:nvPr/>
        </p:nvSpPr>
        <p:spPr>
          <a:xfrm>
            <a:off x="7589520" y="2103120"/>
            <a:ext cx="1554480" cy="548640"/>
          </a:xfrm>
          <a:prstGeom prst="roundRect">
            <a:avLst>
              <a:gd name="adj" fmla="val 50000"/>
            </a:avLst>
          </a:prstGeom>
          <a:solidFill>
            <a:schemeClr val="accent2"/>
          </a:solidFill>
          <a:ln w="19050">
            <a:solidFill>
              <a:schemeClr val="accent2"/>
            </a:solidFill>
            <a:prstDash val="solid"/>
          </a:ln>
        </p:spPr>
      </p:sp>
      <p:sp>
        <p:nvSpPr>
          <p:cNvPr id="26" name="Text 23"/>
          <p:cNvSpPr txBox="1"/>
          <p:nvPr/>
        </p:nvSpPr>
        <p:spPr>
          <a:xfrm>
            <a:off x="7589520" y="2103120"/>
            <a:ext cx="1554480" cy="548640"/>
          </a:xfrm>
          <a:prstGeom prst="rect">
            <a:avLst/>
          </a:prstGeom>
          <a:noFill/>
          <a:ln/>
        </p:spPr>
        <p:txBody>
          <a:bodyPr wrap="square" lIns="0" tIns="0" rIns="0" bIns="0" rtlCol="0" anchor="ctr"/>
          <a:lstStyle/>
          <a:p>
            <a:pPr algn="ctr" indent="0" marL="0">
              <a:buNone/>
            </a:pPr>
            <a:r>
              <a:rPr lang="en-US" sz="1250" b="1" dirty="0">
                <a:solidFill>
                  <a:schemeClr val="bg1"/>
                </a:solidFill>
                <a:latin typeface="Calibri" pitchFamily="34" charset="0"/>
                <a:ea typeface="Calibri" pitchFamily="34" charset="-122"/>
                <a:cs typeface="Calibri" pitchFamily="34" charset="-120"/>
              </a:rPr>
              <a:t>PAY-E4035</a:t>
            </a:r>
            <a:endParaRPr lang="en-US" sz="1250" dirty="0"/>
          </a:p>
        </p:txBody>
      </p:sp>
      <p:sp>
        <p:nvSpPr>
          <p:cNvPr id="27" name="Shape 24"/>
          <p:cNvSpPr/>
          <p:nvPr/>
        </p:nvSpPr>
        <p:spPr>
          <a:xfrm>
            <a:off x="9418320" y="3291840"/>
            <a:ext cx="1554480" cy="548640"/>
          </a:xfrm>
          <a:prstGeom prst="roundRect">
            <a:avLst>
              <a:gd name="adj" fmla="val 50000"/>
            </a:avLst>
          </a:prstGeom>
          <a:solidFill>
            <a:schemeClr val="bg1"/>
          </a:solidFill>
          <a:ln w="19050">
            <a:solidFill>
              <a:schemeClr val="accent2"/>
            </a:solidFill>
            <a:prstDash val="solid"/>
          </a:ln>
        </p:spPr>
      </p:sp>
      <p:sp>
        <p:nvSpPr>
          <p:cNvPr id="28" name="Text 25"/>
          <p:cNvSpPr txBox="1"/>
          <p:nvPr/>
        </p:nvSpPr>
        <p:spPr>
          <a:xfrm>
            <a:off x="9418320" y="329184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HSM</a:t>
            </a:r>
            <a:endParaRPr lang="en-US" sz="1250" dirty="0"/>
          </a:p>
        </p:txBody>
      </p:sp>
      <p:sp>
        <p:nvSpPr>
          <p:cNvPr id="29" name="Shape 26"/>
          <p:cNvSpPr/>
          <p:nvPr/>
        </p:nvSpPr>
        <p:spPr>
          <a:xfrm>
            <a:off x="7680960" y="4480560"/>
            <a:ext cx="1554480" cy="548640"/>
          </a:xfrm>
          <a:prstGeom prst="roundRect">
            <a:avLst>
              <a:gd name="adj" fmla="val 50000"/>
            </a:avLst>
          </a:prstGeom>
          <a:solidFill>
            <a:schemeClr val="bg1"/>
          </a:solidFill>
          <a:ln w="19050">
            <a:solidFill>
              <a:schemeClr val="accent3"/>
            </a:solidFill>
            <a:prstDash val="solid"/>
          </a:ln>
        </p:spPr>
      </p:sp>
      <p:sp>
        <p:nvSpPr>
          <p:cNvPr id="30" name="Text 27"/>
          <p:cNvSpPr txBox="1"/>
          <p:nvPr/>
        </p:nvSpPr>
        <p:spPr>
          <a:xfrm>
            <a:off x="7680960" y="448056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UTR</a:t>
            </a:r>
            <a:endParaRPr lang="en-US" sz="1250" dirty="0"/>
          </a:p>
        </p:txBody>
      </p:sp>
      <p:sp>
        <p:nvSpPr>
          <p:cNvPr id="31" name="Shape 28"/>
          <p:cNvSpPr/>
          <p:nvPr/>
        </p:nvSpPr>
        <p:spPr>
          <a:xfrm>
            <a:off x="10149840" y="1737360"/>
            <a:ext cx="1554480" cy="548640"/>
          </a:xfrm>
          <a:prstGeom prst="roundRect">
            <a:avLst>
              <a:gd name="adj" fmla="val 50000"/>
            </a:avLst>
          </a:prstGeom>
          <a:solidFill>
            <a:schemeClr val="bg1"/>
          </a:solidFill>
          <a:ln w="19050">
            <a:solidFill>
              <a:schemeClr val="accent3"/>
            </a:solidFill>
            <a:prstDash val="solid"/>
          </a:ln>
        </p:spPr>
      </p:sp>
      <p:sp>
        <p:nvSpPr>
          <p:cNvPr id="32" name="Text 29"/>
          <p:cNvSpPr txBox="1"/>
          <p:nvPr/>
        </p:nvSpPr>
        <p:spPr>
          <a:xfrm>
            <a:off x="10149840" y="1737360"/>
            <a:ext cx="1554480" cy="54864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glossary</a:t>
            </a:r>
            <a:endParaRPr lang="en-US" sz="1250" dirty="0"/>
          </a:p>
        </p:txBody>
      </p:sp>
      <p:sp>
        <p:nvSpPr>
          <p:cNvPr id="33" name="Shape 30"/>
          <p:cNvSpPr/>
          <p:nvPr/>
        </p:nvSpPr>
        <p:spPr>
          <a:xfrm>
            <a:off x="548640" y="5440680"/>
            <a:ext cx="11064240" cy="777240"/>
          </a:xfrm>
          <a:prstGeom prst="roundRect">
            <a:avLst>
              <a:gd name="adj" fmla="val 14118"/>
            </a:avLst>
          </a:prstGeom>
          <a:solidFill>
            <a:schemeClr val="bg2"/>
          </a:solidFill>
          <a:ln w="12700">
            <a:solidFill>
              <a:schemeClr val="bg2"/>
            </a:solidFill>
            <a:prstDash val="solid"/>
          </a:ln>
        </p:spPr>
      </p:sp>
      <p:sp>
        <p:nvSpPr>
          <p:cNvPr id="34" name="Text 31"/>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lookup("graduate trainee") </a:t>
            </a:r>
            <a:pPr indent="0" marL="0">
              <a:buNone/>
            </a:pPr>
            <a:r>
              <a:rPr lang="en-US" sz="1400" dirty="0">
                <a:solidFill>
                  <a:schemeClr val="tx1"/>
                </a:solidFill>
                <a:latin typeface="Calibri" pitchFamily="34" charset="0"/>
                <a:ea typeface="Calibri" pitchFamily="34" charset="-122"/>
                <a:cs typeface="Calibri" pitchFamily="34" charset="-120"/>
              </a:rPr>
              <a:t>→ 5 chunks in 4 documents, one per document first.   </a:t>
            </a:r>
            <a:pPr indent="0" marL="0">
              <a:buNone/>
            </a:pPr>
            <a:r>
              <a:rPr lang="en-US" sz="1400" b="1" dirty="0">
                <a:solidFill>
                  <a:schemeClr val="accent2"/>
                </a:solidFill>
                <a:latin typeface="Consolas" pitchFamily="34" charset="0"/>
                <a:ea typeface="Consolas" pitchFamily="34" charset="-122"/>
                <a:cs typeface="Consolas" pitchFamily="34" charset="-120"/>
              </a:rPr>
              <a:t>PAY-E4035 — HSM </a:t>
            </a:r>
            <a:pPr indent="0" marL="0">
              <a:buNone/>
            </a:pPr>
            <a:r>
              <a:rPr lang="en-US" sz="1400" dirty="0">
                <a:solidFill>
                  <a:schemeClr val="tx1"/>
                </a:solidFill>
                <a:latin typeface="Calibri" pitchFamily="34" charset="0"/>
                <a:ea typeface="Calibri" pitchFamily="34" charset="-122"/>
                <a:cs typeface="Calibri" pitchFamily="34" charset="-120"/>
              </a:rPr>
              <a:t>→ a 1-hop path.</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Graph RAG works (e.g. Microsoft GraphRAG)</a:t>
            </a:r>
            <a:endParaRPr lang="en-US" sz="3000" dirty="0"/>
          </a:p>
        </p:txBody>
      </p:sp>
      <p:sp>
        <p:nvSpPr>
          <p:cNvPr id="4"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Indexing · once, offline</a:t>
            </a:r>
            <a:endParaRPr lang="en-US" sz="1500" dirty="0"/>
          </a:p>
        </p:txBody>
      </p:sp>
      <p:sp>
        <p:nvSpPr>
          <p:cNvPr id="5" name="Shape 2"/>
          <p:cNvSpPr/>
          <p:nvPr/>
        </p:nvSpPr>
        <p:spPr>
          <a:xfrm>
            <a:off x="548640" y="1783080"/>
            <a:ext cx="1965960" cy="1188720"/>
          </a:xfrm>
          <a:prstGeom prst="roundRect">
            <a:avLst>
              <a:gd name="adj" fmla="val 9231"/>
            </a:avLst>
          </a:prstGeom>
          <a:solidFill>
            <a:schemeClr val="bg2"/>
          </a:solidFill>
          <a:ln w="12700">
            <a:solidFill>
              <a:schemeClr val="bg2"/>
            </a:solidFill>
            <a:prstDash val="solid"/>
          </a:ln>
        </p:spPr>
      </p:sp>
      <p:sp>
        <p:nvSpPr>
          <p:cNvPr id="6" name="Text 3"/>
          <p:cNvSpPr txBox="1"/>
          <p:nvPr/>
        </p:nvSpPr>
        <p:spPr>
          <a:xfrm>
            <a:off x="685800" y="1874520"/>
            <a:ext cx="169164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chunks</a:t>
            </a:r>
            <a:endParaRPr lang="en-US" sz="1500" dirty="0"/>
          </a:p>
        </p:txBody>
      </p:sp>
      <p:sp>
        <p:nvSpPr>
          <p:cNvPr id="7" name="Text 4"/>
          <p:cNvSpPr txBox="1"/>
          <p:nvPr/>
        </p:nvSpPr>
        <p:spPr>
          <a:xfrm>
            <a:off x="685800" y="2286000"/>
            <a:ext cx="1737360" cy="6400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the same 59 chunks</a:t>
            </a:r>
            <a:endParaRPr lang="en-US" sz="1250" dirty="0"/>
          </a:p>
        </p:txBody>
      </p:sp>
      <p:sp>
        <p:nvSpPr>
          <p:cNvPr id="8" name="Shape 5"/>
          <p:cNvSpPr/>
          <p:nvPr/>
        </p:nvSpPr>
        <p:spPr>
          <a:xfrm>
            <a:off x="2532888" y="2377440"/>
            <a:ext cx="283464" cy="914"/>
          </a:xfrm>
          <a:prstGeom prst="line">
            <a:avLst/>
          </a:prstGeom>
          <a:noFill/>
          <a:ln w="20320">
            <a:solidFill>
              <a:schemeClr val="accent3"/>
            </a:solidFill>
            <a:prstDash val="solid"/>
            <a:tailEnd type="triangle"/>
          </a:ln>
        </p:spPr>
      </p:sp>
      <p:sp>
        <p:nvSpPr>
          <p:cNvPr id="9" name="Shape 6"/>
          <p:cNvSpPr/>
          <p:nvPr/>
        </p:nvSpPr>
        <p:spPr>
          <a:xfrm>
            <a:off x="2834640" y="1783080"/>
            <a:ext cx="1965960" cy="1188720"/>
          </a:xfrm>
          <a:prstGeom prst="roundRect">
            <a:avLst>
              <a:gd name="adj" fmla="val 9231"/>
            </a:avLst>
          </a:prstGeom>
          <a:solidFill>
            <a:schemeClr val="accent5"/>
          </a:solidFill>
          <a:ln w="12700">
            <a:solidFill>
              <a:schemeClr val="accent5"/>
            </a:solidFill>
            <a:prstDash val="solid"/>
          </a:ln>
        </p:spPr>
      </p:sp>
      <p:sp>
        <p:nvSpPr>
          <p:cNvPr id="10" name="Text 7"/>
          <p:cNvSpPr txBox="1"/>
          <p:nvPr/>
        </p:nvSpPr>
        <p:spPr>
          <a:xfrm>
            <a:off x="2971800" y="1874520"/>
            <a:ext cx="169164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LLM extracts</a:t>
            </a:r>
            <a:endParaRPr lang="en-US" sz="1500" dirty="0"/>
          </a:p>
        </p:txBody>
      </p:sp>
      <p:sp>
        <p:nvSpPr>
          <p:cNvPr id="11" name="Text 8"/>
          <p:cNvSpPr txBox="1"/>
          <p:nvPr/>
        </p:nvSpPr>
        <p:spPr>
          <a:xfrm>
            <a:off x="2971800" y="2286000"/>
            <a:ext cx="1737360" cy="6400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(entity, relation, entity)</a:t>
            </a:r>
            <a:endParaRPr lang="en-US" sz="1250" dirty="0"/>
          </a:p>
        </p:txBody>
      </p:sp>
      <p:sp>
        <p:nvSpPr>
          <p:cNvPr id="12" name="Shape 9"/>
          <p:cNvSpPr/>
          <p:nvPr/>
        </p:nvSpPr>
        <p:spPr>
          <a:xfrm>
            <a:off x="4818888" y="2377440"/>
            <a:ext cx="283464" cy="914"/>
          </a:xfrm>
          <a:prstGeom prst="line">
            <a:avLst/>
          </a:prstGeom>
          <a:noFill/>
          <a:ln w="20320">
            <a:solidFill>
              <a:schemeClr val="accent3"/>
            </a:solidFill>
            <a:prstDash val="solid"/>
            <a:tailEnd type="triangle"/>
          </a:ln>
        </p:spPr>
      </p:sp>
      <p:sp>
        <p:nvSpPr>
          <p:cNvPr id="13" name="Shape 10"/>
          <p:cNvSpPr/>
          <p:nvPr/>
        </p:nvSpPr>
        <p:spPr>
          <a:xfrm>
            <a:off x="5120640" y="1783080"/>
            <a:ext cx="1965960" cy="1188720"/>
          </a:xfrm>
          <a:prstGeom prst="roundRect">
            <a:avLst>
              <a:gd name="adj" fmla="val 9231"/>
            </a:avLst>
          </a:prstGeom>
          <a:solidFill>
            <a:schemeClr val="accent6"/>
          </a:solidFill>
          <a:ln w="12700">
            <a:solidFill>
              <a:schemeClr val="accent6"/>
            </a:solidFill>
            <a:prstDash val="solid"/>
          </a:ln>
        </p:spPr>
      </p:sp>
      <p:sp>
        <p:nvSpPr>
          <p:cNvPr id="14" name="Text 11"/>
          <p:cNvSpPr txBox="1"/>
          <p:nvPr/>
        </p:nvSpPr>
        <p:spPr>
          <a:xfrm>
            <a:off x="5257800" y="1874520"/>
            <a:ext cx="169164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knowledge graph</a:t>
            </a:r>
            <a:endParaRPr lang="en-US" sz="1500" dirty="0"/>
          </a:p>
        </p:txBody>
      </p:sp>
      <p:sp>
        <p:nvSpPr>
          <p:cNvPr id="15" name="Text 12"/>
          <p:cNvSpPr txBox="1"/>
          <p:nvPr/>
        </p:nvSpPr>
        <p:spPr>
          <a:xfrm>
            <a:off x="5257800" y="2286000"/>
            <a:ext cx="1737360" cy="6400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nodes + typed edges</a:t>
            </a:r>
            <a:endParaRPr lang="en-US" sz="1250" dirty="0"/>
          </a:p>
        </p:txBody>
      </p:sp>
      <p:sp>
        <p:nvSpPr>
          <p:cNvPr id="16" name="Shape 13"/>
          <p:cNvSpPr/>
          <p:nvPr/>
        </p:nvSpPr>
        <p:spPr>
          <a:xfrm>
            <a:off x="7104888" y="2377440"/>
            <a:ext cx="283464" cy="914"/>
          </a:xfrm>
          <a:prstGeom prst="line">
            <a:avLst/>
          </a:prstGeom>
          <a:noFill/>
          <a:ln w="20320">
            <a:solidFill>
              <a:schemeClr val="accent3"/>
            </a:solidFill>
            <a:prstDash val="solid"/>
            <a:tailEnd type="triangle"/>
          </a:ln>
        </p:spPr>
      </p:sp>
      <p:sp>
        <p:nvSpPr>
          <p:cNvPr id="17" name="Shape 14"/>
          <p:cNvSpPr/>
          <p:nvPr/>
        </p:nvSpPr>
        <p:spPr>
          <a:xfrm>
            <a:off x="7406640" y="1783080"/>
            <a:ext cx="1965960" cy="1188720"/>
          </a:xfrm>
          <a:prstGeom prst="roundRect">
            <a:avLst>
              <a:gd name="adj" fmla="val 9231"/>
            </a:avLst>
          </a:prstGeom>
          <a:solidFill>
            <a:schemeClr val="accent6"/>
          </a:solidFill>
          <a:ln w="12700">
            <a:solidFill>
              <a:schemeClr val="accent6"/>
            </a:solidFill>
            <a:prstDash val="solid"/>
          </a:ln>
        </p:spPr>
      </p:sp>
      <p:sp>
        <p:nvSpPr>
          <p:cNvPr id="18" name="Text 15"/>
          <p:cNvSpPr txBox="1"/>
          <p:nvPr/>
        </p:nvSpPr>
        <p:spPr>
          <a:xfrm>
            <a:off x="7543800" y="1874520"/>
            <a:ext cx="169164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communities</a:t>
            </a:r>
            <a:endParaRPr lang="en-US" sz="1500" dirty="0"/>
          </a:p>
        </p:txBody>
      </p:sp>
      <p:sp>
        <p:nvSpPr>
          <p:cNvPr id="19" name="Text 16"/>
          <p:cNvSpPr txBox="1"/>
          <p:nvPr/>
        </p:nvSpPr>
        <p:spPr>
          <a:xfrm>
            <a:off x="7543800" y="2286000"/>
            <a:ext cx="1737360" cy="6400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clusters of related entities</a:t>
            </a:r>
            <a:endParaRPr lang="en-US" sz="1250" dirty="0"/>
          </a:p>
        </p:txBody>
      </p:sp>
      <p:sp>
        <p:nvSpPr>
          <p:cNvPr id="20" name="Shape 17"/>
          <p:cNvSpPr/>
          <p:nvPr/>
        </p:nvSpPr>
        <p:spPr>
          <a:xfrm>
            <a:off x="9390888" y="2377440"/>
            <a:ext cx="283464" cy="914"/>
          </a:xfrm>
          <a:prstGeom prst="line">
            <a:avLst/>
          </a:prstGeom>
          <a:noFill/>
          <a:ln w="20320">
            <a:solidFill>
              <a:schemeClr val="accent3"/>
            </a:solidFill>
            <a:prstDash val="solid"/>
            <a:tailEnd type="triangle"/>
          </a:ln>
        </p:spPr>
      </p:sp>
      <p:sp>
        <p:nvSpPr>
          <p:cNvPr id="21" name="Shape 18"/>
          <p:cNvSpPr/>
          <p:nvPr/>
        </p:nvSpPr>
        <p:spPr>
          <a:xfrm>
            <a:off x="9692640" y="1783080"/>
            <a:ext cx="1965960" cy="1188720"/>
          </a:xfrm>
          <a:prstGeom prst="roundRect">
            <a:avLst>
              <a:gd name="adj" fmla="val 9231"/>
            </a:avLst>
          </a:prstGeom>
          <a:solidFill>
            <a:schemeClr val="accent5"/>
          </a:solidFill>
          <a:ln w="12700">
            <a:solidFill>
              <a:schemeClr val="accent5"/>
            </a:solidFill>
            <a:prstDash val="solid"/>
          </a:ln>
        </p:spPr>
      </p:sp>
      <p:sp>
        <p:nvSpPr>
          <p:cNvPr id="22" name="Text 19"/>
          <p:cNvSpPr txBox="1"/>
          <p:nvPr/>
        </p:nvSpPr>
        <p:spPr>
          <a:xfrm>
            <a:off x="9829800" y="1874520"/>
            <a:ext cx="169164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summaries</a:t>
            </a:r>
            <a:endParaRPr lang="en-US" sz="1500" dirty="0"/>
          </a:p>
        </p:txBody>
      </p:sp>
      <p:sp>
        <p:nvSpPr>
          <p:cNvPr id="23" name="Text 20"/>
          <p:cNvSpPr txBox="1"/>
          <p:nvPr/>
        </p:nvSpPr>
        <p:spPr>
          <a:xfrm>
            <a:off x="9829800" y="2286000"/>
            <a:ext cx="1737360" cy="6400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LLM writes one per cluster</a:t>
            </a:r>
            <a:endParaRPr lang="en-US" sz="1250" dirty="0"/>
          </a:p>
        </p:txBody>
      </p:sp>
      <p:sp>
        <p:nvSpPr>
          <p:cNvPr id="24" name="Text 21"/>
          <p:cNvSpPr txBox="1"/>
          <p:nvPr/>
        </p:nvSpPr>
        <p:spPr>
          <a:xfrm>
            <a:off x="548640" y="3291840"/>
            <a:ext cx="548640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Query time</a:t>
            </a:r>
            <a:endParaRPr lang="en-US" sz="1500" dirty="0"/>
          </a:p>
        </p:txBody>
      </p:sp>
      <p:sp>
        <p:nvSpPr>
          <p:cNvPr id="25" name="Shape 22"/>
          <p:cNvSpPr/>
          <p:nvPr/>
        </p:nvSpPr>
        <p:spPr>
          <a:xfrm>
            <a:off x="548640" y="3703320"/>
            <a:ext cx="5440680" cy="2240280"/>
          </a:xfrm>
          <a:prstGeom prst="roundRect">
            <a:avLst>
              <a:gd name="adj" fmla="val 4898"/>
            </a:avLst>
          </a:prstGeom>
          <a:solidFill>
            <a:schemeClr val="accent6"/>
          </a:solidFill>
          <a:ln w="12700">
            <a:solidFill>
              <a:schemeClr val="accent6"/>
            </a:solidFill>
            <a:prstDash val="solid"/>
          </a:ln>
        </p:spPr>
      </p:sp>
      <p:sp>
        <p:nvSpPr>
          <p:cNvPr id="26" name="Text 23"/>
          <p:cNvSpPr txBox="1"/>
          <p:nvPr/>
        </p:nvSpPr>
        <p:spPr>
          <a:xfrm>
            <a:off x="822960" y="3959352"/>
            <a:ext cx="4937760" cy="45720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Local search</a:t>
            </a:r>
            <a:endParaRPr lang="en-US" sz="1700" dirty="0"/>
          </a:p>
        </p:txBody>
      </p:sp>
      <p:sp>
        <p:nvSpPr>
          <p:cNvPr id="27" name="Text 24"/>
          <p:cNvSpPr txBox="1"/>
          <p:nvPr/>
        </p:nvSpPr>
        <p:spPr>
          <a:xfrm>
            <a:off x="822960" y="4544568"/>
            <a:ext cx="489204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Find the entities in the question, walk their neighbourhood, collect the connected chunks. "Everything about graduate trainees."</a:t>
            </a:r>
            <a:endParaRPr lang="en-US" sz="1400" dirty="0"/>
          </a:p>
        </p:txBody>
      </p:sp>
      <p:sp>
        <p:nvSpPr>
          <p:cNvPr id="28" name="Shape 25"/>
          <p:cNvSpPr/>
          <p:nvPr/>
        </p:nvSpPr>
        <p:spPr>
          <a:xfrm>
            <a:off x="6172200" y="3703320"/>
            <a:ext cx="5440680" cy="2240280"/>
          </a:xfrm>
          <a:prstGeom prst="roundRect">
            <a:avLst>
              <a:gd name="adj" fmla="val 4898"/>
            </a:avLst>
          </a:prstGeom>
          <a:solidFill>
            <a:schemeClr val="accent5"/>
          </a:solidFill>
          <a:ln w="12700">
            <a:solidFill>
              <a:schemeClr val="accent5"/>
            </a:solidFill>
            <a:prstDash val="solid"/>
          </a:ln>
        </p:spPr>
      </p:sp>
      <p:sp>
        <p:nvSpPr>
          <p:cNvPr id="29" name="Text 26"/>
          <p:cNvSpPr txBox="1"/>
          <p:nvPr/>
        </p:nvSpPr>
        <p:spPr>
          <a:xfrm>
            <a:off x="6446520" y="3959352"/>
            <a:ext cx="4937760" cy="457200"/>
          </a:xfrm>
          <a:prstGeom prst="rect">
            <a:avLst/>
          </a:prstGeom>
          <a:noFill/>
          <a:ln/>
        </p:spPr>
        <p:txBody>
          <a:bodyPr wrap="square" lIns="0" tIns="0" rIns="0" bIns="0" rtlCol="0" anchor="ctr"/>
          <a:lstStyle/>
          <a:p>
            <a:pPr indent="0" marL="0">
              <a:buNone/>
            </a:pPr>
            <a:r>
              <a:rPr lang="en-US" sz="1700" b="1" dirty="0">
                <a:solidFill>
                  <a:schemeClr val="accent2"/>
                </a:solidFill>
                <a:latin typeface="Calibri" pitchFamily="34" charset="0"/>
                <a:ea typeface="Calibri" pitchFamily="34" charset="-122"/>
                <a:cs typeface="Calibri" pitchFamily="34" charset="-120"/>
              </a:rPr>
              <a:t>Global search</a:t>
            </a:r>
            <a:endParaRPr lang="en-US" sz="1700" dirty="0"/>
          </a:p>
        </p:txBody>
      </p:sp>
      <p:sp>
        <p:nvSpPr>
          <p:cNvPr id="30" name="Text 27"/>
          <p:cNvSpPr txBox="1"/>
          <p:nvPr/>
        </p:nvSpPr>
        <p:spPr>
          <a:xfrm>
            <a:off x="6446520" y="4544568"/>
            <a:ext cx="489204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Map-reduce over community summaries for corpus-wide questions. "What are the main risk themes in the handbook?"</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Graph RAG, Agentic RAG and our Graph RAG lite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3108960"/>
                <a:gridCol w="3108960"/>
                <a:gridCol w="3017520"/>
              </a:tblGrid>
              <a:tr h="566928">
                <a:tc>
                  <a:txBody>
                    <a:bodyPr/>
                    <a:lstStyle/>
                    <a:p>
                      <a:pPr indent="0" marL="0">
                        <a:buNone/>
                      </a:pP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Agentic RAG</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Graph RAG (full)</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 Graph RAG lite</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r>
              <a:tr h="56692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Fixes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control: route, loop, check, ask, remember</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index: aggregation and relationships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aggregation by entity, 1-hop links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How</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LLM decides the next step</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LLM-extracted graph + community summaries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regex + dictionary, co-occurrence edges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56692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Indexing cost</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none extra</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LLM calls over the whole corpus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zero LLM calls, milliseconds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When docs change</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nothing to rebuild</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re-extract, re-cluster, re-summarise</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rebuilt on re-index automatically</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56692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Weakness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more calls and latency per question</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expensive, can go stale</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no typed relations, misses unknown names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In our lab</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the LangGraph agent</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explained, stretch goal</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the agent's entity tool (S5)</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bl>
          </a:graphicData>
        </a:graphic>
      </p:graphicFrame>
      <p:sp>
        <p:nvSpPr>
          <p:cNvPr id="5" name="Text 1"/>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They combine: the agent decides when to call the graph, the graph answers what top-k cannot.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731520" y="2514600"/>
            <a:ext cx="65836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LangGraph: the engine of our agent</a:t>
            </a:r>
            <a:endParaRPr lang="en-US" sz="4000" dirty="0"/>
          </a:p>
        </p:txBody>
      </p:sp>
      <p:sp>
        <p:nvSpPr>
          <p:cNvPr id="4" name="Text 0"/>
          <p:cNvSpPr/>
          <p:nvPr>
            <p:ph idx="100" type="body" hasCustomPrompt="1"/>
          </p:nvPr>
        </p:nvSpPr>
        <p:spPr>
          <a:xfrm>
            <a:off x="731520" y="2011680"/>
            <a:ext cx="6217920" cy="457200"/>
          </a:xfrm>
          <a:prstGeom prst="rect">
            <a:avLst/>
          </a:prstGeom>
          <a:noFill/>
          <a:ln/>
        </p:spPr>
        <p:txBody>
          <a:bodyPr wrap="square" rtlCol="0"/>
          <a:lstStyle/>
          <a:p>
            <a:pPr indent="0" marL="0">
              <a:buNone/>
            </a:pPr>
            <a:r>
              <a:rPr lang="en-US" sz="1600" b="1" spc="300" kern="0" dirty="0">
                <a:solidFill>
                  <a:schemeClr val="accent4"/>
                </a:solidFill>
              </a:rPr>
              <a:t>PART 3 · LANGGRAPH</a:t>
            </a:r>
            <a:endParaRPr lang="en-US" sz="1600" dirty="0"/>
          </a:p>
        </p:txBody>
      </p:sp>
      <p:sp>
        <p:nvSpPr>
          <p:cNvPr id="5" name="Text 0"/>
          <p:cNvSpPr/>
          <p:nvPr>
            <p:ph idx="102" type="body" hasCustomPrompt="1"/>
          </p:nvPr>
        </p:nvSpPr>
        <p:spPr>
          <a:xfrm>
            <a:off x="731520" y="3931920"/>
            <a:ext cx="6400800" cy="1463040"/>
          </a:xfrm>
          <a:prstGeom prst="rect">
            <a:avLst/>
          </a:prstGeom>
          <a:noFill/>
          <a:ln/>
        </p:spPr>
        <p:txBody>
          <a:bodyPr wrap="square" rtlCol="0" anchor="t"/>
          <a:lstStyle/>
          <a:p>
            <a:pPr indent="0" marL="0">
              <a:buNone/>
            </a:pPr>
            <a:r>
              <a:rPr lang="en-US" sz="1800" dirty="0">
                <a:solidFill>
                  <a:srgbClr val="CFE9E5"/>
                </a:solidFill>
              </a:rPr>
              <a:t>A state machine where nodes are Python functions, edges can branch and loop, and the state is saved after every step.</a:t>
            </a:r>
            <a:endParaRPr lang="en-US" sz="1800" dirty="0"/>
          </a:p>
        </p:txBody>
      </p:sp>
      <p:sp>
        <p:nvSpPr>
          <p:cNvPr id="6" name="Shape 3"/>
          <p:cNvSpPr/>
          <p:nvPr/>
        </p:nvSpPr>
        <p:spPr>
          <a:xfrm>
            <a:off x="7863840" y="1554480"/>
            <a:ext cx="1783080" cy="731520"/>
          </a:xfrm>
          <a:prstGeom prst="roundRect">
            <a:avLst>
              <a:gd name="adj" fmla="val 15000"/>
            </a:avLst>
          </a:prstGeom>
          <a:solidFill>
            <a:srgbClr val="0E4A46"/>
          </a:solidFill>
          <a:ln w="12700">
            <a:solidFill>
              <a:srgbClr val="0E4A46"/>
            </a:solidFill>
            <a:prstDash val="solid"/>
          </a:ln>
        </p:spPr>
      </p:sp>
      <p:sp>
        <p:nvSpPr>
          <p:cNvPr id="7" name="Text 4"/>
          <p:cNvSpPr txBox="1"/>
          <p:nvPr/>
        </p:nvSpPr>
        <p:spPr>
          <a:xfrm>
            <a:off x="7863840" y="155448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StateGraph</a:t>
            </a:r>
            <a:endParaRPr lang="en-US" sz="1400" dirty="0"/>
          </a:p>
        </p:txBody>
      </p:sp>
      <p:sp>
        <p:nvSpPr>
          <p:cNvPr id="8" name="Shape 5"/>
          <p:cNvSpPr/>
          <p:nvPr/>
        </p:nvSpPr>
        <p:spPr>
          <a:xfrm>
            <a:off x="9829800" y="1554480"/>
            <a:ext cx="1783080" cy="731520"/>
          </a:xfrm>
          <a:prstGeom prst="roundRect">
            <a:avLst>
              <a:gd name="adj" fmla="val 15000"/>
            </a:avLst>
          </a:prstGeom>
          <a:solidFill>
            <a:srgbClr val="0E4A46"/>
          </a:solidFill>
          <a:ln w="12700">
            <a:solidFill>
              <a:srgbClr val="0E4A46"/>
            </a:solidFill>
            <a:prstDash val="solid"/>
          </a:ln>
        </p:spPr>
      </p:sp>
      <p:sp>
        <p:nvSpPr>
          <p:cNvPr id="9" name="Text 6"/>
          <p:cNvSpPr txBox="1"/>
          <p:nvPr/>
        </p:nvSpPr>
        <p:spPr>
          <a:xfrm>
            <a:off x="9829800" y="155448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reducers</a:t>
            </a:r>
            <a:endParaRPr lang="en-US" sz="1400" dirty="0"/>
          </a:p>
        </p:txBody>
      </p:sp>
      <p:sp>
        <p:nvSpPr>
          <p:cNvPr id="10" name="Shape 7"/>
          <p:cNvSpPr/>
          <p:nvPr/>
        </p:nvSpPr>
        <p:spPr>
          <a:xfrm>
            <a:off x="7863840" y="2514600"/>
            <a:ext cx="1783080" cy="731520"/>
          </a:xfrm>
          <a:prstGeom prst="roundRect">
            <a:avLst>
              <a:gd name="adj" fmla="val 15000"/>
            </a:avLst>
          </a:prstGeom>
          <a:solidFill>
            <a:srgbClr val="0E4A46"/>
          </a:solidFill>
          <a:ln w="12700">
            <a:solidFill>
              <a:srgbClr val="0E4A46"/>
            </a:solidFill>
            <a:prstDash val="solid"/>
          </a:ln>
        </p:spPr>
      </p:sp>
      <p:sp>
        <p:nvSpPr>
          <p:cNvPr id="11" name="Text 8"/>
          <p:cNvSpPr txBox="1"/>
          <p:nvPr/>
        </p:nvSpPr>
        <p:spPr>
          <a:xfrm>
            <a:off x="7863840" y="251460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conditional edges</a:t>
            </a:r>
            <a:endParaRPr lang="en-US" sz="1400" dirty="0"/>
          </a:p>
        </p:txBody>
      </p:sp>
      <p:sp>
        <p:nvSpPr>
          <p:cNvPr id="12" name="Shape 9"/>
          <p:cNvSpPr/>
          <p:nvPr/>
        </p:nvSpPr>
        <p:spPr>
          <a:xfrm>
            <a:off x="9829800" y="2514600"/>
            <a:ext cx="1783080" cy="731520"/>
          </a:xfrm>
          <a:prstGeom prst="roundRect">
            <a:avLst>
              <a:gd name="adj" fmla="val 15000"/>
            </a:avLst>
          </a:prstGeom>
          <a:solidFill>
            <a:srgbClr val="0E4A46"/>
          </a:solidFill>
          <a:ln w="12700">
            <a:solidFill>
              <a:srgbClr val="0E4A46"/>
            </a:solidFill>
            <a:prstDash val="solid"/>
          </a:ln>
        </p:spPr>
      </p:sp>
      <p:sp>
        <p:nvSpPr>
          <p:cNvPr id="13" name="Text 10"/>
          <p:cNvSpPr txBox="1"/>
          <p:nvPr/>
        </p:nvSpPr>
        <p:spPr>
          <a:xfrm>
            <a:off x="9829800" y="251460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cycles</a:t>
            </a:r>
            <a:endParaRPr lang="en-US" sz="1400" dirty="0"/>
          </a:p>
        </p:txBody>
      </p:sp>
      <p:sp>
        <p:nvSpPr>
          <p:cNvPr id="14" name="Shape 11"/>
          <p:cNvSpPr/>
          <p:nvPr/>
        </p:nvSpPr>
        <p:spPr>
          <a:xfrm>
            <a:off x="7863840" y="3474720"/>
            <a:ext cx="1783080" cy="731520"/>
          </a:xfrm>
          <a:prstGeom prst="roundRect">
            <a:avLst>
              <a:gd name="adj" fmla="val 15000"/>
            </a:avLst>
          </a:prstGeom>
          <a:solidFill>
            <a:srgbClr val="0E4A46"/>
          </a:solidFill>
          <a:ln w="12700">
            <a:solidFill>
              <a:srgbClr val="0E4A46"/>
            </a:solidFill>
            <a:prstDash val="solid"/>
          </a:ln>
        </p:spPr>
      </p:sp>
      <p:sp>
        <p:nvSpPr>
          <p:cNvPr id="15" name="Text 12"/>
          <p:cNvSpPr txBox="1"/>
          <p:nvPr/>
        </p:nvSpPr>
        <p:spPr>
          <a:xfrm>
            <a:off x="7863840" y="347472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Send</a:t>
            </a:r>
            <a:endParaRPr lang="en-US" sz="1400" dirty="0"/>
          </a:p>
        </p:txBody>
      </p:sp>
      <p:sp>
        <p:nvSpPr>
          <p:cNvPr id="16" name="Shape 13"/>
          <p:cNvSpPr/>
          <p:nvPr/>
        </p:nvSpPr>
        <p:spPr>
          <a:xfrm>
            <a:off x="9829800" y="3474720"/>
            <a:ext cx="1783080" cy="731520"/>
          </a:xfrm>
          <a:prstGeom prst="roundRect">
            <a:avLst>
              <a:gd name="adj" fmla="val 15000"/>
            </a:avLst>
          </a:prstGeom>
          <a:solidFill>
            <a:srgbClr val="0E4A46"/>
          </a:solidFill>
          <a:ln w="12700">
            <a:solidFill>
              <a:srgbClr val="0E4A46"/>
            </a:solidFill>
            <a:prstDash val="solid"/>
          </a:ln>
        </p:spPr>
      </p:sp>
      <p:sp>
        <p:nvSpPr>
          <p:cNvPr id="17" name="Text 14"/>
          <p:cNvSpPr txBox="1"/>
          <p:nvPr/>
        </p:nvSpPr>
        <p:spPr>
          <a:xfrm>
            <a:off x="9829800" y="347472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checkpointer</a:t>
            </a:r>
            <a:endParaRPr lang="en-US" sz="1400" dirty="0"/>
          </a:p>
        </p:txBody>
      </p:sp>
      <p:sp>
        <p:nvSpPr>
          <p:cNvPr id="18" name="Shape 15"/>
          <p:cNvSpPr/>
          <p:nvPr/>
        </p:nvSpPr>
        <p:spPr>
          <a:xfrm>
            <a:off x="7863840" y="4434840"/>
            <a:ext cx="1783080" cy="731520"/>
          </a:xfrm>
          <a:prstGeom prst="roundRect">
            <a:avLst>
              <a:gd name="adj" fmla="val 15000"/>
            </a:avLst>
          </a:prstGeom>
          <a:solidFill>
            <a:srgbClr val="0E4A46"/>
          </a:solidFill>
          <a:ln w="12700">
            <a:solidFill>
              <a:srgbClr val="0E4A46"/>
            </a:solidFill>
            <a:prstDash val="solid"/>
          </a:ln>
        </p:spPr>
      </p:sp>
      <p:sp>
        <p:nvSpPr>
          <p:cNvPr id="19" name="Text 16"/>
          <p:cNvSpPr txBox="1"/>
          <p:nvPr/>
        </p:nvSpPr>
        <p:spPr>
          <a:xfrm>
            <a:off x="7863840" y="443484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interrupt</a:t>
            </a:r>
            <a:endParaRPr lang="en-US" sz="1400" dirty="0"/>
          </a:p>
        </p:txBody>
      </p:sp>
      <p:sp>
        <p:nvSpPr>
          <p:cNvPr id="20" name="Shape 17"/>
          <p:cNvSpPr/>
          <p:nvPr/>
        </p:nvSpPr>
        <p:spPr>
          <a:xfrm>
            <a:off x="9829800" y="4434840"/>
            <a:ext cx="1783080" cy="731520"/>
          </a:xfrm>
          <a:prstGeom prst="roundRect">
            <a:avLst>
              <a:gd name="adj" fmla="val 15000"/>
            </a:avLst>
          </a:prstGeom>
          <a:solidFill>
            <a:srgbClr val="0E4A46"/>
          </a:solidFill>
          <a:ln w="12700">
            <a:solidFill>
              <a:srgbClr val="0E4A46"/>
            </a:solidFill>
            <a:prstDash val="solid"/>
          </a:ln>
        </p:spPr>
      </p:sp>
      <p:sp>
        <p:nvSpPr>
          <p:cNvPr id="21" name="Text 18"/>
          <p:cNvSpPr txBox="1"/>
          <p:nvPr/>
        </p:nvSpPr>
        <p:spPr>
          <a:xfrm>
            <a:off x="9829800" y="4434840"/>
            <a:ext cx="1783080" cy="731520"/>
          </a:xfrm>
          <a:prstGeom prst="rect">
            <a:avLst/>
          </a:prstGeom>
          <a:noFill/>
          <a:ln/>
        </p:spPr>
        <p:txBody>
          <a:bodyPr wrap="square" lIns="0" tIns="0" rIns="0" bIns="0" rtlCol="0" anchor="ctr"/>
          <a:lstStyle/>
          <a:p>
            <a:pPr algn="ctr" indent="0" marL="0">
              <a:buNone/>
            </a:pPr>
            <a:r>
              <a:rPr lang="en-US" sz="1400" b="1" dirty="0">
                <a:solidFill>
                  <a:schemeClr val="accent4"/>
                </a:solidFill>
                <a:latin typeface="Consolas" pitchFamily="34" charset="0"/>
                <a:ea typeface="Consolas" pitchFamily="34" charset="-122"/>
                <a:cs typeface="Consolas" pitchFamily="34" charset="-120"/>
              </a:rPr>
              <a:t>stream</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B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LangGraph, not another LCEL chain</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749040"/>
                <a:gridCol w="3474720"/>
                <a:gridCol w="3840480"/>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 agent needs</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LCEL chain (Lab 1)</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LangGraph</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Branch on a result (route)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RunnableBranch, awkward</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add_conditional_edges</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Loop back (assess → retrieve)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not possible (DAG only)</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cycles + recursion_limit</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Run sub-queries in parallel, merge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RunnableParallel, fixed keys</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Send + reducers (dynamic N)</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Shared state across steps</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pass dicts by hand</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typed State, merged per node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Remember a conversation</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your own storage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checkpointer + thread_id</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Pause for a human, resume later</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not possible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interrupt() + Command(resume)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512064">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Show progress live</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astream_events</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F1B2D"/>
                          </a:solidFill>
                          <a:latin typeface="Calibri" pitchFamily="34" charset="0"/>
                          <a:ea typeface="Calibri" pitchFamily="34" charset="-122"/>
                          <a:cs typeface="Calibri" pitchFamily="34" charset="-120"/>
                        </a:rPr>
                        <a:t>stream(stream_mode="updates")</a:t>
                      </a:r>
                      <a:endParaRPr lang="en-US" sz="14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400" i="1" dirty="0">
                <a:solidFill>
                  <a:schemeClr val="accent3"/>
                </a:solidFill>
                <a:latin typeface="Calibri" pitchFamily="34" charset="0"/>
                <a:ea typeface="Calibri" pitchFamily="34" charset="-122"/>
                <a:cs typeface="Calibri" pitchFamily="34" charset="-120"/>
              </a:rPr>
              <a:t>LangChain still does the rest: Documents, text splitters, prompt templates, embeddings interface.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1 · StateGraph: nodes and edges over a shared state</a:t>
            </a:r>
            <a:endParaRPr lang="en-US" sz="3000" dirty="0"/>
          </a:p>
        </p:txBody>
      </p:sp>
      <p:sp>
        <p:nvSpPr>
          <p:cNvPr id="4" name="Shape 1"/>
          <p:cNvSpPr/>
          <p:nvPr/>
        </p:nvSpPr>
        <p:spPr>
          <a:xfrm>
            <a:off x="548640" y="1371600"/>
            <a:ext cx="6035040" cy="4526280"/>
          </a:xfrm>
          <a:prstGeom prst="roundRect">
            <a:avLst>
              <a:gd name="adj" fmla="val 2424"/>
            </a:avLst>
          </a:prstGeom>
          <a:solidFill>
            <a:schemeClr val="bg2"/>
          </a:solidFill>
          <a:ln w="12700">
            <a:solidFill>
              <a:schemeClr val="bg2"/>
            </a:solidFill>
            <a:prstDash val="solid"/>
          </a:ln>
        </p:spPr>
      </p:sp>
      <p:sp>
        <p:nvSpPr>
          <p:cNvPr id="5" name="Text 2"/>
          <p:cNvSpPr txBox="1"/>
          <p:nvPr/>
        </p:nvSpPr>
        <p:spPr>
          <a:xfrm>
            <a:off x="749808" y="1508760"/>
            <a:ext cx="5669280" cy="4251960"/>
          </a:xfrm>
          <a:prstGeom prst="rect">
            <a:avLst/>
          </a:prstGeom>
          <a:noFill/>
          <a:ln/>
        </p:spPr>
        <p:txBody>
          <a:bodyPr wrap="square" lIns="0" tIns="0" rIns="0" bIns="0" rtlCol="0" anchor="t"/>
          <a:lstStyle/>
          <a:p>
            <a:pPr indent="0" marL="0">
              <a:buNone/>
            </a:pPr>
            <a:r>
              <a:rPr lang="en-US" sz="1300" dirty="0">
                <a:solidFill>
                  <a:schemeClr val="tx1"/>
                </a:solidFill>
                <a:latin typeface="Consolas" pitchFamily="34" charset="0"/>
                <a:ea typeface="Consolas" pitchFamily="34" charset="-122"/>
                <a:cs typeface="Consolas" pitchFamily="34" charset="-120"/>
              </a:rPr>
              <a:t>from langgraph.graph import StateGraph, START, END</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g = StateGraph(AgentState)          # the state schema</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g.add_node("route", nodes.route)    # node = function</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g.add_node("plan", nodes.plan)</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 11 nodes in total</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g.add_edge(START, "start_turn")     # fixed edge</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g.add_edge("retrieve", "assess")</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g.add_edge("finalize", END)</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app = g.compile(checkpointer=InMemorySaver())</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app.invoke({"question": q, "messages":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{"configurable": {"thread_id": "t1"}})</a:t>
            </a:r>
            <a:endParaRPr lang="en-US" sz="1300" dirty="0"/>
          </a:p>
        </p:txBody>
      </p:sp>
      <p:sp>
        <p:nvSpPr>
          <p:cNvPr id="6" name="Shape 3"/>
          <p:cNvSpPr/>
          <p:nvPr/>
        </p:nvSpPr>
        <p:spPr>
          <a:xfrm>
            <a:off x="6858000" y="1371600"/>
            <a:ext cx="4754880" cy="2057400"/>
          </a:xfrm>
          <a:prstGeom prst="roundRect">
            <a:avLst>
              <a:gd name="adj" fmla="val 5333"/>
            </a:avLst>
          </a:prstGeom>
          <a:solidFill>
            <a:schemeClr val="accent6"/>
          </a:solidFill>
          <a:ln w="12700">
            <a:solidFill>
              <a:schemeClr val="accent6"/>
            </a:solidFill>
            <a:prstDash val="solid"/>
          </a:ln>
        </p:spPr>
      </p:sp>
      <p:sp>
        <p:nvSpPr>
          <p:cNvPr id="7" name="Text 4"/>
          <p:cNvSpPr txBox="1"/>
          <p:nvPr/>
        </p:nvSpPr>
        <p:spPr>
          <a:xfrm>
            <a:off x="7132320" y="1627632"/>
            <a:ext cx="4251960" cy="45720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A node</a:t>
            </a:r>
            <a:endParaRPr lang="en-US" sz="1700" dirty="0"/>
          </a:p>
        </p:txBody>
      </p:sp>
      <p:sp>
        <p:nvSpPr>
          <p:cNvPr id="8" name="Text 5"/>
          <p:cNvSpPr txBox="1"/>
          <p:nvPr/>
        </p:nvSpPr>
        <p:spPr>
          <a:xfrm>
            <a:off x="7132320" y="2212848"/>
            <a:ext cx="4206240"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def plan(self, state) -&gt; dict:</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    ...</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    return {"plan": subs, "pending": subs}</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Returns only the keys it changes.</a:t>
            </a:r>
            <a:endParaRPr lang="en-US" sz="1400" dirty="0"/>
          </a:p>
        </p:txBody>
      </p:sp>
      <p:sp>
        <p:nvSpPr>
          <p:cNvPr id="9" name="Shape 6"/>
          <p:cNvSpPr/>
          <p:nvPr/>
        </p:nvSpPr>
        <p:spPr>
          <a:xfrm>
            <a:off x="6858000" y="3657600"/>
            <a:ext cx="4754880" cy="2240280"/>
          </a:xfrm>
          <a:prstGeom prst="roundRect">
            <a:avLst>
              <a:gd name="adj" fmla="val 4898"/>
            </a:avLst>
          </a:prstGeom>
          <a:solidFill>
            <a:schemeClr val="bg2"/>
          </a:solidFill>
          <a:ln w="12700">
            <a:solidFill>
              <a:schemeClr val="bg2"/>
            </a:solidFill>
            <a:prstDash val="solid"/>
          </a:ln>
        </p:spPr>
      </p:sp>
      <p:sp>
        <p:nvSpPr>
          <p:cNvPr id="10" name="Text 7"/>
          <p:cNvSpPr txBox="1"/>
          <p:nvPr/>
        </p:nvSpPr>
        <p:spPr>
          <a:xfrm>
            <a:off x="7132320" y="3913632"/>
            <a:ext cx="425196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In our graph</a:t>
            </a:r>
            <a:endParaRPr lang="en-US" sz="1700" dirty="0"/>
          </a:p>
        </p:txBody>
      </p:sp>
      <p:sp>
        <p:nvSpPr>
          <p:cNvPr id="11" name="Text 8"/>
          <p:cNvSpPr txBox="1"/>
          <p:nvPr/>
        </p:nvSpPr>
        <p:spPr>
          <a:xfrm>
            <a:off x="7132320" y="4498848"/>
            <a:ext cx="420624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11 nodes: start_turn, contextualize, route, clarify, direct_answer, plan, retrieve, assess, generate, check, finalize (TODO 12 wires them).</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2 · State and reducers: who wins when two nodes write</a:t>
            </a:r>
            <a:endParaRPr lang="en-US" sz="3000" dirty="0"/>
          </a:p>
        </p:txBody>
      </p:sp>
      <p:sp>
        <p:nvSpPr>
          <p:cNvPr id="4" name="Shape 1"/>
          <p:cNvSpPr/>
          <p:nvPr/>
        </p:nvSpPr>
        <p:spPr>
          <a:xfrm>
            <a:off x="548640" y="1371600"/>
            <a:ext cx="6583680" cy="4526280"/>
          </a:xfrm>
          <a:prstGeom prst="roundRect">
            <a:avLst>
              <a:gd name="adj" fmla="val 2424"/>
            </a:avLst>
          </a:prstGeom>
          <a:solidFill>
            <a:schemeClr val="bg2"/>
          </a:solidFill>
          <a:ln w="12700">
            <a:solidFill>
              <a:schemeClr val="bg2"/>
            </a:solidFill>
            <a:prstDash val="solid"/>
          </a:ln>
        </p:spPr>
      </p:sp>
      <p:sp>
        <p:nvSpPr>
          <p:cNvPr id="5" name="Text 2"/>
          <p:cNvSpPr txBox="1"/>
          <p:nvPr/>
        </p:nvSpPr>
        <p:spPr>
          <a:xfrm>
            <a:off x="749808" y="1508760"/>
            <a:ext cx="6217920" cy="4251960"/>
          </a:xfrm>
          <a:prstGeom prst="rect">
            <a:avLst/>
          </a:prstGeom>
          <a:noFill/>
          <a:ln/>
        </p:spPr>
        <p:txBody>
          <a:bodyPr wrap="square" lIns="0" tIns="0" rIns="0" bIns="0" rtlCol="0" anchor="t"/>
          <a:lstStyle/>
          <a:p>
            <a:pPr indent="0" marL="0">
              <a:buNone/>
            </a:pPr>
            <a:r>
              <a:rPr lang="en-US" sz="1300" dirty="0">
                <a:solidFill>
                  <a:schemeClr val="tx1"/>
                </a:solidFill>
                <a:latin typeface="Consolas" pitchFamily="34" charset="0"/>
                <a:ea typeface="Consolas" pitchFamily="34" charset="-122"/>
                <a:cs typeface="Consolas" pitchFamily="34" charset="-120"/>
              </a:rPr>
              <a:t>class AgentState(TypedDict, total=False):</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 grows across turns, saved per thread</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messages: Annotated[list[AnyMessage], add_messages]</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 plain fields: last write wins</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route: str</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standalone: str</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answer: str</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 written by PARALLEL retrieve nodes -&gt; reducer</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evidence: Annotated[list[Evidence], accumulate]</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tried_queries: Annotated[list[str], accumulate]</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steps: Annotated[list[Step], accumulate]</a:t>
            </a:r>
            <a:endParaRPr lang="en-US" sz="1300" dirty="0"/>
          </a:p>
          <a:p>
            <a:pPr indent="0" marL="0">
              <a:buNone/>
            </a:pP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def accumulate(left, right):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if right is None:          # start_turn: reset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return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return (left or []) + list(right)</a:t>
            </a:r>
            <a:endParaRPr lang="en-US" sz="1300" dirty="0"/>
          </a:p>
        </p:txBody>
      </p:sp>
      <p:sp>
        <p:nvSpPr>
          <p:cNvPr id="6" name="Shape 3"/>
          <p:cNvSpPr/>
          <p:nvPr/>
        </p:nvSpPr>
        <p:spPr>
          <a:xfrm>
            <a:off x="7406640" y="1371600"/>
            <a:ext cx="4206240" cy="1417320"/>
          </a:xfrm>
          <a:prstGeom prst="roundRect">
            <a:avLst>
              <a:gd name="adj" fmla="val 7742"/>
            </a:avLst>
          </a:prstGeom>
          <a:solidFill>
            <a:schemeClr val="bg2"/>
          </a:solidFill>
          <a:ln w="12700">
            <a:solidFill>
              <a:schemeClr val="bg2"/>
            </a:solidFill>
            <a:prstDash val="solid"/>
          </a:ln>
        </p:spPr>
      </p:sp>
      <p:sp>
        <p:nvSpPr>
          <p:cNvPr id="7" name="Text 4"/>
          <p:cNvSpPr txBox="1"/>
          <p:nvPr/>
        </p:nvSpPr>
        <p:spPr>
          <a:xfrm>
            <a:off x="7680960" y="1627632"/>
            <a:ext cx="370332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Plain field</a:t>
            </a:r>
            <a:endParaRPr lang="en-US" sz="1700" dirty="0"/>
          </a:p>
        </p:txBody>
      </p:sp>
      <p:sp>
        <p:nvSpPr>
          <p:cNvPr id="8" name="Text 5"/>
          <p:cNvSpPr txBox="1"/>
          <p:nvPr/>
        </p:nvSpPr>
        <p:spPr>
          <a:xfrm>
            <a:off x="7680960" y="2212848"/>
            <a:ext cx="3657600" cy="4114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last write wins</a:t>
            </a:r>
            <a:endParaRPr lang="en-US" sz="1400" dirty="0"/>
          </a:p>
        </p:txBody>
      </p:sp>
      <p:sp>
        <p:nvSpPr>
          <p:cNvPr id="9" name="Shape 6"/>
          <p:cNvSpPr/>
          <p:nvPr/>
        </p:nvSpPr>
        <p:spPr>
          <a:xfrm>
            <a:off x="7406640" y="2971800"/>
            <a:ext cx="4206240" cy="1417320"/>
          </a:xfrm>
          <a:prstGeom prst="roundRect">
            <a:avLst>
              <a:gd name="adj" fmla="val 7742"/>
            </a:avLst>
          </a:prstGeom>
          <a:solidFill>
            <a:schemeClr val="accent6"/>
          </a:solidFill>
          <a:ln w="12700">
            <a:solidFill>
              <a:schemeClr val="accent6"/>
            </a:solidFill>
            <a:prstDash val="solid"/>
          </a:ln>
        </p:spPr>
      </p:sp>
      <p:sp>
        <p:nvSpPr>
          <p:cNvPr id="10" name="Text 7"/>
          <p:cNvSpPr txBox="1"/>
          <p:nvPr/>
        </p:nvSpPr>
        <p:spPr>
          <a:xfrm>
            <a:off x="7680960" y="3227832"/>
            <a:ext cx="3703320" cy="45720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Reducer field</a:t>
            </a:r>
            <a:endParaRPr lang="en-US" sz="1700" dirty="0"/>
          </a:p>
        </p:txBody>
      </p:sp>
      <p:sp>
        <p:nvSpPr>
          <p:cNvPr id="11" name="Text 8"/>
          <p:cNvSpPr txBox="1"/>
          <p:nvPr/>
        </p:nvSpPr>
        <p:spPr>
          <a:xfrm>
            <a:off x="7680960" y="3813048"/>
            <a:ext cx="3657600" cy="4114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updates are merged</a:t>
            </a:r>
            <a:endParaRPr lang="en-US" sz="1400" dirty="0"/>
          </a:p>
        </p:txBody>
      </p:sp>
      <p:sp>
        <p:nvSpPr>
          <p:cNvPr id="12" name="Shape 9"/>
          <p:cNvSpPr/>
          <p:nvPr/>
        </p:nvSpPr>
        <p:spPr>
          <a:xfrm>
            <a:off x="7406640" y="4572000"/>
            <a:ext cx="4206240" cy="1325880"/>
          </a:xfrm>
          <a:prstGeom prst="roundRect">
            <a:avLst>
              <a:gd name="adj" fmla="val 8276"/>
            </a:avLst>
          </a:prstGeom>
          <a:solidFill>
            <a:srgbClr val="FDECEC"/>
          </a:solidFill>
          <a:ln w="12700">
            <a:solidFill>
              <a:srgbClr val="FDECEC"/>
            </a:solidFill>
            <a:prstDash val="solid"/>
          </a:ln>
        </p:spPr>
      </p:sp>
      <p:sp>
        <p:nvSpPr>
          <p:cNvPr id="13" name="Text 10"/>
          <p:cNvSpPr txBox="1"/>
          <p:nvPr/>
        </p:nvSpPr>
        <p:spPr>
          <a:xfrm>
            <a:off x="7680960" y="4828032"/>
            <a:ext cx="3703320" cy="457200"/>
          </a:xfrm>
          <a:prstGeom prst="rect">
            <a:avLst/>
          </a:prstGeom>
          <a:noFill/>
          <a:ln/>
        </p:spPr>
        <p:txBody>
          <a:bodyPr wrap="square" lIns="0" tIns="0" rIns="0" bIns="0" rtlCol="0" anchor="ctr"/>
          <a:lstStyle/>
          <a:p>
            <a:pPr indent="0" marL="0">
              <a:buNone/>
            </a:pPr>
            <a:r>
              <a:rPr lang="en-US" sz="1700" b="1" dirty="0">
                <a:solidFill>
                  <a:srgbClr val="B91C1C"/>
                </a:solidFill>
                <a:latin typeface="Calibri" pitchFamily="34" charset="0"/>
                <a:ea typeface="Calibri" pitchFamily="34" charset="-122"/>
                <a:cs typeface="Calibri" pitchFamily="34" charset="-120"/>
              </a:rPr>
              <a:t>No reducer + parallel writes</a:t>
            </a:r>
            <a:endParaRPr lang="en-US" sz="1700" dirty="0"/>
          </a:p>
        </p:txBody>
      </p:sp>
      <p:sp>
        <p:nvSpPr>
          <p:cNvPr id="14" name="Text 11"/>
          <p:cNvSpPr txBox="1"/>
          <p:nvPr/>
        </p:nvSpPr>
        <p:spPr>
          <a:xfrm>
            <a:off x="7680960" y="5413248"/>
            <a:ext cx="365760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InvalidUpdateError</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3 · Conditional edges and cycles: decisions and loops</a:t>
            </a:r>
            <a:endParaRPr lang="en-US" sz="3000" dirty="0"/>
          </a:p>
        </p:txBody>
      </p:sp>
      <p:sp>
        <p:nvSpPr>
          <p:cNvPr id="4" name="Shape 1"/>
          <p:cNvSpPr/>
          <p:nvPr/>
        </p:nvSpPr>
        <p:spPr>
          <a:xfrm>
            <a:off x="548640" y="1371600"/>
            <a:ext cx="5760720" cy="2148840"/>
          </a:xfrm>
          <a:prstGeom prst="roundRect">
            <a:avLst>
              <a:gd name="adj" fmla="val 5106"/>
            </a:avLst>
          </a:prstGeom>
          <a:solidFill>
            <a:schemeClr val="bg2"/>
          </a:solidFill>
          <a:ln w="12700">
            <a:solidFill>
              <a:schemeClr val="bg2"/>
            </a:solidFill>
            <a:prstDash val="solid"/>
          </a:ln>
        </p:spPr>
      </p:sp>
      <p:sp>
        <p:nvSpPr>
          <p:cNvPr id="5" name="Text 2"/>
          <p:cNvSpPr txBox="1"/>
          <p:nvPr/>
        </p:nvSpPr>
        <p:spPr>
          <a:xfrm>
            <a:off x="749808" y="1508760"/>
            <a:ext cx="5394960" cy="1874520"/>
          </a:xfrm>
          <a:prstGeom prst="rect">
            <a:avLst/>
          </a:prstGeom>
          <a:noFill/>
          <a:ln/>
        </p:spPr>
        <p:txBody>
          <a:bodyPr wrap="square" lIns="0" tIns="0" rIns="0" bIns="0" rtlCol="0" anchor="t"/>
          <a:lstStyle/>
          <a:p>
            <a:pPr indent="0" marL="0">
              <a:buNone/>
            </a:pPr>
            <a:r>
              <a:rPr lang="en-US" sz="1250" dirty="0">
                <a:solidFill>
                  <a:schemeClr val="tx1"/>
                </a:solidFill>
                <a:latin typeface="Consolas" pitchFamily="34" charset="0"/>
                <a:ea typeface="Consolas" pitchFamily="34" charset="-122"/>
                <a:cs typeface="Consolas" pitchFamily="34" charset="-120"/>
              </a:rPr>
              <a:t>g.add_conditional_edges(</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"route", nodes.after_route,</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["direct_answer", "clarify", "plan"])</a:t>
            </a:r>
            <a:endParaRPr lang="en-US" sz="1250" dirty="0"/>
          </a:p>
          <a:p>
            <a:pPr indent="0" marL="0">
              <a:buNone/>
            </a:pP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def after_route(self, state) -&gt; str:</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 = state["route"]</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if r == "direct":  return "direct_answer"</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if r == "clarify": return "clarify"</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return "plan"</a:t>
            </a:r>
            <a:endParaRPr lang="en-US" sz="1250" dirty="0"/>
          </a:p>
        </p:txBody>
      </p:sp>
      <p:sp>
        <p:nvSpPr>
          <p:cNvPr id="6" name="Shape 3"/>
          <p:cNvSpPr/>
          <p:nvPr/>
        </p:nvSpPr>
        <p:spPr>
          <a:xfrm>
            <a:off x="548640" y="3703320"/>
            <a:ext cx="5760720" cy="2240280"/>
          </a:xfrm>
          <a:prstGeom prst="roundRect">
            <a:avLst>
              <a:gd name="adj" fmla="val 4898"/>
            </a:avLst>
          </a:prstGeom>
          <a:solidFill>
            <a:schemeClr val="bg2"/>
          </a:solidFill>
          <a:ln w="12700">
            <a:solidFill>
              <a:schemeClr val="bg2"/>
            </a:solidFill>
            <a:prstDash val="solid"/>
          </a:ln>
        </p:spPr>
      </p:sp>
      <p:sp>
        <p:nvSpPr>
          <p:cNvPr id="7" name="Text 4"/>
          <p:cNvSpPr txBox="1"/>
          <p:nvPr/>
        </p:nvSpPr>
        <p:spPr>
          <a:xfrm>
            <a:off x="749808" y="3840480"/>
            <a:ext cx="5394960" cy="1965960"/>
          </a:xfrm>
          <a:prstGeom prst="rect">
            <a:avLst/>
          </a:prstGeom>
          <a:noFill/>
          <a:ln/>
        </p:spPr>
        <p:txBody>
          <a:bodyPr wrap="square" lIns="0" tIns="0" rIns="0" bIns="0" rtlCol="0" anchor="t"/>
          <a:lstStyle/>
          <a:p>
            <a:pPr indent="0" marL="0">
              <a:buNone/>
            </a:pPr>
            <a:r>
              <a:rPr lang="en-US" sz="1250" dirty="0">
                <a:solidFill>
                  <a:schemeClr val="tx1"/>
                </a:solidFill>
                <a:latin typeface="Consolas" pitchFamily="34" charset="0"/>
                <a:ea typeface="Consolas" pitchFamily="34" charset="-122"/>
                <a:cs typeface="Consolas" pitchFamily="34" charset="-120"/>
              </a:rPr>
              <a:t>def after_assess(self, state):</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if (state["sufficient"]</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or state["rounds"] &gt;= self.cfg.max_rounds</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or not state["pending"]):</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return "generate"         # exit the loop</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return self.fan_out(state)    # loop again</a:t>
            </a:r>
            <a:endParaRPr lang="en-US" sz="1250" dirty="0"/>
          </a:p>
          <a:p>
            <a:pPr indent="0" marL="0">
              <a:buNone/>
            </a:pP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app.invoke(inp, {"recursion_limit": 40, ...})</a:t>
            </a:r>
            <a:endParaRPr lang="en-US" sz="1250" dirty="0"/>
          </a:p>
        </p:txBody>
      </p:sp>
      <p:sp>
        <p:nvSpPr>
          <p:cNvPr id="8" name="Shape 5"/>
          <p:cNvSpPr/>
          <p:nvPr/>
        </p:nvSpPr>
        <p:spPr>
          <a:xfrm>
            <a:off x="6583680" y="2011680"/>
            <a:ext cx="651784" cy="249448"/>
          </a:xfrm>
          <a:prstGeom prst="roundRect">
            <a:avLst>
              <a:gd name="adj" fmla="val 29326"/>
            </a:avLst>
          </a:prstGeom>
          <a:solidFill>
            <a:schemeClr val="bg1"/>
          </a:solidFill>
          <a:ln w="15875">
            <a:solidFill>
              <a:srgbClr val="D5DCE5"/>
            </a:solidFill>
            <a:prstDash val="solid"/>
          </a:ln>
        </p:spPr>
      </p:sp>
      <p:sp>
        <p:nvSpPr>
          <p:cNvPr id="9" name="Text 6"/>
          <p:cNvSpPr txBox="1"/>
          <p:nvPr/>
        </p:nvSpPr>
        <p:spPr>
          <a:xfrm>
            <a:off x="6583680" y="2011680"/>
            <a:ext cx="651784" cy="249448"/>
          </a:xfrm>
          <a:prstGeom prst="rect">
            <a:avLst/>
          </a:prstGeom>
          <a:noFill/>
          <a:ln/>
        </p:spPr>
        <p:txBody>
          <a:bodyPr wrap="square" lIns="0" tIns="0" rIns="0" bIns="0" rtlCol="0" anchor="ctr"/>
          <a:lstStyle/>
          <a:p>
            <a:pPr algn="ctr" indent="0" marL="0">
              <a:buNone/>
            </a:pPr>
            <a:r>
              <a:rPr lang="en-US" sz="550" b="1" dirty="0">
                <a:solidFill>
                  <a:srgbClr val="A0AAB8"/>
                </a:solidFill>
                <a:latin typeface="Consolas" pitchFamily="34" charset="0"/>
                <a:ea typeface="Consolas" pitchFamily="34" charset="-122"/>
                <a:cs typeface="Consolas" pitchFamily="34" charset="-120"/>
              </a:rPr>
              <a:t>start_turn</a:t>
            </a:r>
            <a:endParaRPr lang="en-US" sz="550" dirty="0"/>
          </a:p>
        </p:txBody>
      </p:sp>
      <p:sp>
        <p:nvSpPr>
          <p:cNvPr id="10" name="Shape 7"/>
          <p:cNvSpPr/>
          <p:nvPr/>
        </p:nvSpPr>
        <p:spPr>
          <a:xfrm>
            <a:off x="7436632" y="2011680"/>
            <a:ext cx="651784" cy="249448"/>
          </a:xfrm>
          <a:prstGeom prst="roundRect">
            <a:avLst>
              <a:gd name="adj" fmla="val 29326"/>
            </a:avLst>
          </a:prstGeom>
          <a:solidFill>
            <a:schemeClr val="bg1"/>
          </a:solidFill>
          <a:ln w="15875">
            <a:solidFill>
              <a:srgbClr val="D5DCE5"/>
            </a:solidFill>
            <a:prstDash val="solid"/>
          </a:ln>
        </p:spPr>
      </p:sp>
      <p:sp>
        <p:nvSpPr>
          <p:cNvPr id="11" name="Text 8"/>
          <p:cNvSpPr txBox="1"/>
          <p:nvPr/>
        </p:nvSpPr>
        <p:spPr>
          <a:xfrm>
            <a:off x="7436632" y="2011680"/>
            <a:ext cx="651784" cy="249448"/>
          </a:xfrm>
          <a:prstGeom prst="rect">
            <a:avLst/>
          </a:prstGeom>
          <a:noFill/>
          <a:ln/>
        </p:spPr>
        <p:txBody>
          <a:bodyPr wrap="square" lIns="0" tIns="0" rIns="0" bIns="0" rtlCol="0" anchor="ctr"/>
          <a:lstStyle/>
          <a:p>
            <a:pPr algn="ctr" indent="0" marL="0">
              <a:buNone/>
            </a:pPr>
            <a:r>
              <a:rPr lang="en-US" sz="550" b="1" dirty="0">
                <a:solidFill>
                  <a:srgbClr val="A0AAB8"/>
                </a:solidFill>
                <a:latin typeface="Consolas" pitchFamily="34" charset="0"/>
                <a:ea typeface="Consolas" pitchFamily="34" charset="-122"/>
                <a:cs typeface="Consolas" pitchFamily="34" charset="-120"/>
              </a:rPr>
              <a:t>contextualize</a:t>
            </a:r>
            <a:endParaRPr lang="en-US" sz="550" dirty="0"/>
          </a:p>
        </p:txBody>
      </p:sp>
      <p:sp>
        <p:nvSpPr>
          <p:cNvPr id="12" name="Shape 9"/>
          <p:cNvSpPr/>
          <p:nvPr/>
        </p:nvSpPr>
        <p:spPr>
          <a:xfrm>
            <a:off x="8289585" y="2011680"/>
            <a:ext cx="651784" cy="249448"/>
          </a:xfrm>
          <a:prstGeom prst="roundRect">
            <a:avLst>
              <a:gd name="adj" fmla="val 29326"/>
            </a:avLst>
          </a:prstGeom>
          <a:solidFill>
            <a:schemeClr val="accent6"/>
          </a:solidFill>
          <a:ln w="15875">
            <a:solidFill>
              <a:schemeClr val="accent1"/>
            </a:solidFill>
            <a:prstDash val="solid"/>
          </a:ln>
        </p:spPr>
      </p:sp>
      <p:sp>
        <p:nvSpPr>
          <p:cNvPr id="13" name="Text 10"/>
          <p:cNvSpPr txBox="1"/>
          <p:nvPr/>
        </p:nvSpPr>
        <p:spPr>
          <a:xfrm>
            <a:off x="8289585" y="2011680"/>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route</a:t>
            </a:r>
            <a:endParaRPr lang="en-US" sz="550" dirty="0"/>
          </a:p>
        </p:txBody>
      </p:sp>
      <p:sp>
        <p:nvSpPr>
          <p:cNvPr id="14" name="Shape 11"/>
          <p:cNvSpPr/>
          <p:nvPr/>
        </p:nvSpPr>
        <p:spPr>
          <a:xfrm>
            <a:off x="9239098" y="2011680"/>
            <a:ext cx="651784" cy="249448"/>
          </a:xfrm>
          <a:prstGeom prst="roundRect">
            <a:avLst>
              <a:gd name="adj" fmla="val 29326"/>
            </a:avLst>
          </a:prstGeom>
          <a:solidFill>
            <a:schemeClr val="bg2"/>
          </a:solidFill>
          <a:ln w="15875">
            <a:solidFill>
              <a:schemeClr val="accent3"/>
            </a:solidFill>
            <a:prstDash val="solid"/>
          </a:ln>
        </p:spPr>
      </p:sp>
      <p:sp>
        <p:nvSpPr>
          <p:cNvPr id="15" name="Text 12"/>
          <p:cNvSpPr txBox="1"/>
          <p:nvPr/>
        </p:nvSpPr>
        <p:spPr>
          <a:xfrm>
            <a:off x="9239098" y="2011680"/>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direct_answer</a:t>
            </a:r>
            <a:endParaRPr lang="en-US" sz="550" dirty="0"/>
          </a:p>
        </p:txBody>
      </p:sp>
      <p:sp>
        <p:nvSpPr>
          <p:cNvPr id="16" name="Shape 13"/>
          <p:cNvSpPr/>
          <p:nvPr/>
        </p:nvSpPr>
        <p:spPr>
          <a:xfrm>
            <a:off x="10945002" y="2011680"/>
            <a:ext cx="651784" cy="249448"/>
          </a:xfrm>
          <a:prstGeom prst="roundRect">
            <a:avLst>
              <a:gd name="adj" fmla="val 29326"/>
            </a:avLst>
          </a:prstGeom>
          <a:solidFill>
            <a:schemeClr val="bg1"/>
          </a:solidFill>
          <a:ln w="15875">
            <a:solidFill>
              <a:srgbClr val="D5DCE5"/>
            </a:solidFill>
            <a:prstDash val="solid"/>
          </a:ln>
        </p:spPr>
      </p:sp>
      <p:sp>
        <p:nvSpPr>
          <p:cNvPr id="17" name="Text 14"/>
          <p:cNvSpPr txBox="1"/>
          <p:nvPr/>
        </p:nvSpPr>
        <p:spPr>
          <a:xfrm>
            <a:off x="10945002" y="2011680"/>
            <a:ext cx="651784" cy="249448"/>
          </a:xfrm>
          <a:prstGeom prst="rect">
            <a:avLst/>
          </a:prstGeom>
          <a:noFill/>
          <a:ln/>
        </p:spPr>
        <p:txBody>
          <a:bodyPr wrap="square" lIns="0" tIns="0" rIns="0" bIns="0" rtlCol="0" anchor="ctr"/>
          <a:lstStyle/>
          <a:p>
            <a:pPr algn="ctr" indent="0" marL="0">
              <a:buNone/>
            </a:pPr>
            <a:r>
              <a:rPr lang="en-US" sz="550" b="1" dirty="0">
                <a:solidFill>
                  <a:srgbClr val="A0AAB8"/>
                </a:solidFill>
                <a:latin typeface="Consolas" pitchFamily="34" charset="0"/>
                <a:ea typeface="Consolas" pitchFamily="34" charset="-122"/>
                <a:cs typeface="Consolas" pitchFamily="34" charset="-120"/>
              </a:rPr>
              <a:t>finalize</a:t>
            </a:r>
            <a:endParaRPr lang="en-US" sz="550" dirty="0"/>
          </a:p>
        </p:txBody>
      </p:sp>
      <p:sp>
        <p:nvSpPr>
          <p:cNvPr id="18" name="Shape 15"/>
          <p:cNvSpPr/>
          <p:nvPr/>
        </p:nvSpPr>
        <p:spPr>
          <a:xfrm>
            <a:off x="9239098" y="2474366"/>
            <a:ext cx="651784" cy="249448"/>
          </a:xfrm>
          <a:prstGeom prst="roundRect">
            <a:avLst>
              <a:gd name="adj" fmla="val 29326"/>
            </a:avLst>
          </a:prstGeom>
          <a:solidFill>
            <a:schemeClr val="accent6"/>
          </a:solidFill>
          <a:ln w="15875">
            <a:solidFill>
              <a:schemeClr val="accent1"/>
            </a:solidFill>
            <a:prstDash val="solid"/>
          </a:ln>
        </p:spPr>
      </p:sp>
      <p:sp>
        <p:nvSpPr>
          <p:cNvPr id="19" name="Text 16"/>
          <p:cNvSpPr txBox="1"/>
          <p:nvPr/>
        </p:nvSpPr>
        <p:spPr>
          <a:xfrm>
            <a:off x="9239098" y="2474366"/>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clarify</a:t>
            </a:r>
            <a:endParaRPr lang="en-US" sz="550" dirty="0"/>
          </a:p>
        </p:txBody>
      </p:sp>
      <p:sp>
        <p:nvSpPr>
          <p:cNvPr id="20" name="Shape 17"/>
          <p:cNvSpPr/>
          <p:nvPr/>
        </p:nvSpPr>
        <p:spPr>
          <a:xfrm>
            <a:off x="8289585" y="2655418"/>
            <a:ext cx="651784" cy="249448"/>
          </a:xfrm>
          <a:prstGeom prst="roundRect">
            <a:avLst>
              <a:gd name="adj" fmla="val 29326"/>
            </a:avLst>
          </a:prstGeom>
          <a:solidFill>
            <a:schemeClr val="accent6"/>
          </a:solidFill>
          <a:ln w="15875">
            <a:solidFill>
              <a:schemeClr val="accent1"/>
            </a:solidFill>
            <a:prstDash val="solid"/>
          </a:ln>
        </p:spPr>
      </p:sp>
      <p:sp>
        <p:nvSpPr>
          <p:cNvPr id="21" name="Text 18"/>
          <p:cNvSpPr txBox="1"/>
          <p:nvPr/>
        </p:nvSpPr>
        <p:spPr>
          <a:xfrm>
            <a:off x="8289585" y="2655418"/>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plan</a:t>
            </a:r>
            <a:endParaRPr lang="en-US" sz="550" dirty="0"/>
          </a:p>
        </p:txBody>
      </p:sp>
      <p:sp>
        <p:nvSpPr>
          <p:cNvPr id="22" name="Shape 19"/>
          <p:cNvSpPr/>
          <p:nvPr/>
        </p:nvSpPr>
        <p:spPr>
          <a:xfrm>
            <a:off x="8337865" y="3150291"/>
            <a:ext cx="651784" cy="249448"/>
          </a:xfrm>
          <a:prstGeom prst="roundRect">
            <a:avLst>
              <a:gd name="adj" fmla="val 29326"/>
            </a:avLst>
          </a:prstGeom>
          <a:solidFill>
            <a:schemeClr val="bg1"/>
          </a:solidFill>
          <a:ln w="12700">
            <a:solidFill>
              <a:schemeClr val="accent3"/>
            </a:solidFill>
            <a:prstDash val="solid"/>
          </a:ln>
        </p:spPr>
      </p:sp>
      <p:sp>
        <p:nvSpPr>
          <p:cNvPr id="23" name="Shape 20"/>
          <p:cNvSpPr/>
          <p:nvPr/>
        </p:nvSpPr>
        <p:spPr>
          <a:xfrm>
            <a:off x="8313725" y="3174431"/>
            <a:ext cx="651784" cy="249448"/>
          </a:xfrm>
          <a:prstGeom prst="roundRect">
            <a:avLst>
              <a:gd name="adj" fmla="val 29326"/>
            </a:avLst>
          </a:prstGeom>
          <a:solidFill>
            <a:schemeClr val="bg1"/>
          </a:solidFill>
          <a:ln w="12700">
            <a:solidFill>
              <a:schemeClr val="accent3"/>
            </a:solidFill>
            <a:prstDash val="solid"/>
          </a:ln>
        </p:spPr>
      </p:sp>
      <p:sp>
        <p:nvSpPr>
          <p:cNvPr id="24" name="Shape 21"/>
          <p:cNvSpPr/>
          <p:nvPr/>
        </p:nvSpPr>
        <p:spPr>
          <a:xfrm>
            <a:off x="8289585" y="3198571"/>
            <a:ext cx="651784" cy="249448"/>
          </a:xfrm>
          <a:prstGeom prst="roundRect">
            <a:avLst>
              <a:gd name="adj" fmla="val 29326"/>
            </a:avLst>
          </a:prstGeom>
          <a:solidFill>
            <a:schemeClr val="bg2"/>
          </a:solidFill>
          <a:ln w="15875">
            <a:solidFill>
              <a:schemeClr val="accent3"/>
            </a:solidFill>
            <a:prstDash val="solid"/>
          </a:ln>
        </p:spPr>
      </p:sp>
      <p:sp>
        <p:nvSpPr>
          <p:cNvPr id="25" name="Text 22"/>
          <p:cNvSpPr txBox="1"/>
          <p:nvPr/>
        </p:nvSpPr>
        <p:spPr>
          <a:xfrm>
            <a:off x="8289585" y="3198571"/>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retrieve</a:t>
            </a:r>
            <a:endParaRPr lang="en-US" sz="550" dirty="0"/>
          </a:p>
        </p:txBody>
      </p:sp>
      <p:sp>
        <p:nvSpPr>
          <p:cNvPr id="26" name="Shape 23"/>
          <p:cNvSpPr/>
          <p:nvPr/>
        </p:nvSpPr>
        <p:spPr>
          <a:xfrm>
            <a:off x="9239098" y="3198571"/>
            <a:ext cx="651784" cy="249448"/>
          </a:xfrm>
          <a:prstGeom prst="roundRect">
            <a:avLst>
              <a:gd name="adj" fmla="val 29326"/>
            </a:avLst>
          </a:prstGeom>
          <a:solidFill>
            <a:schemeClr val="accent6"/>
          </a:solidFill>
          <a:ln w="15875">
            <a:solidFill>
              <a:schemeClr val="accent1"/>
            </a:solidFill>
            <a:prstDash val="solid"/>
          </a:ln>
        </p:spPr>
      </p:sp>
      <p:sp>
        <p:nvSpPr>
          <p:cNvPr id="27" name="Text 24"/>
          <p:cNvSpPr txBox="1"/>
          <p:nvPr/>
        </p:nvSpPr>
        <p:spPr>
          <a:xfrm>
            <a:off x="9239098" y="3198571"/>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assess</a:t>
            </a:r>
            <a:endParaRPr lang="en-US" sz="550" dirty="0"/>
          </a:p>
        </p:txBody>
      </p:sp>
      <p:sp>
        <p:nvSpPr>
          <p:cNvPr id="28" name="Shape 25"/>
          <p:cNvSpPr/>
          <p:nvPr/>
        </p:nvSpPr>
        <p:spPr>
          <a:xfrm>
            <a:off x="10092050" y="3198571"/>
            <a:ext cx="651784" cy="249448"/>
          </a:xfrm>
          <a:prstGeom prst="roundRect">
            <a:avLst>
              <a:gd name="adj" fmla="val 29326"/>
            </a:avLst>
          </a:prstGeom>
          <a:solidFill>
            <a:schemeClr val="bg2"/>
          </a:solidFill>
          <a:ln w="15875">
            <a:solidFill>
              <a:schemeClr val="accent3"/>
            </a:solidFill>
            <a:prstDash val="solid"/>
          </a:ln>
        </p:spPr>
      </p:sp>
      <p:sp>
        <p:nvSpPr>
          <p:cNvPr id="29" name="Text 26"/>
          <p:cNvSpPr txBox="1"/>
          <p:nvPr/>
        </p:nvSpPr>
        <p:spPr>
          <a:xfrm>
            <a:off x="10092050" y="3198571"/>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generate</a:t>
            </a:r>
            <a:endParaRPr lang="en-US" sz="550" dirty="0"/>
          </a:p>
        </p:txBody>
      </p:sp>
      <p:sp>
        <p:nvSpPr>
          <p:cNvPr id="30" name="Shape 27"/>
          <p:cNvSpPr/>
          <p:nvPr/>
        </p:nvSpPr>
        <p:spPr>
          <a:xfrm>
            <a:off x="10945002" y="3198571"/>
            <a:ext cx="651784" cy="249448"/>
          </a:xfrm>
          <a:prstGeom prst="roundRect">
            <a:avLst>
              <a:gd name="adj" fmla="val 29326"/>
            </a:avLst>
          </a:prstGeom>
          <a:solidFill>
            <a:schemeClr val="accent6"/>
          </a:solidFill>
          <a:ln w="15875">
            <a:solidFill>
              <a:schemeClr val="accent1"/>
            </a:solidFill>
            <a:prstDash val="solid"/>
          </a:ln>
        </p:spPr>
      </p:sp>
      <p:sp>
        <p:nvSpPr>
          <p:cNvPr id="31" name="Text 28"/>
          <p:cNvSpPr txBox="1"/>
          <p:nvPr/>
        </p:nvSpPr>
        <p:spPr>
          <a:xfrm>
            <a:off x="10945002" y="3198571"/>
            <a:ext cx="651784" cy="249448"/>
          </a:xfrm>
          <a:prstGeom prst="rect">
            <a:avLst/>
          </a:prstGeom>
          <a:noFill/>
          <a:ln/>
        </p:spPr>
        <p:txBody>
          <a:bodyPr wrap="square" lIns="0" tIns="0" rIns="0" bIns="0" rtlCol="0" anchor="ctr"/>
          <a:lstStyle/>
          <a:p>
            <a:pPr algn="ctr" indent="0" marL="0">
              <a:buNone/>
            </a:pPr>
            <a:r>
              <a:rPr lang="en-US" sz="550" b="1" dirty="0">
                <a:solidFill>
                  <a:schemeClr val="tx1"/>
                </a:solidFill>
                <a:latin typeface="Consolas" pitchFamily="34" charset="0"/>
                <a:ea typeface="Consolas" pitchFamily="34" charset="-122"/>
                <a:cs typeface="Consolas" pitchFamily="34" charset="-120"/>
              </a:rPr>
              <a:t>check</a:t>
            </a:r>
            <a:endParaRPr lang="en-US" sz="550" dirty="0"/>
          </a:p>
        </p:txBody>
      </p:sp>
      <p:sp>
        <p:nvSpPr>
          <p:cNvPr id="32" name="Shape 29"/>
          <p:cNvSpPr/>
          <p:nvPr/>
        </p:nvSpPr>
        <p:spPr>
          <a:xfrm>
            <a:off x="7235464" y="2136404"/>
            <a:ext cx="201168" cy="914"/>
          </a:xfrm>
          <a:prstGeom prst="line">
            <a:avLst/>
          </a:prstGeom>
          <a:noFill/>
          <a:ln w="20320">
            <a:solidFill>
              <a:schemeClr val="accent3"/>
            </a:solidFill>
            <a:prstDash val="solid"/>
            <a:tailEnd type="triangle"/>
          </a:ln>
        </p:spPr>
      </p:sp>
      <p:sp>
        <p:nvSpPr>
          <p:cNvPr id="33" name="Shape 30"/>
          <p:cNvSpPr/>
          <p:nvPr/>
        </p:nvSpPr>
        <p:spPr>
          <a:xfrm>
            <a:off x="8088417" y="2136404"/>
            <a:ext cx="201168" cy="914"/>
          </a:xfrm>
          <a:prstGeom prst="line">
            <a:avLst/>
          </a:prstGeom>
          <a:noFill/>
          <a:ln w="20320">
            <a:solidFill>
              <a:schemeClr val="accent3"/>
            </a:solidFill>
            <a:prstDash val="solid"/>
            <a:tailEnd type="triangle"/>
          </a:ln>
        </p:spPr>
      </p:sp>
      <p:sp>
        <p:nvSpPr>
          <p:cNvPr id="34" name="Shape 31"/>
          <p:cNvSpPr/>
          <p:nvPr/>
        </p:nvSpPr>
        <p:spPr>
          <a:xfrm>
            <a:off x="8941369" y="2136404"/>
            <a:ext cx="297729" cy="914"/>
          </a:xfrm>
          <a:prstGeom prst="line">
            <a:avLst/>
          </a:prstGeom>
          <a:noFill/>
          <a:ln w="20320">
            <a:solidFill>
              <a:schemeClr val="accent1"/>
            </a:solidFill>
            <a:prstDash val="dash"/>
            <a:tailEnd type="triangle"/>
          </a:ln>
        </p:spPr>
      </p:sp>
      <p:sp>
        <p:nvSpPr>
          <p:cNvPr id="35" name="Shape 32"/>
          <p:cNvSpPr/>
          <p:nvPr/>
        </p:nvSpPr>
        <p:spPr>
          <a:xfrm>
            <a:off x="8843601" y="2261128"/>
            <a:ext cx="914" cy="337962"/>
          </a:xfrm>
          <a:prstGeom prst="line">
            <a:avLst/>
          </a:prstGeom>
          <a:noFill/>
          <a:ln w="20320">
            <a:solidFill>
              <a:schemeClr val="accent1"/>
            </a:solidFill>
            <a:prstDash val="dash"/>
          </a:ln>
        </p:spPr>
      </p:sp>
      <p:sp>
        <p:nvSpPr>
          <p:cNvPr id="36" name="Shape 33"/>
          <p:cNvSpPr/>
          <p:nvPr/>
        </p:nvSpPr>
        <p:spPr>
          <a:xfrm>
            <a:off x="8843601" y="2599091"/>
            <a:ext cx="395496" cy="914"/>
          </a:xfrm>
          <a:prstGeom prst="line">
            <a:avLst/>
          </a:prstGeom>
          <a:noFill/>
          <a:ln w="20320">
            <a:solidFill>
              <a:schemeClr val="accent1"/>
            </a:solidFill>
            <a:prstDash val="dash"/>
            <a:tailEnd type="triangle"/>
          </a:ln>
        </p:spPr>
      </p:sp>
      <p:sp>
        <p:nvSpPr>
          <p:cNvPr id="37" name="Shape 34"/>
          <p:cNvSpPr/>
          <p:nvPr/>
        </p:nvSpPr>
        <p:spPr>
          <a:xfrm flipV="1">
            <a:off x="9317312" y="2341596"/>
            <a:ext cx="914" cy="132771"/>
          </a:xfrm>
          <a:prstGeom prst="line">
            <a:avLst/>
          </a:prstGeom>
          <a:noFill/>
          <a:ln w="20320">
            <a:solidFill>
              <a:schemeClr val="accent3"/>
            </a:solidFill>
            <a:prstDash val="solid"/>
          </a:ln>
        </p:spPr>
      </p:sp>
      <p:sp>
        <p:nvSpPr>
          <p:cNvPr id="38" name="Shape 35"/>
          <p:cNvSpPr/>
          <p:nvPr/>
        </p:nvSpPr>
        <p:spPr>
          <a:xfrm flipH="1">
            <a:off x="8921815" y="2341596"/>
            <a:ext cx="395496" cy="914"/>
          </a:xfrm>
          <a:prstGeom prst="line">
            <a:avLst/>
          </a:prstGeom>
          <a:noFill/>
          <a:ln w="20320">
            <a:solidFill>
              <a:schemeClr val="accent3"/>
            </a:solidFill>
            <a:prstDash val="solid"/>
          </a:ln>
        </p:spPr>
      </p:sp>
      <p:sp>
        <p:nvSpPr>
          <p:cNvPr id="39" name="Shape 36"/>
          <p:cNvSpPr/>
          <p:nvPr/>
        </p:nvSpPr>
        <p:spPr>
          <a:xfrm flipV="1">
            <a:off x="8921815" y="2270272"/>
            <a:ext cx="914" cy="71323"/>
          </a:xfrm>
          <a:prstGeom prst="line">
            <a:avLst/>
          </a:prstGeom>
          <a:noFill/>
          <a:ln w="20320">
            <a:solidFill>
              <a:schemeClr val="accent3"/>
            </a:solidFill>
            <a:prstDash val="solid"/>
            <a:tailEnd type="triangle"/>
          </a:ln>
        </p:spPr>
      </p:sp>
      <p:sp>
        <p:nvSpPr>
          <p:cNvPr id="40" name="Shape 37"/>
          <p:cNvSpPr/>
          <p:nvPr/>
        </p:nvSpPr>
        <p:spPr>
          <a:xfrm>
            <a:off x="8550298" y="2261128"/>
            <a:ext cx="914" cy="394289"/>
          </a:xfrm>
          <a:prstGeom prst="line">
            <a:avLst/>
          </a:prstGeom>
          <a:noFill/>
          <a:ln w="20320">
            <a:solidFill>
              <a:schemeClr val="accent1"/>
            </a:solidFill>
            <a:prstDash val="dash"/>
            <a:tailEnd type="triangle"/>
          </a:ln>
        </p:spPr>
      </p:sp>
      <p:sp>
        <p:nvSpPr>
          <p:cNvPr id="41" name="Shape 38"/>
          <p:cNvSpPr/>
          <p:nvPr/>
        </p:nvSpPr>
        <p:spPr>
          <a:xfrm>
            <a:off x="8550298" y="2904866"/>
            <a:ext cx="914" cy="237378"/>
          </a:xfrm>
          <a:prstGeom prst="line">
            <a:avLst/>
          </a:prstGeom>
          <a:noFill/>
          <a:ln w="25400">
            <a:solidFill>
              <a:schemeClr val="accent2"/>
            </a:solidFill>
            <a:prstDash val="dash"/>
            <a:tailEnd type="triangle"/>
          </a:ln>
        </p:spPr>
      </p:sp>
      <p:sp>
        <p:nvSpPr>
          <p:cNvPr id="42" name="Shape 39"/>
          <p:cNvSpPr/>
          <p:nvPr/>
        </p:nvSpPr>
        <p:spPr>
          <a:xfrm>
            <a:off x="8941369" y="3323295"/>
            <a:ext cx="297729" cy="914"/>
          </a:xfrm>
          <a:prstGeom prst="line">
            <a:avLst/>
          </a:prstGeom>
          <a:noFill/>
          <a:ln w="20320">
            <a:solidFill>
              <a:schemeClr val="accent3"/>
            </a:solidFill>
            <a:prstDash val="solid"/>
            <a:tailEnd type="triangle"/>
          </a:ln>
        </p:spPr>
      </p:sp>
      <p:sp>
        <p:nvSpPr>
          <p:cNvPr id="43" name="Shape 40"/>
          <p:cNvSpPr/>
          <p:nvPr/>
        </p:nvSpPr>
        <p:spPr>
          <a:xfrm>
            <a:off x="9564990" y="3448020"/>
            <a:ext cx="914" cy="128748"/>
          </a:xfrm>
          <a:prstGeom prst="line">
            <a:avLst/>
          </a:prstGeom>
          <a:noFill/>
          <a:ln w="20320">
            <a:solidFill>
              <a:schemeClr val="accent1"/>
            </a:solidFill>
            <a:prstDash val="dash"/>
          </a:ln>
        </p:spPr>
      </p:sp>
      <p:sp>
        <p:nvSpPr>
          <p:cNvPr id="44" name="Shape 41"/>
          <p:cNvSpPr/>
          <p:nvPr/>
        </p:nvSpPr>
        <p:spPr>
          <a:xfrm flipH="1">
            <a:off x="8680655" y="3576767"/>
            <a:ext cx="884335" cy="914"/>
          </a:xfrm>
          <a:prstGeom prst="line">
            <a:avLst/>
          </a:prstGeom>
          <a:noFill/>
          <a:ln w="20320">
            <a:solidFill>
              <a:schemeClr val="accent1"/>
            </a:solidFill>
            <a:prstDash val="dash"/>
          </a:ln>
        </p:spPr>
      </p:sp>
      <p:sp>
        <p:nvSpPr>
          <p:cNvPr id="45" name="Shape 42"/>
          <p:cNvSpPr/>
          <p:nvPr/>
        </p:nvSpPr>
        <p:spPr>
          <a:xfrm flipV="1">
            <a:off x="8680655" y="3466308"/>
            <a:ext cx="914" cy="110460"/>
          </a:xfrm>
          <a:prstGeom prst="line">
            <a:avLst/>
          </a:prstGeom>
          <a:noFill/>
          <a:ln w="20320">
            <a:solidFill>
              <a:schemeClr val="accent1"/>
            </a:solidFill>
            <a:prstDash val="dash"/>
            <a:tailEnd type="triangle"/>
          </a:ln>
        </p:spPr>
      </p:sp>
      <p:sp>
        <p:nvSpPr>
          <p:cNvPr id="46" name="Shape 43"/>
          <p:cNvSpPr/>
          <p:nvPr/>
        </p:nvSpPr>
        <p:spPr>
          <a:xfrm>
            <a:off x="9890882" y="3323295"/>
            <a:ext cx="201168" cy="914"/>
          </a:xfrm>
          <a:prstGeom prst="line">
            <a:avLst/>
          </a:prstGeom>
          <a:noFill/>
          <a:ln w="20320">
            <a:solidFill>
              <a:schemeClr val="accent1"/>
            </a:solidFill>
            <a:prstDash val="dash"/>
            <a:tailEnd type="triangle"/>
          </a:ln>
        </p:spPr>
      </p:sp>
      <p:sp>
        <p:nvSpPr>
          <p:cNvPr id="47" name="Shape 44"/>
          <p:cNvSpPr/>
          <p:nvPr/>
        </p:nvSpPr>
        <p:spPr>
          <a:xfrm>
            <a:off x="10743834" y="3323295"/>
            <a:ext cx="201168" cy="914"/>
          </a:xfrm>
          <a:prstGeom prst="line">
            <a:avLst/>
          </a:prstGeom>
          <a:noFill/>
          <a:ln w="20320">
            <a:solidFill>
              <a:schemeClr val="accent3"/>
            </a:solidFill>
            <a:prstDash val="solid"/>
            <a:tailEnd type="triangle"/>
          </a:ln>
        </p:spPr>
      </p:sp>
      <p:sp>
        <p:nvSpPr>
          <p:cNvPr id="48" name="Shape 45"/>
          <p:cNvSpPr/>
          <p:nvPr/>
        </p:nvSpPr>
        <p:spPr>
          <a:xfrm>
            <a:off x="11270894" y="3448020"/>
            <a:ext cx="914" cy="128748"/>
          </a:xfrm>
          <a:prstGeom prst="line">
            <a:avLst/>
          </a:prstGeom>
          <a:noFill/>
          <a:ln w="20320">
            <a:solidFill>
              <a:schemeClr val="accent1"/>
            </a:solidFill>
            <a:prstDash val="dash"/>
          </a:ln>
        </p:spPr>
      </p:sp>
      <p:sp>
        <p:nvSpPr>
          <p:cNvPr id="49" name="Shape 46"/>
          <p:cNvSpPr/>
          <p:nvPr/>
        </p:nvSpPr>
        <p:spPr>
          <a:xfrm flipH="1">
            <a:off x="10417942" y="3576767"/>
            <a:ext cx="852952" cy="914"/>
          </a:xfrm>
          <a:prstGeom prst="line">
            <a:avLst/>
          </a:prstGeom>
          <a:noFill/>
          <a:ln w="20320">
            <a:solidFill>
              <a:schemeClr val="accent1"/>
            </a:solidFill>
            <a:prstDash val="dash"/>
          </a:ln>
        </p:spPr>
      </p:sp>
      <p:sp>
        <p:nvSpPr>
          <p:cNvPr id="50" name="Shape 47"/>
          <p:cNvSpPr/>
          <p:nvPr/>
        </p:nvSpPr>
        <p:spPr>
          <a:xfrm flipV="1">
            <a:off x="10417942" y="3466308"/>
            <a:ext cx="914" cy="110460"/>
          </a:xfrm>
          <a:prstGeom prst="line">
            <a:avLst/>
          </a:prstGeom>
          <a:noFill/>
          <a:ln w="20320">
            <a:solidFill>
              <a:schemeClr val="accent1"/>
            </a:solidFill>
            <a:prstDash val="dash"/>
            <a:tailEnd type="triangle"/>
          </a:ln>
        </p:spPr>
      </p:sp>
      <p:sp>
        <p:nvSpPr>
          <p:cNvPr id="51" name="Shape 48"/>
          <p:cNvSpPr/>
          <p:nvPr/>
        </p:nvSpPr>
        <p:spPr>
          <a:xfrm flipV="1">
            <a:off x="11270894" y="2261128"/>
            <a:ext cx="914" cy="937443"/>
          </a:xfrm>
          <a:prstGeom prst="line">
            <a:avLst/>
          </a:prstGeom>
          <a:noFill/>
          <a:ln w="20320">
            <a:solidFill>
              <a:schemeClr val="accent1"/>
            </a:solidFill>
            <a:prstDash val="dash"/>
            <a:tailEnd type="triangle"/>
          </a:ln>
        </p:spPr>
      </p:sp>
      <p:sp>
        <p:nvSpPr>
          <p:cNvPr id="52" name="Shape 49"/>
          <p:cNvSpPr/>
          <p:nvPr/>
        </p:nvSpPr>
        <p:spPr>
          <a:xfrm>
            <a:off x="9890882" y="2136404"/>
            <a:ext cx="1054120" cy="914"/>
          </a:xfrm>
          <a:prstGeom prst="line">
            <a:avLst/>
          </a:prstGeom>
          <a:noFill/>
          <a:ln w="20320">
            <a:solidFill>
              <a:schemeClr val="accent3"/>
            </a:solidFill>
            <a:prstDash val="solid"/>
            <a:tailEnd type="triangle"/>
          </a:ln>
        </p:spPr>
      </p:sp>
      <p:sp>
        <p:nvSpPr>
          <p:cNvPr id="53" name="Text 50"/>
          <p:cNvSpPr txBox="1"/>
          <p:nvPr/>
        </p:nvSpPr>
        <p:spPr>
          <a:xfrm>
            <a:off x="9051097" y="2015703"/>
            <a:ext cx="914400" cy="112654"/>
          </a:xfrm>
          <a:prstGeom prst="rect">
            <a:avLst/>
          </a:prstGeom>
          <a:noFill/>
          <a:ln/>
        </p:spPr>
        <p:txBody>
          <a:bodyPr wrap="square" lIns="0" tIns="0" rIns="0" bIns="0" rtlCol="0" anchor="t"/>
          <a:lstStyle/>
          <a:p>
            <a:pPr indent="0" marL="0">
              <a:buNone/>
            </a:pPr>
            <a:r>
              <a:rPr lang="en-US" sz="462" i="1" dirty="0">
                <a:solidFill>
                  <a:schemeClr val="accent3"/>
                </a:solidFill>
                <a:latin typeface="Calibri" pitchFamily="34" charset="0"/>
                <a:ea typeface="Calibri" pitchFamily="34" charset="-122"/>
                <a:cs typeface="Calibri" pitchFamily="34" charset="-120"/>
              </a:rPr>
              <a:t>direct</a:t>
            </a:r>
            <a:endParaRPr lang="en-US" sz="462" dirty="0"/>
          </a:p>
        </p:txBody>
      </p:sp>
      <p:sp>
        <p:nvSpPr>
          <p:cNvPr id="54" name="Text 51"/>
          <p:cNvSpPr txBox="1"/>
          <p:nvPr/>
        </p:nvSpPr>
        <p:spPr>
          <a:xfrm>
            <a:off x="8916753" y="2478390"/>
            <a:ext cx="914400" cy="112654"/>
          </a:xfrm>
          <a:prstGeom prst="rect">
            <a:avLst/>
          </a:prstGeom>
          <a:noFill/>
          <a:ln/>
        </p:spPr>
        <p:txBody>
          <a:bodyPr wrap="square" lIns="0" tIns="0" rIns="0" bIns="0" rtlCol="0" anchor="t"/>
          <a:lstStyle/>
          <a:p>
            <a:pPr indent="0" marL="0">
              <a:buNone/>
            </a:pPr>
            <a:r>
              <a:rPr lang="en-US" sz="462" i="1" dirty="0">
                <a:solidFill>
                  <a:schemeClr val="accent3"/>
                </a:solidFill>
                <a:latin typeface="Calibri" pitchFamily="34" charset="0"/>
                <a:ea typeface="Calibri" pitchFamily="34" charset="-122"/>
                <a:cs typeface="Calibri" pitchFamily="34" charset="-120"/>
              </a:rPr>
              <a:t>clarify</a:t>
            </a:r>
            <a:endParaRPr lang="en-US" sz="462" dirty="0"/>
          </a:p>
        </p:txBody>
      </p:sp>
      <p:sp>
        <p:nvSpPr>
          <p:cNvPr id="55" name="Text 52"/>
          <p:cNvSpPr txBox="1"/>
          <p:nvPr/>
        </p:nvSpPr>
        <p:spPr>
          <a:xfrm>
            <a:off x="6950098" y="2489728"/>
            <a:ext cx="1508760" cy="112654"/>
          </a:xfrm>
          <a:prstGeom prst="rect">
            <a:avLst/>
          </a:prstGeom>
          <a:noFill/>
          <a:ln/>
        </p:spPr>
        <p:txBody>
          <a:bodyPr wrap="square" lIns="0" tIns="0" rIns="0" bIns="0" rtlCol="0" anchor="t"/>
          <a:lstStyle/>
          <a:p>
            <a:pPr algn="r" indent="0" marL="0">
              <a:buNone/>
            </a:pPr>
            <a:r>
              <a:rPr lang="en-US" sz="462" i="1" dirty="0">
                <a:solidFill>
                  <a:schemeClr val="accent3"/>
                </a:solidFill>
                <a:latin typeface="Calibri" pitchFamily="34" charset="0"/>
                <a:ea typeface="Calibri" pitchFamily="34" charset="-122"/>
                <a:cs typeface="Calibri" pitchFamily="34" charset="-120"/>
              </a:rPr>
              <a:t>simple / complex</a:t>
            </a:r>
            <a:endParaRPr lang="en-US" sz="462" dirty="0"/>
          </a:p>
        </p:txBody>
      </p:sp>
      <p:sp>
        <p:nvSpPr>
          <p:cNvPr id="56" name="Text 53"/>
          <p:cNvSpPr txBox="1"/>
          <p:nvPr/>
        </p:nvSpPr>
        <p:spPr>
          <a:xfrm>
            <a:off x="6675778" y="3087746"/>
            <a:ext cx="1783080" cy="112654"/>
          </a:xfrm>
          <a:prstGeom prst="rect">
            <a:avLst/>
          </a:prstGeom>
          <a:noFill/>
          <a:ln/>
        </p:spPr>
        <p:txBody>
          <a:bodyPr wrap="square" lIns="0" tIns="0" rIns="0" bIns="0" rtlCol="0" anchor="t"/>
          <a:lstStyle/>
          <a:p>
            <a:pPr algn="r" indent="0" marL="0">
              <a:buNone/>
            </a:pPr>
            <a:r>
              <a:rPr lang="en-US" sz="462" b="1" i="1" dirty="0">
                <a:solidFill>
                  <a:schemeClr val="accent2"/>
                </a:solidFill>
                <a:latin typeface="Calibri" pitchFamily="34" charset="0"/>
                <a:ea typeface="Calibri" pitchFamily="34" charset="-122"/>
                <a:cs typeface="Calibri" pitchFamily="34" charset="-120"/>
              </a:rPr>
              <a:t>Send ×N (parallel)</a:t>
            </a:r>
            <a:endParaRPr lang="en-US" sz="462" dirty="0"/>
          </a:p>
        </p:txBody>
      </p:sp>
      <p:sp>
        <p:nvSpPr>
          <p:cNvPr id="57" name="Text 54"/>
          <p:cNvSpPr txBox="1"/>
          <p:nvPr/>
        </p:nvSpPr>
        <p:spPr>
          <a:xfrm>
            <a:off x="8772095" y="3584814"/>
            <a:ext cx="2194560" cy="112654"/>
          </a:xfrm>
          <a:prstGeom prst="rect">
            <a:avLst/>
          </a:prstGeom>
          <a:noFill/>
          <a:ln/>
        </p:spPr>
        <p:txBody>
          <a:bodyPr wrap="square" lIns="0" tIns="0" rIns="0" bIns="0" rtlCol="0" anchor="t"/>
          <a:lstStyle/>
          <a:p>
            <a:pPr indent="0" marL="0">
              <a:buNone/>
            </a:pPr>
            <a:r>
              <a:rPr lang="en-US" sz="462" i="1" dirty="0">
                <a:solidFill>
                  <a:schemeClr val="accent1"/>
                </a:solidFill>
                <a:latin typeface="Calibri" pitchFamily="34" charset="0"/>
                <a:ea typeface="Calibri" pitchFamily="34" charset="-122"/>
                <a:cs typeface="Calibri" pitchFamily="34" charset="-120"/>
              </a:rPr>
              <a:t>not enough → next hop</a:t>
            </a:r>
            <a:endParaRPr lang="en-US" sz="462" dirty="0"/>
          </a:p>
        </p:txBody>
      </p:sp>
      <p:sp>
        <p:nvSpPr>
          <p:cNvPr id="58" name="Text 55"/>
          <p:cNvSpPr txBox="1"/>
          <p:nvPr/>
        </p:nvSpPr>
        <p:spPr>
          <a:xfrm>
            <a:off x="9918314" y="3202595"/>
            <a:ext cx="502920" cy="112654"/>
          </a:xfrm>
          <a:prstGeom prst="rect">
            <a:avLst/>
          </a:prstGeom>
          <a:noFill/>
          <a:ln/>
        </p:spPr>
        <p:txBody>
          <a:bodyPr wrap="square" lIns="0" tIns="0" rIns="0" bIns="0" rtlCol="0" anchor="t"/>
          <a:lstStyle/>
          <a:p>
            <a:pPr indent="0" marL="0">
              <a:buNone/>
            </a:pPr>
            <a:r>
              <a:rPr lang="en-US" sz="462" i="1" dirty="0">
                <a:solidFill>
                  <a:schemeClr val="accent3"/>
                </a:solidFill>
                <a:latin typeface="Calibri" pitchFamily="34" charset="0"/>
                <a:ea typeface="Calibri" pitchFamily="34" charset="-122"/>
                <a:cs typeface="Calibri" pitchFamily="34" charset="-120"/>
              </a:rPr>
              <a:t>enough</a:t>
            </a:r>
            <a:endParaRPr lang="en-US" sz="462" dirty="0"/>
          </a:p>
        </p:txBody>
      </p:sp>
      <p:sp>
        <p:nvSpPr>
          <p:cNvPr id="59" name="Text 56"/>
          <p:cNvSpPr txBox="1"/>
          <p:nvPr/>
        </p:nvSpPr>
        <p:spPr>
          <a:xfrm>
            <a:off x="10509382" y="3584814"/>
            <a:ext cx="2194560" cy="112654"/>
          </a:xfrm>
          <a:prstGeom prst="rect">
            <a:avLst/>
          </a:prstGeom>
          <a:noFill/>
          <a:ln/>
        </p:spPr>
        <p:txBody>
          <a:bodyPr wrap="square" lIns="0" tIns="0" rIns="0" bIns="0" rtlCol="0" anchor="t"/>
          <a:lstStyle/>
          <a:p>
            <a:pPr indent="0" marL="0">
              <a:buNone/>
            </a:pPr>
            <a:r>
              <a:rPr lang="en-US" sz="462" i="1" dirty="0">
                <a:solidFill>
                  <a:schemeClr val="accent1"/>
                </a:solidFill>
                <a:latin typeface="Calibri" pitchFamily="34" charset="0"/>
                <a:ea typeface="Calibri" pitchFamily="34" charset="-122"/>
                <a:cs typeface="Calibri" pitchFamily="34" charset="-120"/>
              </a:rPr>
              <a:t>failed → rewrite once</a:t>
            </a:r>
            <a:endParaRPr lang="en-US" sz="462" dirty="0"/>
          </a:p>
        </p:txBody>
      </p:sp>
      <p:sp>
        <p:nvSpPr>
          <p:cNvPr id="60" name="Text 57"/>
          <p:cNvSpPr txBox="1"/>
          <p:nvPr/>
        </p:nvSpPr>
        <p:spPr>
          <a:xfrm>
            <a:off x="11344046" y="2816352"/>
            <a:ext cx="457200" cy="112654"/>
          </a:xfrm>
          <a:prstGeom prst="rect">
            <a:avLst/>
          </a:prstGeom>
          <a:noFill/>
          <a:ln/>
        </p:spPr>
        <p:txBody>
          <a:bodyPr wrap="square" lIns="0" tIns="0" rIns="0" bIns="0" rtlCol="0" anchor="t"/>
          <a:lstStyle/>
          <a:p>
            <a:pPr indent="0" marL="0">
              <a:buNone/>
            </a:pPr>
            <a:r>
              <a:rPr lang="en-US" sz="462" i="1" dirty="0">
                <a:solidFill>
                  <a:schemeClr val="accent3"/>
                </a:solidFill>
                <a:latin typeface="Calibri" pitchFamily="34" charset="0"/>
                <a:ea typeface="Calibri" pitchFamily="34" charset="-122"/>
                <a:cs typeface="Calibri" pitchFamily="34" charset="-120"/>
              </a:rPr>
              <a:t>ok</a:t>
            </a:r>
            <a:endParaRPr lang="en-US" sz="462" dirty="0"/>
          </a:p>
        </p:txBody>
      </p:sp>
      <p:sp>
        <p:nvSpPr>
          <p:cNvPr id="61" name="Text 58"/>
          <p:cNvSpPr txBox="1"/>
          <p:nvPr/>
        </p:nvSpPr>
        <p:spPr>
          <a:xfrm>
            <a:off x="9390464" y="2357689"/>
            <a:ext cx="1280160" cy="112654"/>
          </a:xfrm>
          <a:prstGeom prst="rect">
            <a:avLst/>
          </a:prstGeom>
          <a:noFill/>
          <a:ln/>
        </p:spPr>
        <p:txBody>
          <a:bodyPr wrap="square" lIns="0" tIns="0" rIns="0" bIns="0" rtlCol="0" anchor="t"/>
          <a:lstStyle/>
          <a:p>
            <a:pPr indent="0" marL="0">
              <a:buNone/>
            </a:pPr>
            <a:r>
              <a:rPr lang="en-US" sz="462" i="1" dirty="0">
                <a:solidFill>
                  <a:schemeClr val="accent3"/>
                </a:solidFill>
                <a:latin typeface="Calibri" pitchFamily="34" charset="0"/>
                <a:ea typeface="Calibri" pitchFamily="34" charset="-122"/>
                <a:cs typeface="Calibri" pitchFamily="34" charset="-120"/>
              </a:rPr>
              <a:t>user answered</a:t>
            </a:r>
            <a:endParaRPr lang="en-US" sz="462" dirty="0"/>
          </a:p>
        </p:txBody>
      </p:sp>
      <p:sp>
        <p:nvSpPr>
          <p:cNvPr id="62" name="Text 59"/>
          <p:cNvSpPr txBox="1"/>
          <p:nvPr/>
        </p:nvSpPr>
        <p:spPr>
          <a:xfrm>
            <a:off x="6583680" y="4937760"/>
            <a:ext cx="502920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3 decisions, 2 bounded loops, 1 human loop</a:t>
            </a:r>
            <a:endParaRPr lang="en-US" sz="1400" dirty="0"/>
          </a:p>
        </p:txBody>
      </p:sp>
      <p:sp>
        <p:nvSpPr>
          <p:cNvPr id="63" name="Text 60"/>
          <p:cNvSpPr txBox="1"/>
          <p:nvPr/>
        </p:nvSpPr>
        <p:spPr>
          <a:xfrm>
            <a:off x="6583680" y="5349240"/>
            <a:ext cx="5029200" cy="54864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Routing functions only read the state; nodes update the counters.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4 · Send: dynamic parallel fan-out (map-reduce)</a:t>
            </a:r>
            <a:endParaRPr lang="en-US" sz="3000" dirty="0"/>
          </a:p>
        </p:txBody>
      </p:sp>
      <p:sp>
        <p:nvSpPr>
          <p:cNvPr id="4" name="Shape 1"/>
          <p:cNvSpPr/>
          <p:nvPr/>
        </p:nvSpPr>
        <p:spPr>
          <a:xfrm>
            <a:off x="548640" y="1371600"/>
            <a:ext cx="5852160" cy="2468880"/>
          </a:xfrm>
          <a:prstGeom prst="roundRect">
            <a:avLst>
              <a:gd name="adj" fmla="val 4444"/>
            </a:avLst>
          </a:prstGeom>
          <a:solidFill>
            <a:schemeClr val="bg2"/>
          </a:solidFill>
          <a:ln w="12700">
            <a:solidFill>
              <a:schemeClr val="bg2"/>
            </a:solidFill>
            <a:prstDash val="solid"/>
          </a:ln>
        </p:spPr>
      </p:sp>
      <p:sp>
        <p:nvSpPr>
          <p:cNvPr id="5" name="Text 2"/>
          <p:cNvSpPr txBox="1"/>
          <p:nvPr/>
        </p:nvSpPr>
        <p:spPr>
          <a:xfrm>
            <a:off x="749808" y="1508760"/>
            <a:ext cx="5486400" cy="2194560"/>
          </a:xfrm>
          <a:prstGeom prst="rect">
            <a:avLst/>
          </a:prstGeom>
          <a:noFill/>
          <a:ln/>
        </p:spPr>
        <p:txBody>
          <a:bodyPr wrap="square" lIns="0" tIns="0" rIns="0" bIns="0" rtlCol="0" anchor="t"/>
          <a:lstStyle/>
          <a:p>
            <a:pPr indent="0" marL="0">
              <a:buNone/>
            </a:pPr>
            <a:r>
              <a:rPr lang="en-US" sz="1250" dirty="0">
                <a:solidFill>
                  <a:schemeClr val="tx1"/>
                </a:solidFill>
                <a:latin typeface="Consolas" pitchFamily="34" charset="0"/>
                <a:ea typeface="Consolas" pitchFamily="34" charset="-122"/>
                <a:cs typeface="Consolas" pitchFamily="34" charset="-120"/>
              </a:rPr>
              <a:t>def fan_out(self, state):</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tried = set(state.get("tried_queries") or [])</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sends = [Send("retrieve", {"sub": s})</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for s in state["pending"]</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if query_key(s) not in tried]</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return sends or "generate"</a:t>
            </a:r>
            <a:endParaRPr lang="en-US" sz="1250" dirty="0"/>
          </a:p>
          <a:p>
            <a:pPr indent="0" marL="0">
              <a:buNone/>
            </a:pP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g.add_conditional_edges("plan", nodes.fan_out,</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["retrieve", "generate"])</a:t>
            </a:r>
            <a:endParaRPr lang="en-US" sz="1250" dirty="0"/>
          </a:p>
        </p:txBody>
      </p:sp>
      <p:sp>
        <p:nvSpPr>
          <p:cNvPr id="6" name="Shape 3"/>
          <p:cNvSpPr/>
          <p:nvPr/>
        </p:nvSpPr>
        <p:spPr>
          <a:xfrm>
            <a:off x="548640" y="4023360"/>
            <a:ext cx="5852160" cy="1920240"/>
          </a:xfrm>
          <a:prstGeom prst="roundRect">
            <a:avLst>
              <a:gd name="adj" fmla="val 5714"/>
            </a:avLst>
          </a:prstGeom>
          <a:solidFill>
            <a:schemeClr val="bg2"/>
          </a:solidFill>
          <a:ln w="12700">
            <a:solidFill>
              <a:schemeClr val="bg2"/>
            </a:solidFill>
            <a:prstDash val="solid"/>
          </a:ln>
        </p:spPr>
      </p:sp>
      <p:sp>
        <p:nvSpPr>
          <p:cNvPr id="7" name="Text 4"/>
          <p:cNvSpPr txBox="1"/>
          <p:nvPr/>
        </p:nvSpPr>
        <p:spPr>
          <a:xfrm>
            <a:off x="749808" y="4160520"/>
            <a:ext cx="5486400" cy="1645920"/>
          </a:xfrm>
          <a:prstGeom prst="rect">
            <a:avLst/>
          </a:prstGeom>
          <a:noFill/>
          <a:ln/>
        </p:spPr>
        <p:txBody>
          <a:bodyPr wrap="square" lIns="0" tIns="0" rIns="0" bIns="0" rtlCol="0" anchor="t"/>
          <a:lstStyle/>
          <a:p>
            <a:pPr indent="0" marL="0">
              <a:buNone/>
            </a:pPr>
            <a:r>
              <a:rPr lang="en-US" sz="1250" dirty="0">
                <a:solidFill>
                  <a:schemeClr val="tx1"/>
                </a:solidFill>
                <a:latin typeface="Consolas" pitchFamily="34" charset="0"/>
                <a:ea typeface="Consolas" pitchFamily="34" charset="-122"/>
                <a:cs typeface="Consolas" pitchFamily="34" charset="-120"/>
              </a:rPr>
              <a:t>def retrieve(self, payload):      # NOT the whole state</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sub = payload["sub"]</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docs = search_tool(...)  or  entity_tool(...)</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return {"evidence": [...],      # merged by reducer</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"tried_queries": [query_key(sub)]}</a:t>
            </a:r>
            <a:endParaRPr lang="en-US" sz="1250" dirty="0"/>
          </a:p>
        </p:txBody>
      </p:sp>
      <p:sp>
        <p:nvSpPr>
          <p:cNvPr id="8" name="Shape 5"/>
          <p:cNvSpPr/>
          <p:nvPr/>
        </p:nvSpPr>
        <p:spPr>
          <a:xfrm>
            <a:off x="6766560" y="1371600"/>
            <a:ext cx="4846320" cy="4572000"/>
          </a:xfrm>
          <a:prstGeom prst="roundRect">
            <a:avLst>
              <a:gd name="adj" fmla="val 2400"/>
            </a:avLst>
          </a:prstGeom>
          <a:solidFill>
            <a:schemeClr val="bg2"/>
          </a:solidFill>
          <a:ln w="12700">
            <a:solidFill>
              <a:schemeClr val="bg2"/>
            </a:solidFill>
            <a:prstDash val="solid"/>
          </a:ln>
        </p:spPr>
      </p:sp>
      <p:sp>
        <p:nvSpPr>
          <p:cNvPr id="9" name="Shape 6"/>
          <p:cNvSpPr/>
          <p:nvPr/>
        </p:nvSpPr>
        <p:spPr>
          <a:xfrm>
            <a:off x="8183880" y="1600200"/>
            <a:ext cx="2011680" cy="548640"/>
          </a:xfrm>
          <a:prstGeom prst="roundRect">
            <a:avLst>
              <a:gd name="adj" fmla="val 20000"/>
            </a:avLst>
          </a:prstGeom>
          <a:solidFill>
            <a:schemeClr val="accent6"/>
          </a:solidFill>
          <a:ln w="12700">
            <a:solidFill>
              <a:srgbClr val="0F766E"/>
            </a:solidFill>
            <a:prstDash val="solid"/>
          </a:ln>
        </p:spPr>
      </p:sp>
      <p:sp>
        <p:nvSpPr>
          <p:cNvPr id="10" name="Text 7"/>
          <p:cNvSpPr txBox="1"/>
          <p:nvPr/>
        </p:nvSpPr>
        <p:spPr>
          <a:xfrm>
            <a:off x="8183880" y="1600200"/>
            <a:ext cx="201168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plan</a:t>
            </a:r>
            <a:endParaRPr lang="en-US" sz="1400" dirty="0"/>
          </a:p>
        </p:txBody>
      </p:sp>
      <p:sp>
        <p:nvSpPr>
          <p:cNvPr id="11" name="Shape 8"/>
          <p:cNvSpPr/>
          <p:nvPr/>
        </p:nvSpPr>
        <p:spPr>
          <a:xfrm flipH="1">
            <a:off x="7635240" y="2167128"/>
            <a:ext cx="1554480" cy="713232"/>
          </a:xfrm>
          <a:prstGeom prst="line">
            <a:avLst/>
          </a:prstGeom>
          <a:noFill/>
          <a:ln w="22225">
            <a:solidFill>
              <a:srgbClr val="B45309"/>
            </a:solidFill>
            <a:prstDash val="dash"/>
            <a:tailEnd type="triangle"/>
          </a:ln>
        </p:spPr>
      </p:sp>
      <p:sp>
        <p:nvSpPr>
          <p:cNvPr id="12" name="Shape 9"/>
          <p:cNvSpPr/>
          <p:nvPr/>
        </p:nvSpPr>
        <p:spPr>
          <a:xfrm>
            <a:off x="6949440" y="2926080"/>
            <a:ext cx="1417320" cy="777240"/>
          </a:xfrm>
          <a:prstGeom prst="roundRect">
            <a:avLst>
              <a:gd name="adj" fmla="val 14118"/>
            </a:avLst>
          </a:prstGeom>
          <a:solidFill>
            <a:schemeClr val="accent5"/>
          </a:solidFill>
          <a:ln w="12700">
            <a:solidFill>
              <a:srgbClr val="B45309"/>
            </a:solidFill>
            <a:prstDash val="solid"/>
          </a:ln>
        </p:spPr>
      </p:sp>
      <p:sp>
        <p:nvSpPr>
          <p:cNvPr id="13" name="Text 10"/>
          <p:cNvSpPr txBox="1"/>
          <p:nvPr/>
        </p:nvSpPr>
        <p:spPr>
          <a:xfrm>
            <a:off x="6949440" y="2926080"/>
            <a:ext cx="1417320" cy="777240"/>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retrieve</a:t>
            </a:r>
            <a:endParaRPr lang="en-US" sz="1100" dirty="0"/>
          </a:p>
          <a:p>
            <a:pPr algn="ctr" indent="0" marL="0">
              <a:buNone/>
            </a:pPr>
            <a:r>
              <a:rPr lang="en-US" sz="1100" dirty="0">
                <a:solidFill>
                  <a:schemeClr val="tx1"/>
                </a:solidFill>
                <a:latin typeface="Consolas" pitchFamily="34" charset="0"/>
                <a:ea typeface="Consolas" pitchFamily="34" charset="-122"/>
                <a:cs typeface="Consolas" pitchFamily="34" charset="-120"/>
              </a:rPr>
              <a:t>r1-q1 · search</a:t>
            </a:r>
            <a:endParaRPr lang="en-US" sz="1100" dirty="0"/>
          </a:p>
        </p:txBody>
      </p:sp>
      <p:sp>
        <p:nvSpPr>
          <p:cNvPr id="14" name="Shape 11"/>
          <p:cNvSpPr/>
          <p:nvPr/>
        </p:nvSpPr>
        <p:spPr>
          <a:xfrm>
            <a:off x="7635240" y="3721608"/>
            <a:ext cx="1554480" cy="758952"/>
          </a:xfrm>
          <a:prstGeom prst="line">
            <a:avLst/>
          </a:prstGeom>
          <a:noFill/>
          <a:ln w="15875">
            <a:solidFill>
              <a:schemeClr val="accent3"/>
            </a:solidFill>
            <a:prstDash val="solid"/>
            <a:tailEnd type="triangle"/>
          </a:ln>
        </p:spPr>
      </p:sp>
      <p:sp>
        <p:nvSpPr>
          <p:cNvPr id="15" name="Shape 12"/>
          <p:cNvSpPr/>
          <p:nvPr/>
        </p:nvSpPr>
        <p:spPr>
          <a:xfrm flipH="1">
            <a:off x="9189720" y="2167128"/>
            <a:ext cx="0" cy="713232"/>
          </a:xfrm>
          <a:prstGeom prst="line">
            <a:avLst/>
          </a:prstGeom>
          <a:noFill/>
          <a:ln w="22225">
            <a:solidFill>
              <a:srgbClr val="B45309"/>
            </a:solidFill>
            <a:prstDash val="dash"/>
            <a:tailEnd type="triangle"/>
          </a:ln>
        </p:spPr>
      </p:sp>
      <p:sp>
        <p:nvSpPr>
          <p:cNvPr id="16" name="Shape 13"/>
          <p:cNvSpPr/>
          <p:nvPr/>
        </p:nvSpPr>
        <p:spPr>
          <a:xfrm>
            <a:off x="8503920" y="2926080"/>
            <a:ext cx="1417320" cy="777240"/>
          </a:xfrm>
          <a:prstGeom prst="roundRect">
            <a:avLst>
              <a:gd name="adj" fmla="val 14118"/>
            </a:avLst>
          </a:prstGeom>
          <a:solidFill>
            <a:schemeClr val="accent5"/>
          </a:solidFill>
          <a:ln w="12700">
            <a:solidFill>
              <a:srgbClr val="B45309"/>
            </a:solidFill>
            <a:prstDash val="solid"/>
          </a:ln>
        </p:spPr>
      </p:sp>
      <p:sp>
        <p:nvSpPr>
          <p:cNvPr id="17" name="Text 14"/>
          <p:cNvSpPr txBox="1"/>
          <p:nvPr/>
        </p:nvSpPr>
        <p:spPr>
          <a:xfrm>
            <a:off x="8503920" y="2926080"/>
            <a:ext cx="1417320" cy="777240"/>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retrieve</a:t>
            </a:r>
            <a:endParaRPr lang="en-US" sz="1100" dirty="0"/>
          </a:p>
          <a:p>
            <a:pPr algn="ctr" indent="0" marL="0">
              <a:buNone/>
            </a:pPr>
            <a:r>
              <a:rPr lang="en-US" sz="1100" dirty="0">
                <a:solidFill>
                  <a:schemeClr val="tx1"/>
                </a:solidFill>
                <a:latin typeface="Consolas" pitchFamily="34" charset="0"/>
                <a:ea typeface="Consolas" pitchFamily="34" charset="-122"/>
                <a:cs typeface="Consolas" pitchFamily="34" charset="-120"/>
              </a:rPr>
              <a:t>r1-q2 · entity</a:t>
            </a:r>
            <a:endParaRPr lang="en-US" sz="1100" dirty="0"/>
          </a:p>
        </p:txBody>
      </p:sp>
      <p:sp>
        <p:nvSpPr>
          <p:cNvPr id="18" name="Shape 15"/>
          <p:cNvSpPr/>
          <p:nvPr/>
        </p:nvSpPr>
        <p:spPr>
          <a:xfrm>
            <a:off x="9189720" y="3721608"/>
            <a:ext cx="0" cy="758952"/>
          </a:xfrm>
          <a:prstGeom prst="line">
            <a:avLst/>
          </a:prstGeom>
          <a:noFill/>
          <a:ln w="15875">
            <a:solidFill>
              <a:schemeClr val="accent3"/>
            </a:solidFill>
            <a:prstDash val="solid"/>
            <a:tailEnd type="triangle"/>
          </a:ln>
        </p:spPr>
      </p:sp>
      <p:sp>
        <p:nvSpPr>
          <p:cNvPr id="19" name="Shape 16"/>
          <p:cNvSpPr/>
          <p:nvPr/>
        </p:nvSpPr>
        <p:spPr>
          <a:xfrm>
            <a:off x="9189720" y="2167128"/>
            <a:ext cx="1554480" cy="713232"/>
          </a:xfrm>
          <a:prstGeom prst="line">
            <a:avLst/>
          </a:prstGeom>
          <a:noFill/>
          <a:ln w="22225">
            <a:solidFill>
              <a:srgbClr val="B45309"/>
            </a:solidFill>
            <a:prstDash val="dash"/>
            <a:tailEnd type="triangle"/>
          </a:ln>
        </p:spPr>
      </p:sp>
      <p:sp>
        <p:nvSpPr>
          <p:cNvPr id="20" name="Shape 17"/>
          <p:cNvSpPr/>
          <p:nvPr/>
        </p:nvSpPr>
        <p:spPr>
          <a:xfrm>
            <a:off x="10058400" y="2926080"/>
            <a:ext cx="1417320" cy="777240"/>
          </a:xfrm>
          <a:prstGeom prst="roundRect">
            <a:avLst>
              <a:gd name="adj" fmla="val 14118"/>
            </a:avLst>
          </a:prstGeom>
          <a:solidFill>
            <a:schemeClr val="accent5"/>
          </a:solidFill>
          <a:ln w="12700">
            <a:solidFill>
              <a:srgbClr val="B45309"/>
            </a:solidFill>
            <a:prstDash val="solid"/>
          </a:ln>
        </p:spPr>
      </p:sp>
      <p:sp>
        <p:nvSpPr>
          <p:cNvPr id="21" name="Text 18"/>
          <p:cNvSpPr txBox="1"/>
          <p:nvPr/>
        </p:nvSpPr>
        <p:spPr>
          <a:xfrm>
            <a:off x="10058400" y="2926080"/>
            <a:ext cx="1417320" cy="777240"/>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retrieve</a:t>
            </a:r>
            <a:endParaRPr lang="en-US" sz="1100" dirty="0"/>
          </a:p>
          <a:p>
            <a:pPr algn="ctr" indent="0" marL="0">
              <a:buNone/>
            </a:pPr>
            <a:r>
              <a:rPr lang="en-US" sz="1100" dirty="0">
                <a:solidFill>
                  <a:schemeClr val="tx1"/>
                </a:solidFill>
                <a:latin typeface="Consolas" pitchFamily="34" charset="0"/>
                <a:ea typeface="Consolas" pitchFamily="34" charset="-122"/>
                <a:cs typeface="Consolas" pitchFamily="34" charset="-120"/>
              </a:rPr>
              <a:t>r1-q3 · search</a:t>
            </a:r>
            <a:endParaRPr lang="en-US" sz="1100" dirty="0"/>
          </a:p>
        </p:txBody>
      </p:sp>
      <p:sp>
        <p:nvSpPr>
          <p:cNvPr id="22" name="Shape 19"/>
          <p:cNvSpPr/>
          <p:nvPr/>
        </p:nvSpPr>
        <p:spPr>
          <a:xfrm flipH="1">
            <a:off x="9189720" y="3721608"/>
            <a:ext cx="1554480" cy="758952"/>
          </a:xfrm>
          <a:prstGeom prst="line">
            <a:avLst/>
          </a:prstGeom>
          <a:noFill/>
          <a:ln w="15875">
            <a:solidFill>
              <a:schemeClr val="accent3"/>
            </a:solidFill>
            <a:prstDash val="solid"/>
            <a:tailEnd type="triangle"/>
          </a:ln>
        </p:spPr>
      </p:sp>
      <p:sp>
        <p:nvSpPr>
          <p:cNvPr id="23" name="Shape 20"/>
          <p:cNvSpPr/>
          <p:nvPr/>
        </p:nvSpPr>
        <p:spPr>
          <a:xfrm>
            <a:off x="8183880" y="4526280"/>
            <a:ext cx="2011680" cy="548640"/>
          </a:xfrm>
          <a:prstGeom prst="roundRect">
            <a:avLst>
              <a:gd name="adj" fmla="val 20000"/>
            </a:avLst>
          </a:prstGeom>
          <a:solidFill>
            <a:schemeClr val="accent6"/>
          </a:solidFill>
          <a:ln w="12700">
            <a:solidFill>
              <a:srgbClr val="0F766E"/>
            </a:solidFill>
            <a:prstDash val="solid"/>
          </a:ln>
        </p:spPr>
      </p:sp>
      <p:sp>
        <p:nvSpPr>
          <p:cNvPr id="24" name="Text 21"/>
          <p:cNvSpPr txBox="1"/>
          <p:nvPr/>
        </p:nvSpPr>
        <p:spPr>
          <a:xfrm>
            <a:off x="8183880" y="4526280"/>
            <a:ext cx="201168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assess (once)</a:t>
            </a:r>
            <a:endParaRPr lang="en-US" sz="1300" dirty="0"/>
          </a:p>
        </p:txBody>
      </p:sp>
      <p:sp>
        <p:nvSpPr>
          <p:cNvPr id="25" name="Text 22"/>
          <p:cNvSpPr txBox="1"/>
          <p:nvPr/>
        </p:nvSpPr>
        <p:spPr>
          <a:xfrm>
            <a:off x="6949440" y="5257800"/>
            <a:ext cx="4480560" cy="548640"/>
          </a:xfrm>
          <a:prstGeom prst="rect">
            <a:avLst/>
          </a:prstGeom>
          <a:noFill/>
          <a:ln/>
        </p:spPr>
        <p:txBody>
          <a:bodyPr wrap="square" lIns="0" tIns="0" rIns="0" bIns="0" rtlCol="0" anchor="t"/>
          <a:lstStyle/>
          <a:p>
            <a:pPr algn="ctr" indent="0" marL="0">
              <a:buNone/>
            </a:pPr>
            <a:r>
              <a:rPr lang="en-US" sz="1250" i="1" dirty="0">
                <a:solidFill>
                  <a:schemeClr val="accent3"/>
                </a:solidFill>
                <a:latin typeface="Calibri" pitchFamily="34" charset="0"/>
                <a:ea typeface="Calibri" pitchFamily="34" charset="-122"/>
                <a:cs typeface="Calibri" pitchFamily="34" charset="-120"/>
              </a:rPr>
              <a:t>same step, in parallel → evidence merged by the reducer</a:t>
            </a:r>
            <a:endParaRPr lang="en-US" sz="125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5 · Checkpointer and threads: memory for free</a:t>
            </a:r>
            <a:endParaRPr lang="en-US" sz="3000" dirty="0"/>
          </a:p>
        </p:txBody>
      </p:sp>
      <p:sp>
        <p:nvSpPr>
          <p:cNvPr id="4" name="Shape 1"/>
          <p:cNvSpPr/>
          <p:nvPr/>
        </p:nvSpPr>
        <p:spPr>
          <a:xfrm>
            <a:off x="548640" y="1371600"/>
            <a:ext cx="5852160" cy="2240280"/>
          </a:xfrm>
          <a:prstGeom prst="roundRect">
            <a:avLst>
              <a:gd name="adj" fmla="val 4898"/>
            </a:avLst>
          </a:prstGeom>
          <a:solidFill>
            <a:schemeClr val="bg2"/>
          </a:solidFill>
          <a:ln w="12700">
            <a:solidFill>
              <a:schemeClr val="bg2"/>
            </a:solidFill>
            <a:prstDash val="solid"/>
          </a:ln>
        </p:spPr>
      </p:sp>
      <p:sp>
        <p:nvSpPr>
          <p:cNvPr id="5" name="Text 2"/>
          <p:cNvSpPr txBox="1"/>
          <p:nvPr/>
        </p:nvSpPr>
        <p:spPr>
          <a:xfrm>
            <a:off x="749808" y="1508760"/>
            <a:ext cx="5486400" cy="19659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from langgraph.checkpoint.memory import InMemorySaver</a:t>
            </a:r>
            <a:endParaRPr lang="en-US" sz="1200" dirty="0"/>
          </a:p>
          <a:p>
            <a:pPr indent="0" marL="0">
              <a:buNone/>
            </a:pP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app = g.compile(checkpointer=InMemorySaver())</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cfg = {"configurable": {"thread_id": "t-42"}}</a:t>
            </a:r>
            <a:endParaRPr lang="en-US" sz="1200" dirty="0"/>
          </a:p>
          <a:p>
            <a:pPr indent="0" marL="0">
              <a:buNone/>
            </a:pP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app.invoke({"question": "Sick days per year?"}, cfg)</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app.invoke({"question": "Can they carry over?"}, cfg)</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app.get_state(cfg).values["messages"]  # 4 messages</a:t>
            </a:r>
            <a:endParaRPr lang="en-US" sz="1200" dirty="0"/>
          </a:p>
        </p:txBody>
      </p:sp>
      <p:sp>
        <p:nvSpPr>
          <p:cNvPr id="6" name="Shape 3"/>
          <p:cNvSpPr/>
          <p:nvPr/>
        </p:nvSpPr>
        <p:spPr>
          <a:xfrm>
            <a:off x="548640" y="3840480"/>
            <a:ext cx="5852160" cy="914400"/>
          </a:xfrm>
          <a:prstGeom prst="roundRect">
            <a:avLst>
              <a:gd name="adj" fmla="val 12000"/>
            </a:avLst>
          </a:prstGeom>
          <a:solidFill>
            <a:schemeClr val="bg2"/>
          </a:solidFill>
          <a:ln w="12700">
            <a:solidFill>
              <a:schemeClr val="bg2"/>
            </a:solidFill>
            <a:prstDash val="solid"/>
          </a:ln>
        </p:spPr>
      </p:sp>
      <p:sp>
        <p:nvSpPr>
          <p:cNvPr id="7" name="Text 4"/>
          <p:cNvSpPr txBox="1"/>
          <p:nvPr/>
        </p:nvSpPr>
        <p:spPr>
          <a:xfrm>
            <a:off x="731520" y="3931920"/>
            <a:ext cx="1005840" cy="36576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Turn 1</a:t>
            </a:r>
            <a:endParaRPr lang="en-US" sz="1300" dirty="0"/>
          </a:p>
        </p:txBody>
      </p:sp>
      <p:sp>
        <p:nvSpPr>
          <p:cNvPr id="8" name="Text 5"/>
          <p:cNvSpPr txBox="1"/>
          <p:nvPr/>
        </p:nvSpPr>
        <p:spPr>
          <a:xfrm>
            <a:off x="1737360" y="3931920"/>
            <a:ext cx="4572000" cy="36576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How many sick leave days do employees get?</a:t>
            </a:r>
            <a:endParaRPr lang="en-US" sz="1300" dirty="0"/>
          </a:p>
        </p:txBody>
      </p:sp>
      <p:sp>
        <p:nvSpPr>
          <p:cNvPr id="9" name="Text 6"/>
          <p:cNvSpPr txBox="1"/>
          <p:nvPr/>
        </p:nvSpPr>
        <p:spPr>
          <a:xfrm>
            <a:off x="1737360" y="4315968"/>
            <a:ext cx="4572000" cy="384048"/>
          </a:xfrm>
          <a:prstGeom prst="rect">
            <a:avLst/>
          </a:prstGeom>
          <a:noFill/>
          <a:ln/>
        </p:spPr>
        <p:txBody>
          <a:bodyPr wrap="square" lIns="0" tIns="0" rIns="0" bIns="0" rtlCol="0" anchor="t"/>
          <a:lstStyle/>
          <a:p>
            <a:pPr indent="0" marL="0">
              <a:buNone/>
            </a:pPr>
            <a:r>
              <a:rPr lang="en-US" sz="1250" dirty="0">
                <a:solidFill>
                  <a:schemeClr val="accent3"/>
                </a:solidFill>
                <a:latin typeface="Calibri" pitchFamily="34" charset="0"/>
                <a:ea typeface="Calibri" pitchFamily="34" charset="-122"/>
                <a:cs typeface="Calibri" pitchFamily="34" charset="-120"/>
              </a:rPr>
              <a:t>8 days per year [1].</a:t>
            </a:r>
            <a:endParaRPr lang="en-US" sz="1250" dirty="0"/>
          </a:p>
        </p:txBody>
      </p:sp>
      <p:sp>
        <p:nvSpPr>
          <p:cNvPr id="10" name="Shape 7"/>
          <p:cNvSpPr/>
          <p:nvPr/>
        </p:nvSpPr>
        <p:spPr>
          <a:xfrm>
            <a:off x="548640" y="4892040"/>
            <a:ext cx="5852160" cy="914400"/>
          </a:xfrm>
          <a:prstGeom prst="roundRect">
            <a:avLst>
              <a:gd name="adj" fmla="val 12000"/>
            </a:avLst>
          </a:prstGeom>
          <a:solidFill>
            <a:schemeClr val="accent6"/>
          </a:solidFill>
          <a:ln w="12700">
            <a:solidFill>
              <a:schemeClr val="accent6"/>
            </a:solidFill>
            <a:prstDash val="solid"/>
          </a:ln>
        </p:spPr>
      </p:sp>
      <p:sp>
        <p:nvSpPr>
          <p:cNvPr id="11" name="Text 8"/>
          <p:cNvSpPr txBox="1"/>
          <p:nvPr/>
        </p:nvSpPr>
        <p:spPr>
          <a:xfrm>
            <a:off x="731520" y="4983480"/>
            <a:ext cx="1005840" cy="36576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Turn 2</a:t>
            </a:r>
            <a:endParaRPr lang="en-US" sz="1300" dirty="0"/>
          </a:p>
        </p:txBody>
      </p:sp>
      <p:sp>
        <p:nvSpPr>
          <p:cNvPr id="12" name="Text 9"/>
          <p:cNvSpPr txBox="1"/>
          <p:nvPr/>
        </p:nvSpPr>
        <p:spPr>
          <a:xfrm>
            <a:off x="1737360" y="4983480"/>
            <a:ext cx="4572000" cy="36576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Can they be carried forward?</a:t>
            </a:r>
            <a:endParaRPr lang="en-US" sz="1300" dirty="0"/>
          </a:p>
        </p:txBody>
      </p:sp>
      <p:sp>
        <p:nvSpPr>
          <p:cNvPr id="13" name="Text 10"/>
          <p:cNvSpPr txBox="1"/>
          <p:nvPr/>
        </p:nvSpPr>
        <p:spPr>
          <a:xfrm>
            <a:off x="1737360" y="5367528"/>
            <a:ext cx="4572000" cy="384048"/>
          </a:xfrm>
          <a:prstGeom prst="rect">
            <a:avLst/>
          </a:prstGeom>
          <a:noFill/>
          <a:ln/>
        </p:spPr>
        <p:txBody>
          <a:bodyPr wrap="square" lIns="0" tIns="0" rIns="0" bIns="0" rtlCol="0" anchor="t"/>
          <a:lstStyle/>
          <a:p>
            <a:pPr indent="0" marL="0">
              <a:buNone/>
            </a:pPr>
            <a:r>
              <a:rPr lang="en-US" sz="1250" dirty="0">
                <a:solidFill>
                  <a:schemeClr val="accent3"/>
                </a:solidFill>
                <a:latin typeface="Calibri" pitchFamily="34" charset="0"/>
                <a:ea typeface="Calibri" pitchFamily="34" charset="-122"/>
                <a:cs typeface="Calibri" pitchFamily="34" charset="-120"/>
              </a:rPr>
              <a:t>→ contextualize: "Can sick leave days be carried forward?"</a:t>
            </a:r>
            <a:endParaRPr lang="en-US" sz="1250" dirty="0"/>
          </a:p>
        </p:txBody>
      </p:sp>
      <p:sp>
        <p:nvSpPr>
          <p:cNvPr id="14" name="Shape 11"/>
          <p:cNvSpPr/>
          <p:nvPr/>
        </p:nvSpPr>
        <p:spPr>
          <a:xfrm>
            <a:off x="6766560" y="1371600"/>
            <a:ext cx="4846320" cy="1463040"/>
          </a:xfrm>
          <a:prstGeom prst="roundRect">
            <a:avLst>
              <a:gd name="adj" fmla="val 7500"/>
            </a:avLst>
          </a:prstGeom>
          <a:solidFill>
            <a:srgbClr val="F1EBFD"/>
          </a:solidFill>
          <a:ln w="12700">
            <a:solidFill>
              <a:srgbClr val="F1EBFD"/>
            </a:solidFill>
            <a:prstDash val="solid"/>
          </a:ln>
        </p:spPr>
      </p:sp>
      <p:sp>
        <p:nvSpPr>
          <p:cNvPr id="15" name="Text 12"/>
          <p:cNvSpPr txBox="1"/>
          <p:nvPr/>
        </p:nvSpPr>
        <p:spPr>
          <a:xfrm>
            <a:off x="7040880" y="1627632"/>
            <a:ext cx="4343400" cy="457200"/>
          </a:xfrm>
          <a:prstGeom prst="rect">
            <a:avLst/>
          </a:prstGeom>
          <a:noFill/>
          <a:ln/>
        </p:spPr>
        <p:txBody>
          <a:bodyPr wrap="square" lIns="0" tIns="0" rIns="0" bIns="0" rtlCol="0" anchor="ctr"/>
          <a:lstStyle/>
          <a:p>
            <a:pPr indent="0" marL="0">
              <a:buNone/>
            </a:pPr>
            <a:r>
              <a:rPr lang="en-US" sz="1700" b="1" dirty="0">
                <a:solidFill>
                  <a:srgbClr val="6D28D9"/>
                </a:solidFill>
                <a:latin typeface="Calibri" pitchFamily="34" charset="0"/>
                <a:ea typeface="Calibri" pitchFamily="34" charset="-122"/>
                <a:cs typeface="Calibri" pitchFamily="34" charset="-120"/>
              </a:rPr>
              <a:t>thread_id = one conversation</a:t>
            </a:r>
            <a:endParaRPr lang="en-US" sz="1700" dirty="0"/>
          </a:p>
        </p:txBody>
      </p:sp>
      <p:sp>
        <p:nvSpPr>
          <p:cNvPr id="16" name="Text 13"/>
          <p:cNvSpPr txBox="1"/>
          <p:nvPr/>
        </p:nvSpPr>
        <p:spPr>
          <a:xfrm>
            <a:off x="7040880" y="2212848"/>
            <a:ext cx="429768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new thread → empty history</a:t>
            </a:r>
            <a:endParaRPr lang="en-US" sz="1400" dirty="0"/>
          </a:p>
        </p:txBody>
      </p:sp>
      <p:sp>
        <p:nvSpPr>
          <p:cNvPr id="17" name="Shape 14"/>
          <p:cNvSpPr/>
          <p:nvPr/>
        </p:nvSpPr>
        <p:spPr>
          <a:xfrm>
            <a:off x="6766560" y="3017520"/>
            <a:ext cx="4846320" cy="1371600"/>
          </a:xfrm>
          <a:prstGeom prst="roundRect">
            <a:avLst>
              <a:gd name="adj" fmla="val 8000"/>
            </a:avLst>
          </a:prstGeom>
          <a:solidFill>
            <a:schemeClr val="bg2"/>
          </a:solidFill>
          <a:ln w="12700">
            <a:solidFill>
              <a:schemeClr val="bg2"/>
            </a:solidFill>
            <a:prstDash val="solid"/>
          </a:ln>
        </p:spPr>
      </p:sp>
      <p:sp>
        <p:nvSpPr>
          <p:cNvPr id="18" name="Text 15"/>
          <p:cNvSpPr txBox="1"/>
          <p:nvPr/>
        </p:nvSpPr>
        <p:spPr>
          <a:xfrm>
            <a:off x="7040880" y="3273552"/>
            <a:ext cx="43434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Saved after every step</a:t>
            </a:r>
            <a:endParaRPr lang="en-US" sz="1700" dirty="0"/>
          </a:p>
        </p:txBody>
      </p:sp>
      <p:sp>
        <p:nvSpPr>
          <p:cNvPr id="19" name="Text 16"/>
          <p:cNvSpPr txBox="1"/>
          <p:nvPr/>
        </p:nvSpPr>
        <p:spPr>
          <a:xfrm>
            <a:off x="7040880" y="3858768"/>
            <a:ext cx="4297680" cy="3657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that is also what makes pause/resume possible</a:t>
            </a:r>
            <a:endParaRPr lang="en-US" sz="1400" dirty="0"/>
          </a:p>
        </p:txBody>
      </p:sp>
      <p:sp>
        <p:nvSpPr>
          <p:cNvPr id="20" name="Shape 17"/>
          <p:cNvSpPr/>
          <p:nvPr/>
        </p:nvSpPr>
        <p:spPr>
          <a:xfrm>
            <a:off x="6766560" y="4572000"/>
            <a:ext cx="4846320" cy="1371600"/>
          </a:xfrm>
          <a:prstGeom prst="roundRect">
            <a:avLst>
              <a:gd name="adj" fmla="val 8000"/>
            </a:avLst>
          </a:prstGeom>
          <a:solidFill>
            <a:schemeClr val="bg2"/>
          </a:solidFill>
          <a:ln w="12700">
            <a:solidFill>
              <a:schemeClr val="bg2"/>
            </a:solidFill>
            <a:prstDash val="solid"/>
          </a:ln>
        </p:spPr>
      </p:sp>
      <p:sp>
        <p:nvSpPr>
          <p:cNvPr id="21" name="Text 18"/>
          <p:cNvSpPr txBox="1"/>
          <p:nvPr/>
        </p:nvSpPr>
        <p:spPr>
          <a:xfrm>
            <a:off x="7040880" y="4828032"/>
            <a:ext cx="43434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Production</a:t>
            </a:r>
            <a:endParaRPr lang="en-US" sz="1700" dirty="0"/>
          </a:p>
        </p:txBody>
      </p:sp>
      <p:sp>
        <p:nvSpPr>
          <p:cNvPr id="22" name="Text 19"/>
          <p:cNvSpPr txBox="1"/>
          <p:nvPr/>
        </p:nvSpPr>
        <p:spPr>
          <a:xfrm>
            <a:off x="7040880" y="5413248"/>
            <a:ext cx="4297680" cy="3657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SqliteSaver / PostgresSaver, same API</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6 · interrupt(): human-in-the-loop</a:t>
            </a:r>
            <a:endParaRPr lang="en-US" sz="3000" dirty="0"/>
          </a:p>
        </p:txBody>
      </p:sp>
      <p:sp>
        <p:nvSpPr>
          <p:cNvPr id="4" name="Shape 1"/>
          <p:cNvSpPr/>
          <p:nvPr/>
        </p:nvSpPr>
        <p:spPr>
          <a:xfrm>
            <a:off x="548640" y="1371600"/>
            <a:ext cx="566928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49808" y="1508760"/>
            <a:ext cx="5303520" cy="210312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def clarify(self, state):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q = state["clarify_question"]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answer = interrupt({"question": q})</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 first run: STOPS here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 on resume: returns the user's answer</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before = state["standalone"]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return {"standalone": f"{before} ({answer})",</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"clarifications": 1}</a:t>
            </a:r>
            <a:endParaRPr lang="en-US" sz="1200" dirty="0"/>
          </a:p>
          <a:p>
            <a:pPr indent="0" marL="0">
              <a:buNone/>
            </a:pP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API, when the user replies: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app.invoke(Command(resume="hotel in Mumbai"), cfg)</a:t>
            </a:r>
            <a:endParaRPr lang="en-US" sz="1200" dirty="0"/>
          </a:p>
        </p:txBody>
      </p:sp>
      <p:sp>
        <p:nvSpPr>
          <p:cNvPr id="6" name="Shape 3"/>
          <p:cNvSpPr/>
          <p:nvPr/>
        </p:nvSpPr>
        <p:spPr>
          <a:xfrm>
            <a:off x="6583680" y="1463040"/>
            <a:ext cx="502920" cy="502920"/>
          </a:xfrm>
          <a:prstGeom prst="ellipse">
            <a:avLst/>
          </a:prstGeom>
          <a:solidFill>
            <a:schemeClr val="accent1"/>
          </a:solidFill>
          <a:ln w="12700">
            <a:solidFill>
              <a:schemeClr val="accent1"/>
            </a:solidFill>
            <a:prstDash val="solid"/>
          </a:ln>
        </p:spPr>
      </p:sp>
      <p:sp>
        <p:nvSpPr>
          <p:cNvPr id="7" name="Text 4"/>
          <p:cNvSpPr txBox="1"/>
          <p:nvPr/>
        </p:nvSpPr>
        <p:spPr>
          <a:xfrm>
            <a:off x="6583680" y="14630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7269480" y="1389888"/>
            <a:ext cx="42976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route → clarify</a:t>
            </a:r>
            <a:endParaRPr lang="en-US" sz="1500" dirty="0"/>
          </a:p>
        </p:txBody>
      </p:sp>
      <p:sp>
        <p:nvSpPr>
          <p:cNvPr id="9" name="Text 6"/>
          <p:cNvSpPr txBox="1"/>
          <p:nvPr/>
        </p:nvSpPr>
        <p:spPr>
          <a:xfrm>
            <a:off x="7269480" y="1755648"/>
            <a:ext cx="429768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"What is the limit?" is too vague</a:t>
            </a:r>
            <a:endParaRPr lang="en-US" sz="1300" dirty="0"/>
          </a:p>
        </p:txBody>
      </p:sp>
      <p:sp>
        <p:nvSpPr>
          <p:cNvPr id="10" name="Shape 7"/>
          <p:cNvSpPr/>
          <p:nvPr/>
        </p:nvSpPr>
        <p:spPr>
          <a:xfrm>
            <a:off x="6583680" y="237744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6583680" y="23774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7269480" y="2304288"/>
            <a:ext cx="42976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interrupt()</a:t>
            </a:r>
            <a:endParaRPr lang="en-US" sz="1500" dirty="0"/>
          </a:p>
        </p:txBody>
      </p:sp>
      <p:sp>
        <p:nvSpPr>
          <p:cNvPr id="13" name="Text 10"/>
          <p:cNvSpPr txBox="1"/>
          <p:nvPr/>
        </p:nvSpPr>
        <p:spPr>
          <a:xfrm>
            <a:off x="7269480" y="2670048"/>
            <a:ext cx="429768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graph pauses, state saved</a:t>
            </a:r>
            <a:endParaRPr lang="en-US" sz="1300" dirty="0"/>
          </a:p>
        </p:txBody>
      </p:sp>
      <p:sp>
        <p:nvSpPr>
          <p:cNvPr id="14" name="Shape 11"/>
          <p:cNvSpPr/>
          <p:nvPr/>
        </p:nvSpPr>
        <p:spPr>
          <a:xfrm>
            <a:off x="6583680" y="3291840"/>
            <a:ext cx="502920" cy="502920"/>
          </a:xfrm>
          <a:prstGeom prst="ellipse">
            <a:avLst/>
          </a:prstGeom>
          <a:solidFill>
            <a:schemeClr val="accent1"/>
          </a:solidFill>
          <a:ln w="12700">
            <a:solidFill>
              <a:schemeClr val="accent1"/>
            </a:solidFill>
            <a:prstDash val="solid"/>
          </a:ln>
        </p:spPr>
      </p:sp>
      <p:sp>
        <p:nvSpPr>
          <p:cNvPr id="15" name="Text 12"/>
          <p:cNvSpPr txBox="1"/>
          <p:nvPr/>
        </p:nvSpPr>
        <p:spPr>
          <a:xfrm>
            <a:off x="6583680" y="32918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7269480" y="3218688"/>
            <a:ext cx="42976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API → browser</a:t>
            </a:r>
            <a:endParaRPr lang="en-US" sz="1500" dirty="0"/>
          </a:p>
        </p:txBody>
      </p:sp>
      <p:sp>
        <p:nvSpPr>
          <p:cNvPr id="17" name="Text 14"/>
          <p:cNvSpPr txBox="1"/>
          <p:nvPr/>
        </p:nvSpPr>
        <p:spPr>
          <a:xfrm>
            <a:off x="7269480" y="3584448"/>
            <a:ext cx="429768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"Hotel, per diem, meals or home office?"</a:t>
            </a:r>
            <a:endParaRPr lang="en-US" sz="1300" dirty="0"/>
          </a:p>
        </p:txBody>
      </p:sp>
      <p:sp>
        <p:nvSpPr>
          <p:cNvPr id="18" name="Shape 15"/>
          <p:cNvSpPr/>
          <p:nvPr/>
        </p:nvSpPr>
        <p:spPr>
          <a:xfrm>
            <a:off x="6583680" y="4206240"/>
            <a:ext cx="502920" cy="502920"/>
          </a:xfrm>
          <a:prstGeom prst="ellipse">
            <a:avLst/>
          </a:prstGeom>
          <a:solidFill>
            <a:schemeClr val="accent1"/>
          </a:solidFill>
          <a:ln w="12700">
            <a:solidFill>
              <a:schemeClr val="accent1"/>
            </a:solidFill>
            <a:prstDash val="solid"/>
          </a:ln>
        </p:spPr>
      </p:sp>
      <p:sp>
        <p:nvSpPr>
          <p:cNvPr id="19" name="Text 16"/>
          <p:cNvSpPr txBox="1"/>
          <p:nvPr/>
        </p:nvSpPr>
        <p:spPr>
          <a:xfrm>
            <a:off x="6583680" y="42062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7269480" y="4133088"/>
            <a:ext cx="42976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user replies</a:t>
            </a:r>
            <a:endParaRPr lang="en-US" sz="1500" dirty="0"/>
          </a:p>
        </p:txBody>
      </p:sp>
      <p:sp>
        <p:nvSpPr>
          <p:cNvPr id="21" name="Text 18"/>
          <p:cNvSpPr txBox="1"/>
          <p:nvPr/>
        </p:nvSpPr>
        <p:spPr>
          <a:xfrm>
            <a:off x="7269480" y="4498848"/>
            <a:ext cx="429768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Command(resume="hotel in Mumbai")</a:t>
            </a:r>
            <a:endParaRPr lang="en-US" sz="1300" dirty="0"/>
          </a:p>
        </p:txBody>
      </p:sp>
      <p:sp>
        <p:nvSpPr>
          <p:cNvPr id="22" name="Shape 19"/>
          <p:cNvSpPr/>
          <p:nvPr/>
        </p:nvSpPr>
        <p:spPr>
          <a:xfrm>
            <a:off x="6583680" y="5120640"/>
            <a:ext cx="502920" cy="502920"/>
          </a:xfrm>
          <a:prstGeom prst="ellipse">
            <a:avLst/>
          </a:prstGeom>
          <a:solidFill>
            <a:schemeClr val="accent1"/>
          </a:solidFill>
          <a:ln w="12700">
            <a:solidFill>
              <a:schemeClr val="accent1"/>
            </a:solidFill>
            <a:prstDash val="solid"/>
          </a:ln>
        </p:spPr>
      </p:sp>
      <p:sp>
        <p:nvSpPr>
          <p:cNvPr id="23" name="Text 20"/>
          <p:cNvSpPr txBox="1"/>
          <p:nvPr/>
        </p:nvSpPr>
        <p:spPr>
          <a:xfrm>
            <a:off x="6583680" y="5120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7269480" y="5047488"/>
            <a:ext cx="42976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clarify re-runs</a:t>
            </a:r>
            <a:endParaRPr lang="en-US" sz="1500" dirty="0"/>
          </a:p>
        </p:txBody>
      </p:sp>
      <p:sp>
        <p:nvSpPr>
          <p:cNvPr id="25" name="Text 22"/>
          <p:cNvSpPr txBox="1"/>
          <p:nvPr/>
        </p:nvSpPr>
        <p:spPr>
          <a:xfrm>
            <a:off x="7269480" y="5413248"/>
            <a:ext cx="4297680" cy="36576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 route → plan → … → answer</a:t>
            </a:r>
            <a:endParaRPr lang="en-US" sz="1300" dirty="0"/>
          </a:p>
        </p:txBody>
      </p:sp>
      <p:sp>
        <p:nvSpPr>
          <p:cNvPr id="26" name="Shape 23"/>
          <p:cNvSpPr/>
          <p:nvPr/>
        </p:nvSpPr>
        <p:spPr>
          <a:xfrm>
            <a:off x="548640" y="3977640"/>
            <a:ext cx="5669280" cy="1965960"/>
          </a:xfrm>
          <a:prstGeom prst="roundRect">
            <a:avLst>
              <a:gd name="adj" fmla="val 5581"/>
            </a:avLst>
          </a:prstGeom>
          <a:solidFill>
            <a:schemeClr val="accent5"/>
          </a:solidFill>
          <a:ln w="12700">
            <a:solidFill>
              <a:schemeClr val="accent5"/>
            </a:solidFill>
            <a:prstDash val="solid"/>
          </a:ln>
        </p:spPr>
      </p:sp>
      <p:sp>
        <p:nvSpPr>
          <p:cNvPr id="27" name="Text 24"/>
          <p:cNvSpPr txBox="1"/>
          <p:nvPr/>
        </p:nvSpPr>
        <p:spPr>
          <a:xfrm>
            <a:off x="777240" y="4114800"/>
            <a:ext cx="5212080" cy="36576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Gotchas</a:t>
            </a:r>
            <a:endParaRPr lang="en-US" sz="1500" dirty="0"/>
          </a:p>
        </p:txBody>
      </p:sp>
      <p:sp>
        <p:nvSpPr>
          <p:cNvPr id="28" name="Text 25"/>
          <p:cNvSpPr txBox="1"/>
          <p:nvPr/>
        </p:nvSpPr>
        <p:spPr>
          <a:xfrm>
            <a:off x="777240" y="4526280"/>
            <a:ext cx="52120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needs a checkpointer and the same thread_id</a:t>
            </a:r>
            <a:endParaRPr lang="en-US" sz="1400" dirty="0"/>
          </a:p>
          <a:p>
            <a:pPr marL="203200" indent="-2032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the node re-runs on resume: no side effects before interrupt()</a:t>
            </a:r>
            <a:endParaRPr lang="en-US" sz="1400" dirty="0"/>
          </a:p>
          <a:p>
            <a:pPr marL="203200" indent="-2032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ask at most once (clarifications counter)</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7 · Streaming: watch the agent think</a:t>
            </a:r>
            <a:endParaRPr lang="en-US" sz="3000" dirty="0"/>
          </a:p>
        </p:txBody>
      </p:sp>
      <p:sp>
        <p:nvSpPr>
          <p:cNvPr id="4" name="Shape 1"/>
          <p:cNvSpPr/>
          <p:nvPr/>
        </p:nvSpPr>
        <p:spPr>
          <a:xfrm>
            <a:off x="548640" y="1371600"/>
            <a:ext cx="576072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49808" y="1508760"/>
            <a:ext cx="5394960" cy="2103120"/>
          </a:xfrm>
          <a:prstGeom prst="rect">
            <a:avLst/>
          </a:prstGeom>
          <a:noFill/>
          <a:ln/>
        </p:spPr>
        <p:txBody>
          <a:bodyPr wrap="square" lIns="0" tIns="0" rIns="0" bIns="0" rtlCol="0" anchor="t"/>
          <a:lstStyle/>
          <a:p>
            <a:pPr indent="0" marL="0">
              <a:buNone/>
            </a:pPr>
            <a:r>
              <a:rPr lang="en-US" sz="1250" dirty="0">
                <a:solidFill>
                  <a:schemeClr val="tx1"/>
                </a:solidFill>
                <a:latin typeface="Consolas" pitchFamily="34" charset="0"/>
                <a:ea typeface="Consolas" pitchFamily="34" charset="-122"/>
                <a:cs typeface="Consolas" pitchFamily="34" charset="-120"/>
              </a:rPr>
              <a:t>for upd in app.stream(inp, cfg,</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stream_mode="updates"):</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for node, delta in upd.items():</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for step in delta.get("steps", []):</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yield f"data: {json.dumps(step)}\n\n"</a:t>
            </a:r>
            <a:endParaRPr lang="en-US" sz="1250" dirty="0"/>
          </a:p>
          <a:p>
            <a:pPr indent="0" marL="0">
              <a:buNone/>
            </a:pP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browser: fetch("/api/agent/stream")</a:t>
            </a:r>
            <a:endParaRPr lang="en-US" sz="1250" dirty="0"/>
          </a:p>
          <a:p>
            <a:pPr indent="0" marL="0">
              <a:buNone/>
            </a:pPr>
            <a:r>
              <a:rPr lang="en-US" sz="1250" dirty="0">
                <a:solidFill>
                  <a:schemeClr val="tx1"/>
                </a:solidFill>
                <a:latin typeface="Consolas" pitchFamily="34" charset="0"/>
                <a:ea typeface="Consolas" pitchFamily="34" charset="-122"/>
                <a:cs typeface="Consolas" pitchFamily="34" charset="-120"/>
              </a:rPr>
              <a:t>#          + a stream reader loop</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5760720" cy="914400"/>
        </p:xfrm>
        <a:graphic>
          <a:graphicData uri="http://schemas.openxmlformats.org/drawingml/2006/table">
            <a:tbl>
              <a:tblPr/>
              <a:tblGrid>
                <a:gridCol w="1645920"/>
                <a:gridCol w="41148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stream_mode</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get</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766E"/>
                    </a:solidFill>
                  </a:tcPr>
                </a:tc>
              </a:tr>
              <a:tr h="38404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updates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each node's returned dict (we use this)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values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the full state after each step</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r h="38404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messages</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LLM tokens as they are generated</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custom</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c>
                  <a:txBody>
                    <a:bodyPr/>
                    <a:lstStyle/>
                    <a:p>
                      <a:pPr indent="0" marL="0">
                        <a:buNone/>
                      </a:pPr>
                      <a:r>
                        <a:rPr lang="en-US" sz="1300" dirty="0">
                          <a:solidFill>
                            <a:srgbClr val="0F1B2D"/>
                          </a:solidFill>
                          <a:latin typeface="Calibri" pitchFamily="34" charset="0"/>
                          <a:ea typeface="Calibri" pitchFamily="34" charset="-122"/>
                          <a:cs typeface="Calibri" pitchFamily="34" charset="-120"/>
                        </a:rPr>
                        <a:t>anything a node writes with a stream writer</a:t>
                      </a:r>
                      <a:endParaRPr lang="en-US" sz="1300" dirty="0">
                        <a:latin typeface="Calibri" charset="0"/>
                        <a:ea typeface="Calibri" charset="0"/>
                        <a:cs typeface="Calibri" charset="0"/>
                      </a:endParaRPr>
                    </a:p>
                  </a:txBody>
                  <a:tcPr marL="64008" marR="64008" marT="64008" marB="6400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8FA"/>
                    </a:solidFill>
                  </a:tcPr>
                </a:tc>
              </a:tr>
            </a:tbl>
          </a:graphicData>
        </a:graphic>
      </p:graphicFrame>
      <p:pic>
        <p:nvPicPr>
          <p:cNvPr id="7" name="Image 0" descr="/tmp/claude-0/-home-claude/650d1197-b767-5364-b7a1-cf50077bb269/scratchpad/trace_crop.png">    </p:cNvPr>
          <p:cNvPicPr>
            <a:picLocks noChangeAspect="1"/>
          </p:cNvPicPr>
          <p:nvPr/>
        </p:nvPicPr>
        <p:blipFill>
          <a:blip r:embed="rId1"/>
          <a:srcRect l="0" r="0" t="0" b="0"/>
          <a:stretch/>
        </p:blipFill>
        <p:spPr>
          <a:xfrm>
            <a:off x="6629400" y="1371600"/>
            <a:ext cx="4983480" cy="4572000"/>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Our agent graph, with the LangGraph feature behind each part</a:t>
            </a:r>
            <a:endParaRPr lang="en-US" sz="3000" dirty="0"/>
          </a:p>
        </p:txBody>
      </p:sp>
      <p:sp>
        <p:nvSpPr>
          <p:cNvPr id="4" name="Shape 1"/>
          <p:cNvSpPr/>
          <p:nvPr/>
        </p:nvSpPr>
        <p:spPr>
          <a:xfrm>
            <a:off x="685800" y="1600200"/>
            <a:ext cx="1481328" cy="566928"/>
          </a:xfrm>
          <a:prstGeom prst="roundRect">
            <a:avLst>
              <a:gd name="adj" fmla="val 12903"/>
            </a:avLst>
          </a:prstGeom>
          <a:solidFill>
            <a:schemeClr val="bg2"/>
          </a:solidFill>
          <a:ln w="15875">
            <a:solidFill>
              <a:schemeClr val="accent3"/>
            </a:solidFill>
            <a:prstDash val="solid"/>
          </a:ln>
        </p:spPr>
      </p:sp>
      <p:sp>
        <p:nvSpPr>
          <p:cNvPr id="5" name="Text 2"/>
          <p:cNvSpPr txBox="1"/>
          <p:nvPr/>
        </p:nvSpPr>
        <p:spPr>
          <a:xfrm>
            <a:off x="685800" y="160020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start_turn</a:t>
            </a:r>
            <a:endParaRPr lang="en-US" sz="1250" dirty="0"/>
          </a:p>
        </p:txBody>
      </p:sp>
      <p:sp>
        <p:nvSpPr>
          <p:cNvPr id="6" name="Shape 3"/>
          <p:cNvSpPr/>
          <p:nvPr/>
        </p:nvSpPr>
        <p:spPr>
          <a:xfrm>
            <a:off x="2624328" y="1600200"/>
            <a:ext cx="1481328" cy="566928"/>
          </a:xfrm>
          <a:prstGeom prst="roundRect">
            <a:avLst>
              <a:gd name="adj" fmla="val 12903"/>
            </a:avLst>
          </a:prstGeom>
          <a:solidFill>
            <a:schemeClr val="bg2"/>
          </a:solidFill>
          <a:ln w="15875">
            <a:solidFill>
              <a:schemeClr val="accent3"/>
            </a:solidFill>
            <a:prstDash val="solid"/>
          </a:ln>
        </p:spPr>
      </p:sp>
      <p:sp>
        <p:nvSpPr>
          <p:cNvPr id="7" name="Text 4"/>
          <p:cNvSpPr txBox="1"/>
          <p:nvPr/>
        </p:nvSpPr>
        <p:spPr>
          <a:xfrm>
            <a:off x="2624328" y="160020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contextualize</a:t>
            </a:r>
            <a:endParaRPr lang="en-US" sz="1250" dirty="0"/>
          </a:p>
        </p:txBody>
      </p:sp>
      <p:sp>
        <p:nvSpPr>
          <p:cNvPr id="8" name="Shape 5"/>
          <p:cNvSpPr/>
          <p:nvPr/>
        </p:nvSpPr>
        <p:spPr>
          <a:xfrm>
            <a:off x="4562856" y="1600200"/>
            <a:ext cx="1481328" cy="566928"/>
          </a:xfrm>
          <a:prstGeom prst="roundRect">
            <a:avLst>
              <a:gd name="adj" fmla="val 12903"/>
            </a:avLst>
          </a:prstGeom>
          <a:solidFill>
            <a:schemeClr val="accent6"/>
          </a:solidFill>
          <a:ln w="15875">
            <a:solidFill>
              <a:schemeClr val="accent1"/>
            </a:solidFill>
            <a:prstDash val="solid"/>
          </a:ln>
        </p:spPr>
      </p:sp>
      <p:sp>
        <p:nvSpPr>
          <p:cNvPr id="9" name="Text 6"/>
          <p:cNvSpPr txBox="1"/>
          <p:nvPr/>
        </p:nvSpPr>
        <p:spPr>
          <a:xfrm>
            <a:off x="4562856" y="160020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route</a:t>
            </a:r>
            <a:endParaRPr lang="en-US" sz="1250" dirty="0"/>
          </a:p>
        </p:txBody>
      </p:sp>
      <p:sp>
        <p:nvSpPr>
          <p:cNvPr id="10" name="Shape 7"/>
          <p:cNvSpPr/>
          <p:nvPr/>
        </p:nvSpPr>
        <p:spPr>
          <a:xfrm>
            <a:off x="6720840" y="1600200"/>
            <a:ext cx="1481328" cy="566928"/>
          </a:xfrm>
          <a:prstGeom prst="roundRect">
            <a:avLst>
              <a:gd name="adj" fmla="val 12903"/>
            </a:avLst>
          </a:prstGeom>
          <a:solidFill>
            <a:schemeClr val="bg2"/>
          </a:solidFill>
          <a:ln w="15875">
            <a:solidFill>
              <a:schemeClr val="accent3"/>
            </a:solidFill>
            <a:prstDash val="solid"/>
          </a:ln>
        </p:spPr>
      </p:sp>
      <p:sp>
        <p:nvSpPr>
          <p:cNvPr id="11" name="Text 8"/>
          <p:cNvSpPr txBox="1"/>
          <p:nvPr/>
        </p:nvSpPr>
        <p:spPr>
          <a:xfrm>
            <a:off x="6720840" y="160020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direct_answer</a:t>
            </a:r>
            <a:endParaRPr lang="en-US" sz="1250" dirty="0"/>
          </a:p>
        </p:txBody>
      </p:sp>
      <p:sp>
        <p:nvSpPr>
          <p:cNvPr id="12" name="Shape 9"/>
          <p:cNvSpPr/>
          <p:nvPr/>
        </p:nvSpPr>
        <p:spPr>
          <a:xfrm>
            <a:off x="10597896" y="1600200"/>
            <a:ext cx="1481328" cy="566928"/>
          </a:xfrm>
          <a:prstGeom prst="roundRect">
            <a:avLst>
              <a:gd name="adj" fmla="val 12903"/>
            </a:avLst>
          </a:prstGeom>
          <a:solidFill>
            <a:schemeClr val="bg2"/>
          </a:solidFill>
          <a:ln w="15875">
            <a:solidFill>
              <a:schemeClr val="accent3"/>
            </a:solidFill>
            <a:prstDash val="solid"/>
          </a:ln>
        </p:spPr>
      </p:sp>
      <p:sp>
        <p:nvSpPr>
          <p:cNvPr id="13" name="Text 10"/>
          <p:cNvSpPr txBox="1"/>
          <p:nvPr/>
        </p:nvSpPr>
        <p:spPr>
          <a:xfrm>
            <a:off x="10597896" y="160020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finalize</a:t>
            </a:r>
            <a:endParaRPr lang="en-US" sz="1250" dirty="0"/>
          </a:p>
        </p:txBody>
      </p:sp>
      <p:sp>
        <p:nvSpPr>
          <p:cNvPr id="14" name="Shape 11"/>
          <p:cNvSpPr/>
          <p:nvPr/>
        </p:nvSpPr>
        <p:spPr>
          <a:xfrm>
            <a:off x="6720840" y="2651760"/>
            <a:ext cx="1481328" cy="566928"/>
          </a:xfrm>
          <a:prstGeom prst="roundRect">
            <a:avLst>
              <a:gd name="adj" fmla="val 12903"/>
            </a:avLst>
          </a:prstGeom>
          <a:solidFill>
            <a:schemeClr val="accent6"/>
          </a:solidFill>
          <a:ln w="15875">
            <a:solidFill>
              <a:schemeClr val="accent1"/>
            </a:solidFill>
            <a:prstDash val="solid"/>
          </a:ln>
        </p:spPr>
      </p:sp>
      <p:sp>
        <p:nvSpPr>
          <p:cNvPr id="15" name="Text 12"/>
          <p:cNvSpPr txBox="1"/>
          <p:nvPr/>
        </p:nvSpPr>
        <p:spPr>
          <a:xfrm>
            <a:off x="6720840" y="265176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clarify</a:t>
            </a:r>
            <a:endParaRPr lang="en-US" sz="1250" dirty="0"/>
          </a:p>
        </p:txBody>
      </p:sp>
      <p:sp>
        <p:nvSpPr>
          <p:cNvPr id="16" name="Shape 13"/>
          <p:cNvSpPr/>
          <p:nvPr/>
        </p:nvSpPr>
        <p:spPr>
          <a:xfrm>
            <a:off x="4562856" y="3063240"/>
            <a:ext cx="1481328" cy="566928"/>
          </a:xfrm>
          <a:prstGeom prst="roundRect">
            <a:avLst>
              <a:gd name="adj" fmla="val 12903"/>
            </a:avLst>
          </a:prstGeom>
          <a:solidFill>
            <a:schemeClr val="accent6"/>
          </a:solidFill>
          <a:ln w="15875">
            <a:solidFill>
              <a:schemeClr val="accent1"/>
            </a:solidFill>
            <a:prstDash val="solid"/>
          </a:ln>
        </p:spPr>
      </p:sp>
      <p:sp>
        <p:nvSpPr>
          <p:cNvPr id="17" name="Text 14"/>
          <p:cNvSpPr txBox="1"/>
          <p:nvPr/>
        </p:nvSpPr>
        <p:spPr>
          <a:xfrm>
            <a:off x="4562856" y="306324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plan</a:t>
            </a:r>
            <a:endParaRPr lang="en-US" sz="1250" dirty="0"/>
          </a:p>
        </p:txBody>
      </p:sp>
      <p:sp>
        <p:nvSpPr>
          <p:cNvPr id="18" name="Shape 15"/>
          <p:cNvSpPr/>
          <p:nvPr/>
        </p:nvSpPr>
        <p:spPr>
          <a:xfrm>
            <a:off x="4672584" y="4187952"/>
            <a:ext cx="1481328" cy="566928"/>
          </a:xfrm>
          <a:prstGeom prst="roundRect">
            <a:avLst>
              <a:gd name="adj" fmla="val 12903"/>
            </a:avLst>
          </a:prstGeom>
          <a:solidFill>
            <a:schemeClr val="bg1"/>
          </a:solidFill>
          <a:ln w="12700">
            <a:solidFill>
              <a:schemeClr val="accent3"/>
            </a:solidFill>
            <a:prstDash val="solid"/>
          </a:ln>
        </p:spPr>
      </p:sp>
      <p:sp>
        <p:nvSpPr>
          <p:cNvPr id="19" name="Shape 16"/>
          <p:cNvSpPr/>
          <p:nvPr/>
        </p:nvSpPr>
        <p:spPr>
          <a:xfrm>
            <a:off x="4617720" y="4242816"/>
            <a:ext cx="1481328" cy="566928"/>
          </a:xfrm>
          <a:prstGeom prst="roundRect">
            <a:avLst>
              <a:gd name="adj" fmla="val 12903"/>
            </a:avLst>
          </a:prstGeom>
          <a:solidFill>
            <a:schemeClr val="bg1"/>
          </a:solidFill>
          <a:ln w="12700">
            <a:solidFill>
              <a:schemeClr val="accent3"/>
            </a:solidFill>
            <a:prstDash val="solid"/>
          </a:ln>
        </p:spPr>
      </p:sp>
      <p:sp>
        <p:nvSpPr>
          <p:cNvPr id="20" name="Shape 17"/>
          <p:cNvSpPr/>
          <p:nvPr/>
        </p:nvSpPr>
        <p:spPr>
          <a:xfrm>
            <a:off x="4562856" y="4297680"/>
            <a:ext cx="1481328" cy="566928"/>
          </a:xfrm>
          <a:prstGeom prst="roundRect">
            <a:avLst>
              <a:gd name="adj" fmla="val 12903"/>
            </a:avLst>
          </a:prstGeom>
          <a:solidFill>
            <a:schemeClr val="bg2"/>
          </a:solidFill>
          <a:ln w="15875">
            <a:solidFill>
              <a:schemeClr val="accent3"/>
            </a:solidFill>
            <a:prstDash val="solid"/>
          </a:ln>
        </p:spPr>
      </p:sp>
      <p:sp>
        <p:nvSpPr>
          <p:cNvPr id="21" name="Text 18"/>
          <p:cNvSpPr txBox="1"/>
          <p:nvPr/>
        </p:nvSpPr>
        <p:spPr>
          <a:xfrm>
            <a:off x="4562856" y="429768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retrieve</a:t>
            </a:r>
            <a:endParaRPr lang="en-US" sz="1250" dirty="0"/>
          </a:p>
        </p:txBody>
      </p:sp>
      <p:sp>
        <p:nvSpPr>
          <p:cNvPr id="22" name="Shape 19"/>
          <p:cNvSpPr/>
          <p:nvPr/>
        </p:nvSpPr>
        <p:spPr>
          <a:xfrm>
            <a:off x="6720840" y="4297680"/>
            <a:ext cx="1481328" cy="566928"/>
          </a:xfrm>
          <a:prstGeom prst="roundRect">
            <a:avLst>
              <a:gd name="adj" fmla="val 12903"/>
            </a:avLst>
          </a:prstGeom>
          <a:solidFill>
            <a:schemeClr val="accent6"/>
          </a:solidFill>
          <a:ln w="15875">
            <a:solidFill>
              <a:schemeClr val="accent1"/>
            </a:solidFill>
            <a:prstDash val="solid"/>
          </a:ln>
        </p:spPr>
      </p:sp>
      <p:sp>
        <p:nvSpPr>
          <p:cNvPr id="23" name="Text 20"/>
          <p:cNvSpPr txBox="1"/>
          <p:nvPr/>
        </p:nvSpPr>
        <p:spPr>
          <a:xfrm>
            <a:off x="6720840" y="429768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assess</a:t>
            </a:r>
            <a:endParaRPr lang="en-US" sz="1250" dirty="0"/>
          </a:p>
        </p:txBody>
      </p:sp>
      <p:sp>
        <p:nvSpPr>
          <p:cNvPr id="24" name="Shape 21"/>
          <p:cNvSpPr/>
          <p:nvPr/>
        </p:nvSpPr>
        <p:spPr>
          <a:xfrm>
            <a:off x="8659368" y="4297680"/>
            <a:ext cx="1481328" cy="566928"/>
          </a:xfrm>
          <a:prstGeom prst="roundRect">
            <a:avLst>
              <a:gd name="adj" fmla="val 12903"/>
            </a:avLst>
          </a:prstGeom>
          <a:solidFill>
            <a:schemeClr val="bg2"/>
          </a:solidFill>
          <a:ln w="15875">
            <a:solidFill>
              <a:schemeClr val="accent3"/>
            </a:solidFill>
            <a:prstDash val="solid"/>
          </a:ln>
        </p:spPr>
      </p:sp>
      <p:sp>
        <p:nvSpPr>
          <p:cNvPr id="25" name="Text 22"/>
          <p:cNvSpPr txBox="1"/>
          <p:nvPr/>
        </p:nvSpPr>
        <p:spPr>
          <a:xfrm>
            <a:off x="8659368" y="429768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generate</a:t>
            </a:r>
            <a:endParaRPr lang="en-US" sz="1250" dirty="0"/>
          </a:p>
        </p:txBody>
      </p:sp>
      <p:sp>
        <p:nvSpPr>
          <p:cNvPr id="26" name="Shape 23"/>
          <p:cNvSpPr/>
          <p:nvPr/>
        </p:nvSpPr>
        <p:spPr>
          <a:xfrm>
            <a:off x="10597896" y="4297680"/>
            <a:ext cx="1481328" cy="566928"/>
          </a:xfrm>
          <a:prstGeom prst="roundRect">
            <a:avLst>
              <a:gd name="adj" fmla="val 12903"/>
            </a:avLst>
          </a:prstGeom>
          <a:solidFill>
            <a:schemeClr val="accent6"/>
          </a:solidFill>
          <a:ln w="15875">
            <a:solidFill>
              <a:schemeClr val="accent1"/>
            </a:solidFill>
            <a:prstDash val="solid"/>
          </a:ln>
        </p:spPr>
      </p:sp>
      <p:sp>
        <p:nvSpPr>
          <p:cNvPr id="27" name="Text 24"/>
          <p:cNvSpPr txBox="1"/>
          <p:nvPr/>
        </p:nvSpPr>
        <p:spPr>
          <a:xfrm>
            <a:off x="10597896" y="4297680"/>
            <a:ext cx="1481328" cy="566928"/>
          </a:xfrm>
          <a:prstGeom prst="rect">
            <a:avLst/>
          </a:prstGeom>
          <a:noFill/>
          <a:ln/>
        </p:spPr>
        <p:txBody>
          <a:bodyPr wrap="square" lIns="0" tIns="0" rIns="0" bIns="0" rtlCol="0" anchor="ctr"/>
          <a:lstStyle/>
          <a:p>
            <a:pPr algn="ctr" indent="0" marL="0">
              <a:buNone/>
            </a:pPr>
            <a:r>
              <a:rPr lang="en-US" sz="1250" b="1" dirty="0">
                <a:solidFill>
                  <a:schemeClr val="tx1"/>
                </a:solidFill>
                <a:latin typeface="Consolas" pitchFamily="34" charset="0"/>
                <a:ea typeface="Consolas" pitchFamily="34" charset="-122"/>
                <a:cs typeface="Consolas" pitchFamily="34" charset="-120"/>
              </a:rPr>
              <a:t>check</a:t>
            </a:r>
            <a:endParaRPr lang="en-US" sz="1250" dirty="0"/>
          </a:p>
        </p:txBody>
      </p:sp>
      <p:sp>
        <p:nvSpPr>
          <p:cNvPr id="28" name="Shape 25"/>
          <p:cNvSpPr/>
          <p:nvPr/>
        </p:nvSpPr>
        <p:spPr>
          <a:xfrm>
            <a:off x="2167128" y="1883664"/>
            <a:ext cx="457200" cy="914"/>
          </a:xfrm>
          <a:prstGeom prst="line">
            <a:avLst/>
          </a:prstGeom>
          <a:noFill/>
          <a:ln w="20320">
            <a:solidFill>
              <a:schemeClr val="accent3"/>
            </a:solidFill>
            <a:prstDash val="solid"/>
            <a:tailEnd type="triangle"/>
          </a:ln>
        </p:spPr>
      </p:sp>
      <p:sp>
        <p:nvSpPr>
          <p:cNvPr id="29" name="Shape 26"/>
          <p:cNvSpPr/>
          <p:nvPr/>
        </p:nvSpPr>
        <p:spPr>
          <a:xfrm>
            <a:off x="4105656" y="1883664"/>
            <a:ext cx="457200" cy="914"/>
          </a:xfrm>
          <a:prstGeom prst="line">
            <a:avLst/>
          </a:prstGeom>
          <a:noFill/>
          <a:ln w="20320">
            <a:solidFill>
              <a:schemeClr val="accent3"/>
            </a:solidFill>
            <a:prstDash val="solid"/>
            <a:tailEnd type="triangle"/>
          </a:ln>
        </p:spPr>
      </p:sp>
      <p:sp>
        <p:nvSpPr>
          <p:cNvPr id="30" name="Shape 27"/>
          <p:cNvSpPr/>
          <p:nvPr/>
        </p:nvSpPr>
        <p:spPr>
          <a:xfrm>
            <a:off x="6044184" y="1883664"/>
            <a:ext cx="676656" cy="914"/>
          </a:xfrm>
          <a:prstGeom prst="line">
            <a:avLst/>
          </a:prstGeom>
          <a:noFill/>
          <a:ln w="20320">
            <a:solidFill>
              <a:schemeClr val="accent1"/>
            </a:solidFill>
            <a:prstDash val="dash"/>
            <a:tailEnd type="triangle"/>
          </a:ln>
        </p:spPr>
      </p:sp>
      <p:sp>
        <p:nvSpPr>
          <p:cNvPr id="31" name="Shape 28"/>
          <p:cNvSpPr/>
          <p:nvPr/>
        </p:nvSpPr>
        <p:spPr>
          <a:xfrm>
            <a:off x="5821985" y="2167128"/>
            <a:ext cx="914" cy="768096"/>
          </a:xfrm>
          <a:prstGeom prst="line">
            <a:avLst/>
          </a:prstGeom>
          <a:noFill/>
          <a:ln w="20320">
            <a:solidFill>
              <a:schemeClr val="accent1"/>
            </a:solidFill>
            <a:prstDash val="dash"/>
          </a:ln>
        </p:spPr>
      </p:sp>
      <p:sp>
        <p:nvSpPr>
          <p:cNvPr id="32" name="Shape 29"/>
          <p:cNvSpPr/>
          <p:nvPr/>
        </p:nvSpPr>
        <p:spPr>
          <a:xfrm>
            <a:off x="5821985" y="2935224"/>
            <a:ext cx="898855" cy="914"/>
          </a:xfrm>
          <a:prstGeom prst="line">
            <a:avLst/>
          </a:prstGeom>
          <a:noFill/>
          <a:ln w="20320">
            <a:solidFill>
              <a:schemeClr val="accent1"/>
            </a:solidFill>
            <a:prstDash val="dash"/>
            <a:tailEnd type="triangle"/>
          </a:ln>
        </p:spPr>
      </p:sp>
      <p:sp>
        <p:nvSpPr>
          <p:cNvPr id="33" name="Shape 30"/>
          <p:cNvSpPr/>
          <p:nvPr/>
        </p:nvSpPr>
        <p:spPr>
          <a:xfrm flipV="1">
            <a:off x="6898599" y="2350008"/>
            <a:ext cx="914" cy="301752"/>
          </a:xfrm>
          <a:prstGeom prst="line">
            <a:avLst/>
          </a:prstGeom>
          <a:noFill/>
          <a:ln w="20320">
            <a:solidFill>
              <a:schemeClr val="accent3"/>
            </a:solidFill>
            <a:prstDash val="solid"/>
          </a:ln>
        </p:spPr>
      </p:sp>
      <p:sp>
        <p:nvSpPr>
          <p:cNvPr id="34" name="Shape 31"/>
          <p:cNvSpPr/>
          <p:nvPr/>
        </p:nvSpPr>
        <p:spPr>
          <a:xfrm flipH="1">
            <a:off x="5999744" y="2350008"/>
            <a:ext cx="898855" cy="914"/>
          </a:xfrm>
          <a:prstGeom prst="line">
            <a:avLst/>
          </a:prstGeom>
          <a:noFill/>
          <a:ln w="20320">
            <a:solidFill>
              <a:schemeClr val="accent3"/>
            </a:solidFill>
            <a:prstDash val="solid"/>
          </a:ln>
        </p:spPr>
      </p:sp>
      <p:sp>
        <p:nvSpPr>
          <p:cNvPr id="35" name="Shape 32"/>
          <p:cNvSpPr/>
          <p:nvPr/>
        </p:nvSpPr>
        <p:spPr>
          <a:xfrm flipV="1">
            <a:off x="5999744" y="2176272"/>
            <a:ext cx="914" cy="173736"/>
          </a:xfrm>
          <a:prstGeom prst="line">
            <a:avLst/>
          </a:prstGeom>
          <a:noFill/>
          <a:ln w="20320">
            <a:solidFill>
              <a:schemeClr val="accent3"/>
            </a:solidFill>
            <a:prstDash val="solid"/>
            <a:tailEnd type="triangle"/>
          </a:ln>
        </p:spPr>
      </p:sp>
      <p:sp>
        <p:nvSpPr>
          <p:cNvPr id="36" name="Shape 33"/>
          <p:cNvSpPr/>
          <p:nvPr/>
        </p:nvSpPr>
        <p:spPr>
          <a:xfrm>
            <a:off x="5155387" y="2167128"/>
            <a:ext cx="914" cy="896112"/>
          </a:xfrm>
          <a:prstGeom prst="line">
            <a:avLst/>
          </a:prstGeom>
          <a:noFill/>
          <a:ln w="20320">
            <a:solidFill>
              <a:schemeClr val="accent1"/>
            </a:solidFill>
            <a:prstDash val="dash"/>
            <a:tailEnd type="triangle"/>
          </a:ln>
        </p:spPr>
      </p:sp>
      <p:sp>
        <p:nvSpPr>
          <p:cNvPr id="37" name="Shape 34"/>
          <p:cNvSpPr/>
          <p:nvPr/>
        </p:nvSpPr>
        <p:spPr>
          <a:xfrm>
            <a:off x="5155387" y="3630168"/>
            <a:ext cx="914" cy="539496"/>
          </a:xfrm>
          <a:prstGeom prst="line">
            <a:avLst/>
          </a:prstGeom>
          <a:noFill/>
          <a:ln w="25400">
            <a:solidFill>
              <a:schemeClr val="accent2"/>
            </a:solidFill>
            <a:prstDash val="dash"/>
            <a:tailEnd type="triangle"/>
          </a:ln>
        </p:spPr>
      </p:sp>
      <p:sp>
        <p:nvSpPr>
          <p:cNvPr id="38" name="Shape 35"/>
          <p:cNvSpPr/>
          <p:nvPr/>
        </p:nvSpPr>
        <p:spPr>
          <a:xfrm>
            <a:off x="6044184" y="4581144"/>
            <a:ext cx="676656" cy="914"/>
          </a:xfrm>
          <a:prstGeom prst="line">
            <a:avLst/>
          </a:prstGeom>
          <a:noFill/>
          <a:ln w="20320">
            <a:solidFill>
              <a:schemeClr val="accent3"/>
            </a:solidFill>
            <a:prstDash val="solid"/>
            <a:tailEnd type="triangle"/>
          </a:ln>
        </p:spPr>
      </p:sp>
      <p:sp>
        <p:nvSpPr>
          <p:cNvPr id="39" name="Shape 36"/>
          <p:cNvSpPr/>
          <p:nvPr/>
        </p:nvSpPr>
        <p:spPr>
          <a:xfrm>
            <a:off x="7461504" y="4864608"/>
            <a:ext cx="914" cy="292608"/>
          </a:xfrm>
          <a:prstGeom prst="line">
            <a:avLst/>
          </a:prstGeom>
          <a:noFill/>
          <a:ln w="20320">
            <a:solidFill>
              <a:schemeClr val="accent1"/>
            </a:solidFill>
            <a:prstDash val="dash"/>
          </a:ln>
        </p:spPr>
      </p:sp>
      <p:sp>
        <p:nvSpPr>
          <p:cNvPr id="40" name="Shape 37"/>
          <p:cNvSpPr/>
          <p:nvPr/>
        </p:nvSpPr>
        <p:spPr>
          <a:xfrm flipH="1">
            <a:off x="5451653" y="5157216"/>
            <a:ext cx="2009851" cy="914"/>
          </a:xfrm>
          <a:prstGeom prst="line">
            <a:avLst/>
          </a:prstGeom>
          <a:noFill/>
          <a:ln w="20320">
            <a:solidFill>
              <a:schemeClr val="accent1"/>
            </a:solidFill>
            <a:prstDash val="dash"/>
          </a:ln>
        </p:spPr>
      </p:sp>
      <p:sp>
        <p:nvSpPr>
          <p:cNvPr id="41" name="Shape 38"/>
          <p:cNvSpPr/>
          <p:nvPr/>
        </p:nvSpPr>
        <p:spPr>
          <a:xfrm flipV="1">
            <a:off x="5451653" y="4882896"/>
            <a:ext cx="914" cy="274320"/>
          </a:xfrm>
          <a:prstGeom prst="line">
            <a:avLst/>
          </a:prstGeom>
          <a:noFill/>
          <a:ln w="20320">
            <a:solidFill>
              <a:schemeClr val="accent1"/>
            </a:solidFill>
            <a:prstDash val="dash"/>
            <a:tailEnd type="triangle"/>
          </a:ln>
        </p:spPr>
      </p:sp>
      <p:sp>
        <p:nvSpPr>
          <p:cNvPr id="42" name="Shape 39"/>
          <p:cNvSpPr/>
          <p:nvPr/>
        </p:nvSpPr>
        <p:spPr>
          <a:xfrm>
            <a:off x="8202168" y="4581144"/>
            <a:ext cx="457200" cy="914"/>
          </a:xfrm>
          <a:prstGeom prst="line">
            <a:avLst/>
          </a:prstGeom>
          <a:noFill/>
          <a:ln w="20320">
            <a:solidFill>
              <a:schemeClr val="accent1"/>
            </a:solidFill>
            <a:prstDash val="dash"/>
            <a:tailEnd type="triangle"/>
          </a:ln>
        </p:spPr>
      </p:sp>
      <p:sp>
        <p:nvSpPr>
          <p:cNvPr id="43" name="Shape 40"/>
          <p:cNvSpPr/>
          <p:nvPr/>
        </p:nvSpPr>
        <p:spPr>
          <a:xfrm>
            <a:off x="10140696" y="4581144"/>
            <a:ext cx="457200" cy="914"/>
          </a:xfrm>
          <a:prstGeom prst="line">
            <a:avLst/>
          </a:prstGeom>
          <a:noFill/>
          <a:ln w="20320">
            <a:solidFill>
              <a:schemeClr val="accent3"/>
            </a:solidFill>
            <a:prstDash val="solid"/>
            <a:tailEnd type="triangle"/>
          </a:ln>
        </p:spPr>
      </p:sp>
      <p:sp>
        <p:nvSpPr>
          <p:cNvPr id="44" name="Shape 41"/>
          <p:cNvSpPr/>
          <p:nvPr/>
        </p:nvSpPr>
        <p:spPr>
          <a:xfrm>
            <a:off x="11338560" y="4864608"/>
            <a:ext cx="914" cy="292608"/>
          </a:xfrm>
          <a:prstGeom prst="line">
            <a:avLst/>
          </a:prstGeom>
          <a:noFill/>
          <a:ln w="20320">
            <a:solidFill>
              <a:schemeClr val="accent1"/>
            </a:solidFill>
            <a:prstDash val="dash"/>
          </a:ln>
        </p:spPr>
      </p:sp>
      <p:sp>
        <p:nvSpPr>
          <p:cNvPr id="45" name="Shape 42"/>
          <p:cNvSpPr/>
          <p:nvPr/>
        </p:nvSpPr>
        <p:spPr>
          <a:xfrm flipH="1">
            <a:off x="9400032" y="5157216"/>
            <a:ext cx="1938528" cy="914"/>
          </a:xfrm>
          <a:prstGeom prst="line">
            <a:avLst/>
          </a:prstGeom>
          <a:noFill/>
          <a:ln w="20320">
            <a:solidFill>
              <a:schemeClr val="accent1"/>
            </a:solidFill>
            <a:prstDash val="dash"/>
          </a:ln>
        </p:spPr>
      </p:sp>
      <p:sp>
        <p:nvSpPr>
          <p:cNvPr id="46" name="Shape 43"/>
          <p:cNvSpPr/>
          <p:nvPr/>
        </p:nvSpPr>
        <p:spPr>
          <a:xfrm flipV="1">
            <a:off x="9400032" y="4882896"/>
            <a:ext cx="914" cy="274320"/>
          </a:xfrm>
          <a:prstGeom prst="line">
            <a:avLst/>
          </a:prstGeom>
          <a:noFill/>
          <a:ln w="20320">
            <a:solidFill>
              <a:schemeClr val="accent1"/>
            </a:solidFill>
            <a:prstDash val="dash"/>
            <a:tailEnd type="triangle"/>
          </a:ln>
        </p:spPr>
      </p:sp>
      <p:sp>
        <p:nvSpPr>
          <p:cNvPr id="47" name="Shape 44"/>
          <p:cNvSpPr/>
          <p:nvPr/>
        </p:nvSpPr>
        <p:spPr>
          <a:xfrm flipV="1">
            <a:off x="11338560" y="2167128"/>
            <a:ext cx="914" cy="2130552"/>
          </a:xfrm>
          <a:prstGeom prst="line">
            <a:avLst/>
          </a:prstGeom>
          <a:noFill/>
          <a:ln w="20320">
            <a:solidFill>
              <a:schemeClr val="accent1"/>
            </a:solidFill>
            <a:prstDash val="dash"/>
            <a:tailEnd type="triangle"/>
          </a:ln>
        </p:spPr>
      </p:sp>
      <p:sp>
        <p:nvSpPr>
          <p:cNvPr id="48" name="Shape 45"/>
          <p:cNvSpPr/>
          <p:nvPr/>
        </p:nvSpPr>
        <p:spPr>
          <a:xfrm>
            <a:off x="8202168" y="1883664"/>
            <a:ext cx="2395728" cy="914"/>
          </a:xfrm>
          <a:prstGeom prst="line">
            <a:avLst/>
          </a:prstGeom>
          <a:noFill/>
          <a:ln w="20320">
            <a:solidFill>
              <a:schemeClr val="accent3"/>
            </a:solidFill>
            <a:prstDash val="solid"/>
            <a:tailEnd type="triangle"/>
          </a:ln>
        </p:spPr>
      </p:sp>
      <p:sp>
        <p:nvSpPr>
          <p:cNvPr id="49" name="Text 46"/>
          <p:cNvSpPr txBox="1"/>
          <p:nvPr/>
        </p:nvSpPr>
        <p:spPr>
          <a:xfrm>
            <a:off x="6153912" y="1609344"/>
            <a:ext cx="914400" cy="256032"/>
          </a:xfrm>
          <a:prstGeom prst="rect">
            <a:avLst/>
          </a:prstGeom>
          <a:noFill/>
          <a:ln/>
        </p:spPr>
        <p:txBody>
          <a:bodyPr wrap="square" lIns="0" tIns="0" rIns="0" bIns="0" rtlCol="0" anchor="t"/>
          <a:lstStyle/>
          <a:p>
            <a:pPr indent="0" marL="0">
              <a:buNone/>
            </a:pPr>
            <a:r>
              <a:rPr lang="en-US" sz="1050" i="1" dirty="0">
                <a:solidFill>
                  <a:schemeClr val="accent3"/>
                </a:solidFill>
                <a:latin typeface="Calibri" pitchFamily="34" charset="0"/>
                <a:ea typeface="Calibri" pitchFamily="34" charset="-122"/>
                <a:cs typeface="Calibri" pitchFamily="34" charset="-120"/>
              </a:rPr>
              <a:t>direct</a:t>
            </a:r>
            <a:endParaRPr lang="en-US" sz="1050" dirty="0"/>
          </a:p>
        </p:txBody>
      </p:sp>
      <p:sp>
        <p:nvSpPr>
          <p:cNvPr id="50" name="Text 47"/>
          <p:cNvSpPr txBox="1"/>
          <p:nvPr/>
        </p:nvSpPr>
        <p:spPr>
          <a:xfrm>
            <a:off x="5895137" y="2660904"/>
            <a:ext cx="914400" cy="256032"/>
          </a:xfrm>
          <a:prstGeom prst="rect">
            <a:avLst/>
          </a:prstGeom>
          <a:noFill/>
          <a:ln/>
        </p:spPr>
        <p:txBody>
          <a:bodyPr wrap="square" lIns="0" tIns="0" rIns="0" bIns="0" rtlCol="0" anchor="t"/>
          <a:lstStyle/>
          <a:p>
            <a:pPr indent="0" marL="0">
              <a:buNone/>
            </a:pPr>
            <a:r>
              <a:rPr lang="en-US" sz="1050" i="1" dirty="0">
                <a:solidFill>
                  <a:schemeClr val="accent3"/>
                </a:solidFill>
                <a:latin typeface="Calibri" pitchFamily="34" charset="0"/>
                <a:ea typeface="Calibri" pitchFamily="34" charset="-122"/>
                <a:cs typeface="Calibri" pitchFamily="34" charset="-120"/>
              </a:rPr>
              <a:t>clarify</a:t>
            </a:r>
            <a:endParaRPr lang="en-US" sz="1050" dirty="0"/>
          </a:p>
        </p:txBody>
      </p:sp>
      <p:sp>
        <p:nvSpPr>
          <p:cNvPr id="51" name="Text 48"/>
          <p:cNvSpPr txBox="1"/>
          <p:nvPr/>
        </p:nvSpPr>
        <p:spPr>
          <a:xfrm>
            <a:off x="3555187" y="2395728"/>
            <a:ext cx="1508760" cy="256032"/>
          </a:xfrm>
          <a:prstGeom prst="rect">
            <a:avLst/>
          </a:prstGeom>
          <a:noFill/>
          <a:ln/>
        </p:spPr>
        <p:txBody>
          <a:bodyPr wrap="square" lIns="0" tIns="0" rIns="0" bIns="0" rtlCol="0" anchor="t"/>
          <a:lstStyle/>
          <a:p>
            <a:pPr algn="r" indent="0" marL="0">
              <a:buNone/>
            </a:pPr>
            <a:r>
              <a:rPr lang="en-US" sz="1050" i="1" dirty="0">
                <a:solidFill>
                  <a:schemeClr val="accent3"/>
                </a:solidFill>
                <a:latin typeface="Calibri" pitchFamily="34" charset="0"/>
                <a:ea typeface="Calibri" pitchFamily="34" charset="-122"/>
                <a:cs typeface="Calibri" pitchFamily="34" charset="-120"/>
              </a:rPr>
              <a:t>simple / complex</a:t>
            </a:r>
            <a:endParaRPr lang="en-US" sz="1050" dirty="0"/>
          </a:p>
        </p:txBody>
      </p:sp>
      <p:sp>
        <p:nvSpPr>
          <p:cNvPr id="52" name="Text 49"/>
          <p:cNvSpPr txBox="1"/>
          <p:nvPr/>
        </p:nvSpPr>
        <p:spPr>
          <a:xfrm>
            <a:off x="3280867" y="3813048"/>
            <a:ext cx="1783080" cy="256032"/>
          </a:xfrm>
          <a:prstGeom prst="rect">
            <a:avLst/>
          </a:prstGeom>
          <a:noFill/>
          <a:ln/>
        </p:spPr>
        <p:txBody>
          <a:bodyPr wrap="square" lIns="0" tIns="0" rIns="0" bIns="0" rtlCol="0" anchor="t"/>
          <a:lstStyle/>
          <a:p>
            <a:pPr algn="r" indent="0" marL="0">
              <a:buNone/>
            </a:pPr>
            <a:r>
              <a:rPr lang="en-US" sz="1050" b="1" i="1" dirty="0">
                <a:solidFill>
                  <a:schemeClr val="accent2"/>
                </a:solidFill>
                <a:latin typeface="Calibri" pitchFamily="34" charset="0"/>
                <a:ea typeface="Calibri" pitchFamily="34" charset="-122"/>
                <a:cs typeface="Calibri" pitchFamily="34" charset="-120"/>
              </a:rPr>
              <a:t>Send ×N (parallel)</a:t>
            </a:r>
            <a:endParaRPr lang="en-US" sz="1050" dirty="0"/>
          </a:p>
        </p:txBody>
      </p:sp>
      <p:sp>
        <p:nvSpPr>
          <p:cNvPr id="53" name="Text 50"/>
          <p:cNvSpPr txBox="1"/>
          <p:nvPr/>
        </p:nvSpPr>
        <p:spPr>
          <a:xfrm>
            <a:off x="5543093" y="5175504"/>
            <a:ext cx="2194560" cy="256032"/>
          </a:xfrm>
          <a:prstGeom prst="rect">
            <a:avLst/>
          </a:prstGeom>
          <a:noFill/>
          <a:ln/>
        </p:spPr>
        <p:txBody>
          <a:bodyPr wrap="square" lIns="0" tIns="0" rIns="0" bIns="0" rtlCol="0" anchor="t"/>
          <a:lstStyle/>
          <a:p>
            <a:pPr indent="0" marL="0">
              <a:buNone/>
            </a:pPr>
            <a:r>
              <a:rPr lang="en-US" sz="1050" i="1" dirty="0">
                <a:solidFill>
                  <a:schemeClr val="accent1"/>
                </a:solidFill>
                <a:latin typeface="Calibri" pitchFamily="34" charset="0"/>
                <a:ea typeface="Calibri" pitchFamily="34" charset="-122"/>
                <a:cs typeface="Calibri" pitchFamily="34" charset="-120"/>
              </a:rPr>
              <a:t>not enough → next hop</a:t>
            </a:r>
            <a:endParaRPr lang="en-US" sz="1050" dirty="0"/>
          </a:p>
        </p:txBody>
      </p:sp>
      <p:sp>
        <p:nvSpPr>
          <p:cNvPr id="54" name="Text 51"/>
          <p:cNvSpPr txBox="1"/>
          <p:nvPr/>
        </p:nvSpPr>
        <p:spPr>
          <a:xfrm>
            <a:off x="8229600" y="4306824"/>
            <a:ext cx="502920" cy="256032"/>
          </a:xfrm>
          <a:prstGeom prst="rect">
            <a:avLst/>
          </a:prstGeom>
          <a:noFill/>
          <a:ln/>
        </p:spPr>
        <p:txBody>
          <a:bodyPr wrap="square" lIns="0" tIns="0" rIns="0" bIns="0" rtlCol="0" anchor="t"/>
          <a:lstStyle/>
          <a:p>
            <a:pPr indent="0" marL="0">
              <a:buNone/>
            </a:pPr>
            <a:r>
              <a:rPr lang="en-US" sz="1050" i="1" dirty="0">
                <a:solidFill>
                  <a:schemeClr val="accent3"/>
                </a:solidFill>
                <a:latin typeface="Calibri" pitchFamily="34" charset="0"/>
                <a:ea typeface="Calibri" pitchFamily="34" charset="-122"/>
                <a:cs typeface="Calibri" pitchFamily="34" charset="-120"/>
              </a:rPr>
              <a:t>enough</a:t>
            </a:r>
            <a:endParaRPr lang="en-US" sz="1050" dirty="0"/>
          </a:p>
        </p:txBody>
      </p:sp>
      <p:sp>
        <p:nvSpPr>
          <p:cNvPr id="55" name="Text 52"/>
          <p:cNvSpPr txBox="1"/>
          <p:nvPr/>
        </p:nvSpPr>
        <p:spPr>
          <a:xfrm>
            <a:off x="9491472" y="5175504"/>
            <a:ext cx="2194560" cy="256032"/>
          </a:xfrm>
          <a:prstGeom prst="rect">
            <a:avLst/>
          </a:prstGeom>
          <a:noFill/>
          <a:ln/>
        </p:spPr>
        <p:txBody>
          <a:bodyPr wrap="square" lIns="0" tIns="0" rIns="0" bIns="0" rtlCol="0" anchor="t"/>
          <a:lstStyle/>
          <a:p>
            <a:pPr indent="0" marL="0">
              <a:buNone/>
            </a:pPr>
            <a:r>
              <a:rPr lang="en-US" sz="1050" i="1" dirty="0">
                <a:solidFill>
                  <a:schemeClr val="accent1"/>
                </a:solidFill>
                <a:latin typeface="Calibri" pitchFamily="34" charset="0"/>
                <a:ea typeface="Calibri" pitchFamily="34" charset="-122"/>
                <a:cs typeface="Calibri" pitchFamily="34" charset="-120"/>
              </a:rPr>
              <a:t>failed → rewrite once</a:t>
            </a:r>
            <a:endParaRPr lang="en-US" sz="1050" dirty="0"/>
          </a:p>
        </p:txBody>
      </p:sp>
      <p:sp>
        <p:nvSpPr>
          <p:cNvPr id="56" name="Text 53"/>
          <p:cNvSpPr txBox="1"/>
          <p:nvPr/>
        </p:nvSpPr>
        <p:spPr>
          <a:xfrm>
            <a:off x="11411712" y="3429000"/>
            <a:ext cx="457200" cy="256032"/>
          </a:xfrm>
          <a:prstGeom prst="rect">
            <a:avLst/>
          </a:prstGeom>
          <a:noFill/>
          <a:ln/>
        </p:spPr>
        <p:txBody>
          <a:bodyPr wrap="square" lIns="0" tIns="0" rIns="0" bIns="0" rtlCol="0" anchor="t"/>
          <a:lstStyle/>
          <a:p>
            <a:pPr indent="0" marL="0">
              <a:buNone/>
            </a:pPr>
            <a:r>
              <a:rPr lang="en-US" sz="1050" i="1" dirty="0">
                <a:solidFill>
                  <a:schemeClr val="accent3"/>
                </a:solidFill>
                <a:latin typeface="Calibri" pitchFamily="34" charset="0"/>
                <a:ea typeface="Calibri" pitchFamily="34" charset="-122"/>
                <a:cs typeface="Calibri" pitchFamily="34" charset="-120"/>
              </a:rPr>
              <a:t>ok</a:t>
            </a:r>
            <a:endParaRPr lang="en-US" sz="1050" dirty="0"/>
          </a:p>
        </p:txBody>
      </p:sp>
      <p:sp>
        <p:nvSpPr>
          <p:cNvPr id="57" name="Text 54"/>
          <p:cNvSpPr txBox="1"/>
          <p:nvPr/>
        </p:nvSpPr>
        <p:spPr>
          <a:xfrm>
            <a:off x="6971751" y="2386584"/>
            <a:ext cx="1280160" cy="256032"/>
          </a:xfrm>
          <a:prstGeom prst="rect">
            <a:avLst/>
          </a:prstGeom>
          <a:noFill/>
          <a:ln/>
        </p:spPr>
        <p:txBody>
          <a:bodyPr wrap="square" lIns="0" tIns="0" rIns="0" bIns="0" rtlCol="0" anchor="t"/>
          <a:lstStyle/>
          <a:p>
            <a:pPr indent="0" marL="0">
              <a:buNone/>
            </a:pPr>
            <a:r>
              <a:rPr lang="en-US" sz="1050" i="1" dirty="0">
                <a:solidFill>
                  <a:schemeClr val="accent3"/>
                </a:solidFill>
                <a:latin typeface="Calibri" pitchFamily="34" charset="0"/>
                <a:ea typeface="Calibri" pitchFamily="34" charset="-122"/>
                <a:cs typeface="Calibri" pitchFamily="34" charset="-120"/>
              </a:rPr>
              <a:t>user answered</a:t>
            </a:r>
            <a:endParaRPr lang="en-US" sz="1050" dirty="0"/>
          </a:p>
        </p:txBody>
      </p:sp>
      <p:sp>
        <p:nvSpPr>
          <p:cNvPr id="58" name="Shape 55"/>
          <p:cNvSpPr/>
          <p:nvPr/>
        </p:nvSpPr>
        <p:spPr>
          <a:xfrm>
            <a:off x="2578608" y="1188720"/>
            <a:ext cx="1737360" cy="292608"/>
          </a:xfrm>
          <a:prstGeom prst="roundRect">
            <a:avLst>
              <a:gd name="adj" fmla="val 25000"/>
            </a:avLst>
          </a:prstGeom>
          <a:solidFill>
            <a:srgbClr val="F1EBFD"/>
          </a:solidFill>
          <a:ln w="12700">
            <a:solidFill>
              <a:srgbClr val="F1EBFD"/>
            </a:solidFill>
            <a:prstDash val="solid"/>
          </a:ln>
        </p:spPr>
      </p:sp>
      <p:sp>
        <p:nvSpPr>
          <p:cNvPr id="59" name="Text 56"/>
          <p:cNvSpPr txBox="1"/>
          <p:nvPr/>
        </p:nvSpPr>
        <p:spPr>
          <a:xfrm>
            <a:off x="2578608" y="1188720"/>
            <a:ext cx="1737360" cy="292608"/>
          </a:xfrm>
          <a:prstGeom prst="rect">
            <a:avLst/>
          </a:prstGeom>
          <a:noFill/>
          <a:ln/>
        </p:spPr>
        <p:txBody>
          <a:bodyPr wrap="square" lIns="0" tIns="0" rIns="0" bIns="0" rtlCol="0" anchor="ctr"/>
          <a:lstStyle/>
          <a:p>
            <a:pPr algn="ctr" indent="0" marL="0">
              <a:buNone/>
            </a:pPr>
            <a:r>
              <a:rPr lang="en-US" sz="1050" b="1" dirty="0">
                <a:solidFill>
                  <a:srgbClr val="6D28D9"/>
                </a:solidFill>
                <a:latin typeface="Calibri" pitchFamily="34" charset="0"/>
                <a:ea typeface="Calibri" pitchFamily="34" charset="-122"/>
                <a:cs typeface="Calibri" pitchFamily="34" charset="-120"/>
              </a:rPr>
              <a:t>checkpointer + memory</a:t>
            </a:r>
            <a:endParaRPr lang="en-US" sz="1050" dirty="0"/>
          </a:p>
        </p:txBody>
      </p:sp>
      <p:sp>
        <p:nvSpPr>
          <p:cNvPr id="60" name="Shape 57"/>
          <p:cNvSpPr/>
          <p:nvPr/>
        </p:nvSpPr>
        <p:spPr>
          <a:xfrm>
            <a:off x="4517136" y="1188720"/>
            <a:ext cx="1737360" cy="292608"/>
          </a:xfrm>
          <a:prstGeom prst="roundRect">
            <a:avLst>
              <a:gd name="adj" fmla="val 25000"/>
            </a:avLst>
          </a:prstGeom>
          <a:solidFill>
            <a:srgbClr val="E3F3F0"/>
          </a:solidFill>
          <a:ln w="12700">
            <a:solidFill>
              <a:srgbClr val="E3F3F0"/>
            </a:solidFill>
            <a:prstDash val="solid"/>
          </a:ln>
        </p:spPr>
      </p:sp>
      <p:sp>
        <p:nvSpPr>
          <p:cNvPr id="61" name="Text 58"/>
          <p:cNvSpPr txBox="1"/>
          <p:nvPr/>
        </p:nvSpPr>
        <p:spPr>
          <a:xfrm>
            <a:off x="4517136" y="1188720"/>
            <a:ext cx="1737360" cy="292608"/>
          </a:xfrm>
          <a:prstGeom prst="rect">
            <a:avLst/>
          </a:prstGeom>
          <a:noFill/>
          <a:ln/>
        </p:spPr>
        <p:txBody>
          <a:bodyPr wrap="square" lIns="0" tIns="0" rIns="0" bIns="0" rtlCol="0" anchor="ctr"/>
          <a:lstStyle/>
          <a:p>
            <a:pPr algn="ctr" indent="0" marL="0">
              <a:buNone/>
            </a:pPr>
            <a:r>
              <a:rPr lang="en-US" sz="1050" b="1" dirty="0">
                <a:solidFill>
                  <a:srgbClr val="0F766E"/>
                </a:solidFill>
                <a:latin typeface="Calibri" pitchFamily="34" charset="0"/>
                <a:ea typeface="Calibri" pitchFamily="34" charset="-122"/>
                <a:cs typeface="Calibri" pitchFamily="34" charset="-120"/>
              </a:rPr>
              <a:t>conditional edge</a:t>
            </a:r>
            <a:endParaRPr lang="en-US" sz="1050" dirty="0"/>
          </a:p>
        </p:txBody>
      </p:sp>
      <p:sp>
        <p:nvSpPr>
          <p:cNvPr id="62" name="Shape 59"/>
          <p:cNvSpPr/>
          <p:nvPr/>
        </p:nvSpPr>
        <p:spPr>
          <a:xfrm>
            <a:off x="8293608" y="2788920"/>
            <a:ext cx="1737360" cy="292608"/>
          </a:xfrm>
          <a:prstGeom prst="roundRect">
            <a:avLst>
              <a:gd name="adj" fmla="val 25000"/>
            </a:avLst>
          </a:prstGeom>
          <a:solidFill>
            <a:srgbClr val="FDF3E4"/>
          </a:solidFill>
          <a:ln w="12700">
            <a:solidFill>
              <a:srgbClr val="FDF3E4"/>
            </a:solidFill>
            <a:prstDash val="solid"/>
          </a:ln>
        </p:spPr>
      </p:sp>
      <p:sp>
        <p:nvSpPr>
          <p:cNvPr id="63" name="Text 60"/>
          <p:cNvSpPr txBox="1"/>
          <p:nvPr/>
        </p:nvSpPr>
        <p:spPr>
          <a:xfrm>
            <a:off x="8293608" y="2788920"/>
            <a:ext cx="1737360" cy="292608"/>
          </a:xfrm>
          <a:prstGeom prst="rect">
            <a:avLst/>
          </a:prstGeom>
          <a:noFill/>
          <a:ln/>
        </p:spPr>
        <p:txBody>
          <a:bodyPr wrap="square" lIns="0" tIns="0" rIns="0" bIns="0"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interrupt()</a:t>
            </a:r>
            <a:endParaRPr lang="en-US" sz="1050" dirty="0"/>
          </a:p>
        </p:txBody>
      </p:sp>
      <p:sp>
        <p:nvSpPr>
          <p:cNvPr id="64" name="Shape 61"/>
          <p:cNvSpPr/>
          <p:nvPr/>
        </p:nvSpPr>
        <p:spPr>
          <a:xfrm>
            <a:off x="2642616" y="4434840"/>
            <a:ext cx="1737360" cy="292608"/>
          </a:xfrm>
          <a:prstGeom prst="roundRect">
            <a:avLst>
              <a:gd name="adj" fmla="val 25000"/>
            </a:avLst>
          </a:prstGeom>
          <a:solidFill>
            <a:srgbClr val="FDF3E4"/>
          </a:solidFill>
          <a:ln w="12700">
            <a:solidFill>
              <a:srgbClr val="FDF3E4"/>
            </a:solidFill>
            <a:prstDash val="solid"/>
          </a:ln>
        </p:spPr>
      </p:sp>
      <p:sp>
        <p:nvSpPr>
          <p:cNvPr id="65" name="Text 62"/>
          <p:cNvSpPr txBox="1"/>
          <p:nvPr/>
        </p:nvSpPr>
        <p:spPr>
          <a:xfrm>
            <a:off x="2642616" y="4434840"/>
            <a:ext cx="1737360" cy="292608"/>
          </a:xfrm>
          <a:prstGeom prst="rect">
            <a:avLst/>
          </a:prstGeom>
          <a:noFill/>
          <a:ln/>
        </p:spPr>
        <p:txBody>
          <a:bodyPr wrap="square" lIns="0" tIns="0" rIns="0" bIns="0" rtlCol="0" anchor="ctr"/>
          <a:lstStyle/>
          <a:p>
            <a:pPr algn="ctr" indent="0" marL="0">
              <a:buNone/>
            </a:pPr>
            <a:r>
              <a:rPr lang="en-US" sz="1050" b="1" dirty="0">
                <a:solidFill>
                  <a:srgbClr val="B45309"/>
                </a:solidFill>
                <a:latin typeface="Calibri" pitchFamily="34" charset="0"/>
                <a:ea typeface="Calibri" pitchFamily="34" charset="-122"/>
                <a:cs typeface="Calibri" pitchFamily="34" charset="-120"/>
              </a:rPr>
              <a:t>Send + reducer</a:t>
            </a:r>
            <a:endParaRPr lang="en-US" sz="1050" dirty="0"/>
          </a:p>
        </p:txBody>
      </p:sp>
      <p:sp>
        <p:nvSpPr>
          <p:cNvPr id="66" name="Shape 63"/>
          <p:cNvSpPr/>
          <p:nvPr/>
        </p:nvSpPr>
        <p:spPr>
          <a:xfrm>
            <a:off x="6592824" y="3547872"/>
            <a:ext cx="1737360" cy="292608"/>
          </a:xfrm>
          <a:prstGeom prst="roundRect">
            <a:avLst>
              <a:gd name="adj" fmla="val 25000"/>
            </a:avLst>
          </a:prstGeom>
          <a:solidFill>
            <a:srgbClr val="E3F3F0"/>
          </a:solidFill>
          <a:ln w="12700">
            <a:solidFill>
              <a:srgbClr val="E3F3F0"/>
            </a:solidFill>
            <a:prstDash val="solid"/>
          </a:ln>
        </p:spPr>
      </p:sp>
      <p:sp>
        <p:nvSpPr>
          <p:cNvPr id="67" name="Text 64"/>
          <p:cNvSpPr txBox="1"/>
          <p:nvPr/>
        </p:nvSpPr>
        <p:spPr>
          <a:xfrm>
            <a:off x="6592824" y="3547872"/>
            <a:ext cx="1737360" cy="292608"/>
          </a:xfrm>
          <a:prstGeom prst="rect">
            <a:avLst/>
          </a:prstGeom>
          <a:noFill/>
          <a:ln/>
        </p:spPr>
        <p:txBody>
          <a:bodyPr wrap="square" lIns="0" tIns="0" rIns="0" bIns="0" rtlCol="0" anchor="ctr"/>
          <a:lstStyle/>
          <a:p>
            <a:pPr algn="ctr" indent="0" marL="0">
              <a:buNone/>
            </a:pPr>
            <a:r>
              <a:rPr lang="en-US" sz="1050" b="1" dirty="0">
                <a:solidFill>
                  <a:srgbClr val="0F766E"/>
                </a:solidFill>
                <a:latin typeface="Calibri" pitchFamily="34" charset="0"/>
                <a:ea typeface="Calibri" pitchFamily="34" charset="-122"/>
                <a:cs typeface="Calibri" pitchFamily="34" charset="-120"/>
              </a:rPr>
              <a:t>cycle (bounded)</a:t>
            </a:r>
            <a:endParaRPr lang="en-US" sz="1050" dirty="0"/>
          </a:p>
        </p:txBody>
      </p:sp>
      <p:sp>
        <p:nvSpPr>
          <p:cNvPr id="68" name="Shape 65"/>
          <p:cNvSpPr/>
          <p:nvPr/>
        </p:nvSpPr>
        <p:spPr>
          <a:xfrm>
            <a:off x="8531352" y="3547872"/>
            <a:ext cx="1737360" cy="292608"/>
          </a:xfrm>
          <a:prstGeom prst="roundRect">
            <a:avLst>
              <a:gd name="adj" fmla="val 25000"/>
            </a:avLst>
          </a:prstGeom>
          <a:solidFill>
            <a:srgbClr val="F1F5F7"/>
          </a:solidFill>
          <a:ln w="12700">
            <a:solidFill>
              <a:srgbClr val="F1F5F7"/>
            </a:solidFill>
            <a:prstDash val="solid"/>
          </a:ln>
        </p:spPr>
      </p:sp>
      <p:sp>
        <p:nvSpPr>
          <p:cNvPr id="69" name="Text 66"/>
          <p:cNvSpPr txBox="1"/>
          <p:nvPr/>
        </p:nvSpPr>
        <p:spPr>
          <a:xfrm>
            <a:off x="8531352" y="3547872"/>
            <a:ext cx="1737360" cy="292608"/>
          </a:xfrm>
          <a:prstGeom prst="rect">
            <a:avLst/>
          </a:prstGeom>
          <a:noFill/>
          <a:ln/>
        </p:spPr>
        <p:txBody>
          <a:bodyPr wrap="square" lIns="0" tIns="0" rIns="0" bIns="0" rtlCol="0" anchor="ctr"/>
          <a:lstStyle/>
          <a:p>
            <a:pPr algn="ctr" indent="0" marL="0">
              <a:buNone/>
            </a:pPr>
            <a:r>
              <a:rPr lang="en-US" sz="1050" b="1" dirty="0">
                <a:solidFill>
                  <a:srgbClr val="64748B"/>
                </a:solidFill>
                <a:latin typeface="Calibri" pitchFamily="34" charset="0"/>
                <a:ea typeface="Calibri" pitchFamily="34" charset="-122"/>
                <a:cs typeface="Calibri" pitchFamily="34" charset="-120"/>
              </a:rPr>
              <a:t>tool: calculator</a:t>
            </a:r>
            <a:endParaRPr lang="en-US" sz="1050" dirty="0"/>
          </a:p>
        </p:txBody>
      </p:sp>
      <p:sp>
        <p:nvSpPr>
          <p:cNvPr id="70" name="Text 67"/>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250" i="1" dirty="0">
                <a:solidFill>
                  <a:schemeClr val="accent3"/>
                </a:solidFill>
                <a:latin typeface="Calibri" pitchFamily="34" charset="0"/>
                <a:ea typeface="Calibri" pitchFamily="34" charset="-122"/>
                <a:cs typeface="Calibri" pitchFamily="34" charset="-120"/>
              </a:rPr>
              <a:t>solid = always · dashed = decided at runtime · stacked = parallel copies</a:t>
            </a:r>
            <a:endParaRPr lang="en-US" sz="125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Feature 8 · More LangGraph you will meet (not needed today)</a:t>
            </a:r>
            <a:endParaRPr lang="en-US" sz="3000" dirty="0"/>
          </a:p>
        </p:txBody>
      </p:sp>
      <p:sp>
        <p:nvSpPr>
          <p:cNvPr id="4" name="Shape 1"/>
          <p:cNvSpPr/>
          <p:nvPr/>
        </p:nvSpPr>
        <p:spPr>
          <a:xfrm>
            <a:off x="548640" y="1417320"/>
            <a:ext cx="5440680" cy="1143000"/>
          </a:xfrm>
          <a:prstGeom prst="roundRect">
            <a:avLst>
              <a:gd name="adj" fmla="val 9600"/>
            </a:avLst>
          </a:prstGeom>
          <a:solidFill>
            <a:schemeClr val="bg2"/>
          </a:solidFill>
          <a:ln w="12700">
            <a:solidFill>
              <a:schemeClr val="bg2"/>
            </a:solidFill>
            <a:prstDash val="solid"/>
          </a:ln>
        </p:spPr>
      </p:sp>
      <p:sp>
        <p:nvSpPr>
          <p:cNvPr id="5" name="Text 2"/>
          <p:cNvSpPr txBox="1"/>
          <p:nvPr/>
        </p:nvSpPr>
        <p:spPr>
          <a:xfrm>
            <a:off x="822960" y="1554480"/>
            <a:ext cx="4937760" cy="41148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ToolNode + bind_tools</a:t>
            </a:r>
            <a:endParaRPr lang="en-US" sz="1600" dirty="0"/>
          </a:p>
        </p:txBody>
      </p:sp>
      <p:sp>
        <p:nvSpPr>
          <p:cNvPr id="6" name="Text 3"/>
          <p:cNvSpPr txBox="1"/>
          <p:nvPr/>
        </p:nvSpPr>
        <p:spPr>
          <a:xfrm>
            <a:off x="822960" y="1984248"/>
            <a:ext cx="4937760" cy="5029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native function calling: the model emits tool calls, ToolNode runs them</a:t>
            </a:r>
            <a:endParaRPr lang="en-US" sz="1350" dirty="0"/>
          </a:p>
        </p:txBody>
      </p:sp>
      <p:sp>
        <p:nvSpPr>
          <p:cNvPr id="7" name="Shape 4"/>
          <p:cNvSpPr/>
          <p:nvPr/>
        </p:nvSpPr>
        <p:spPr>
          <a:xfrm>
            <a:off x="6172200" y="1417320"/>
            <a:ext cx="544068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6446520" y="1554480"/>
            <a:ext cx="4937760" cy="41148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create_react_agent</a:t>
            </a:r>
            <a:endParaRPr lang="en-US" sz="1600" dirty="0"/>
          </a:p>
        </p:txBody>
      </p:sp>
      <p:sp>
        <p:nvSpPr>
          <p:cNvPr id="9" name="Text 6"/>
          <p:cNvSpPr txBox="1"/>
          <p:nvPr/>
        </p:nvSpPr>
        <p:spPr>
          <a:xfrm>
            <a:off x="6446520" y="1984248"/>
            <a:ext cx="4937760" cy="5029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a prebuilt ReAct agent loop in one line</a:t>
            </a:r>
            <a:endParaRPr lang="en-US" sz="1350" dirty="0"/>
          </a:p>
        </p:txBody>
      </p:sp>
      <p:sp>
        <p:nvSpPr>
          <p:cNvPr id="10" name="Shape 7"/>
          <p:cNvSpPr/>
          <p:nvPr/>
        </p:nvSpPr>
        <p:spPr>
          <a:xfrm>
            <a:off x="548640" y="2743200"/>
            <a:ext cx="5440680" cy="1143000"/>
          </a:xfrm>
          <a:prstGeom prst="roundRect">
            <a:avLst>
              <a:gd name="adj" fmla="val 9600"/>
            </a:avLst>
          </a:prstGeom>
          <a:solidFill>
            <a:schemeClr val="bg2"/>
          </a:solidFill>
          <a:ln w="12700">
            <a:solidFill>
              <a:schemeClr val="bg2"/>
            </a:solidFill>
            <a:prstDash val="solid"/>
          </a:ln>
        </p:spPr>
      </p:sp>
      <p:sp>
        <p:nvSpPr>
          <p:cNvPr id="11" name="Text 8"/>
          <p:cNvSpPr txBox="1"/>
          <p:nvPr/>
        </p:nvSpPr>
        <p:spPr>
          <a:xfrm>
            <a:off x="822960" y="2880360"/>
            <a:ext cx="4937760" cy="41148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Subgraphs</a:t>
            </a:r>
            <a:endParaRPr lang="en-US" sz="1600" dirty="0"/>
          </a:p>
        </p:txBody>
      </p:sp>
      <p:sp>
        <p:nvSpPr>
          <p:cNvPr id="12" name="Text 9"/>
          <p:cNvSpPr txBox="1"/>
          <p:nvPr/>
        </p:nvSpPr>
        <p:spPr>
          <a:xfrm>
            <a:off x="822960" y="3310128"/>
            <a:ext cx="4937760" cy="5029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a compiled graph used as a node of a bigger graph</a:t>
            </a:r>
            <a:endParaRPr lang="en-US" sz="1350" dirty="0"/>
          </a:p>
        </p:txBody>
      </p:sp>
      <p:sp>
        <p:nvSpPr>
          <p:cNvPr id="13" name="Shape 10"/>
          <p:cNvSpPr/>
          <p:nvPr/>
        </p:nvSpPr>
        <p:spPr>
          <a:xfrm>
            <a:off x="6172200" y="2743200"/>
            <a:ext cx="5440680" cy="1143000"/>
          </a:xfrm>
          <a:prstGeom prst="roundRect">
            <a:avLst>
              <a:gd name="adj" fmla="val 9600"/>
            </a:avLst>
          </a:prstGeom>
          <a:solidFill>
            <a:schemeClr val="bg2"/>
          </a:solidFill>
          <a:ln w="12700">
            <a:solidFill>
              <a:schemeClr val="bg2"/>
            </a:solidFill>
            <a:prstDash val="solid"/>
          </a:ln>
        </p:spPr>
      </p:sp>
      <p:sp>
        <p:nvSpPr>
          <p:cNvPr id="14" name="Text 11"/>
          <p:cNvSpPr txBox="1"/>
          <p:nvPr/>
        </p:nvSpPr>
        <p:spPr>
          <a:xfrm>
            <a:off x="6446520" y="2880360"/>
            <a:ext cx="4937760" cy="41148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Command(goto=…)</a:t>
            </a:r>
            <a:endParaRPr lang="en-US" sz="1600" dirty="0"/>
          </a:p>
        </p:txBody>
      </p:sp>
      <p:sp>
        <p:nvSpPr>
          <p:cNvPr id="15" name="Text 12"/>
          <p:cNvSpPr txBox="1"/>
          <p:nvPr/>
        </p:nvSpPr>
        <p:spPr>
          <a:xfrm>
            <a:off x="6446520" y="3310128"/>
            <a:ext cx="4937760" cy="5029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a node updates state AND picks the next node</a:t>
            </a:r>
            <a:endParaRPr lang="en-US" sz="1350" dirty="0"/>
          </a:p>
        </p:txBody>
      </p:sp>
      <p:sp>
        <p:nvSpPr>
          <p:cNvPr id="16" name="Shape 13"/>
          <p:cNvSpPr/>
          <p:nvPr/>
        </p:nvSpPr>
        <p:spPr>
          <a:xfrm>
            <a:off x="548640" y="4069080"/>
            <a:ext cx="5440680" cy="1143000"/>
          </a:xfrm>
          <a:prstGeom prst="roundRect">
            <a:avLst>
              <a:gd name="adj" fmla="val 9600"/>
            </a:avLst>
          </a:prstGeom>
          <a:solidFill>
            <a:schemeClr val="bg2"/>
          </a:solidFill>
          <a:ln w="12700">
            <a:solidFill>
              <a:schemeClr val="bg2"/>
            </a:solidFill>
            <a:prstDash val="solid"/>
          </a:ln>
        </p:spPr>
      </p:sp>
      <p:sp>
        <p:nvSpPr>
          <p:cNvPr id="17" name="Text 14"/>
          <p:cNvSpPr txBox="1"/>
          <p:nvPr/>
        </p:nvSpPr>
        <p:spPr>
          <a:xfrm>
            <a:off x="822960" y="4206240"/>
            <a:ext cx="4937760" cy="41148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SqliteSaver / PostgresSaver</a:t>
            </a:r>
            <a:endParaRPr lang="en-US" sz="1600" dirty="0"/>
          </a:p>
        </p:txBody>
      </p:sp>
      <p:sp>
        <p:nvSpPr>
          <p:cNvPr id="18" name="Text 15"/>
          <p:cNvSpPr txBox="1"/>
          <p:nvPr/>
        </p:nvSpPr>
        <p:spPr>
          <a:xfrm>
            <a:off x="822960" y="4636008"/>
            <a:ext cx="4937760" cy="5029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durable memory that survives restarts</a:t>
            </a:r>
            <a:endParaRPr lang="en-US" sz="1350" dirty="0"/>
          </a:p>
        </p:txBody>
      </p:sp>
      <p:sp>
        <p:nvSpPr>
          <p:cNvPr id="19" name="Shape 16"/>
          <p:cNvSpPr/>
          <p:nvPr/>
        </p:nvSpPr>
        <p:spPr>
          <a:xfrm>
            <a:off x="6172200" y="4069080"/>
            <a:ext cx="5440680" cy="1143000"/>
          </a:xfrm>
          <a:prstGeom prst="roundRect">
            <a:avLst>
              <a:gd name="adj" fmla="val 9600"/>
            </a:avLst>
          </a:prstGeom>
          <a:solidFill>
            <a:schemeClr val="bg2"/>
          </a:solidFill>
          <a:ln w="12700">
            <a:solidFill>
              <a:schemeClr val="bg2"/>
            </a:solidFill>
            <a:prstDash val="solid"/>
          </a:ln>
        </p:spPr>
      </p:sp>
      <p:sp>
        <p:nvSpPr>
          <p:cNvPr id="20" name="Text 17"/>
          <p:cNvSpPr txBox="1"/>
          <p:nvPr/>
        </p:nvSpPr>
        <p:spPr>
          <a:xfrm>
            <a:off x="6446520" y="4206240"/>
            <a:ext cx="4937760" cy="41148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LangSmith tracing</a:t>
            </a:r>
            <a:endParaRPr lang="en-US" sz="1600" dirty="0"/>
          </a:p>
        </p:txBody>
      </p:sp>
      <p:sp>
        <p:nvSpPr>
          <p:cNvPr id="21" name="Text 18"/>
          <p:cNvSpPr txBox="1"/>
          <p:nvPr/>
        </p:nvSpPr>
        <p:spPr>
          <a:xfrm>
            <a:off x="6446520" y="4636008"/>
            <a:ext cx="4937760" cy="5029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every node, prompt and token, recorded</a:t>
            </a:r>
            <a:endParaRPr lang="en-US" sz="1350" dirty="0"/>
          </a:p>
        </p:txBody>
      </p:sp>
      <p:sp>
        <p:nvSpPr>
          <p:cNvPr id="22" name="Text 19"/>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400" i="1" dirty="0">
                <a:solidFill>
                  <a:schemeClr val="accent3"/>
                </a:solidFill>
                <a:latin typeface="Calibri" pitchFamily="34" charset="0"/>
                <a:ea typeface="Calibri" pitchFamily="34" charset="-122"/>
                <a:cs typeface="Calibri" pitchFamily="34" charset="-120"/>
              </a:rPr>
              <a:t>Why JSON decisions instead of native tool calling here: works with any model behind any gateway, and every decision is a testable node.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you are building, in one slide</a:t>
            </a:r>
            <a:endParaRPr lang="en-US" sz="3000" dirty="0"/>
          </a:p>
        </p:txBody>
      </p:sp>
      <p:sp>
        <p:nvSpPr>
          <p:cNvPr id="4" name="Shape 1"/>
          <p:cNvSpPr/>
          <p:nvPr/>
        </p:nvSpPr>
        <p:spPr>
          <a:xfrm>
            <a:off x="548640" y="1371600"/>
            <a:ext cx="11064240" cy="566928"/>
          </a:xfrm>
          <a:prstGeom prst="roundRect">
            <a:avLst>
              <a:gd name="adj" fmla="val 19355"/>
            </a:avLst>
          </a:prstGeom>
          <a:solidFill>
            <a:schemeClr val="bg2"/>
          </a:solidFill>
          <a:ln w="12700">
            <a:solidFill>
              <a:srgbClr val="E2E7EE"/>
            </a:solidFill>
            <a:prstDash val="solid"/>
          </a:ln>
        </p:spPr>
      </p:sp>
      <p:sp>
        <p:nvSpPr>
          <p:cNvPr id="5" name="Shape 2"/>
          <p:cNvSpPr/>
          <p:nvPr/>
        </p:nvSpPr>
        <p:spPr>
          <a:xfrm>
            <a:off x="685800" y="1453896"/>
            <a:ext cx="402336" cy="402336"/>
          </a:xfrm>
          <a:prstGeom prst="ellipse">
            <a:avLst/>
          </a:prstGeom>
          <a:solidFill>
            <a:schemeClr val="accent1"/>
          </a:solidFill>
          <a:ln w="12700">
            <a:solidFill>
              <a:schemeClr val="accent1"/>
            </a:solidFill>
            <a:prstDash val="solid"/>
          </a:ln>
        </p:spPr>
      </p:sp>
      <p:sp>
        <p:nvSpPr>
          <p:cNvPr id="6" name="Text 3"/>
          <p:cNvSpPr txBox="1"/>
          <p:nvPr/>
        </p:nvSpPr>
        <p:spPr>
          <a:xfrm>
            <a:off x="685800" y="145389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280160" y="1371600"/>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Tools</a:t>
            </a:r>
            <a:endParaRPr lang="en-US" sz="1500" dirty="0"/>
          </a:p>
        </p:txBody>
      </p:sp>
      <p:sp>
        <p:nvSpPr>
          <p:cNvPr id="8" name="Text 5"/>
          <p:cNvSpPr txBox="1"/>
          <p:nvPr/>
        </p:nvSpPr>
        <p:spPr>
          <a:xfrm>
            <a:off x="3474720" y="1371600"/>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safe calculator · hybrid search reusing Lab 1 · entity graph</a:t>
            </a:r>
            <a:endParaRPr lang="en-US" sz="1400" dirty="0"/>
          </a:p>
        </p:txBody>
      </p:sp>
      <p:sp>
        <p:nvSpPr>
          <p:cNvPr id="9" name="Text 6"/>
          <p:cNvSpPr txBox="1"/>
          <p:nvPr/>
        </p:nvSpPr>
        <p:spPr>
          <a:xfrm>
            <a:off x="9784080" y="1371600"/>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1–2</a:t>
            </a:r>
            <a:endParaRPr lang="en-US" sz="1300" dirty="0"/>
          </a:p>
        </p:txBody>
      </p:sp>
      <p:sp>
        <p:nvSpPr>
          <p:cNvPr id="10" name="Shape 7"/>
          <p:cNvSpPr/>
          <p:nvPr/>
        </p:nvSpPr>
        <p:spPr>
          <a:xfrm>
            <a:off x="548640" y="2029968"/>
            <a:ext cx="11064240" cy="566928"/>
          </a:xfrm>
          <a:prstGeom prst="roundRect">
            <a:avLst>
              <a:gd name="adj" fmla="val 19355"/>
            </a:avLst>
          </a:prstGeom>
          <a:solidFill>
            <a:schemeClr val="bg1"/>
          </a:solidFill>
          <a:ln w="12700">
            <a:solidFill>
              <a:srgbClr val="E2E7EE"/>
            </a:solidFill>
            <a:prstDash val="solid"/>
          </a:ln>
        </p:spPr>
      </p:sp>
      <p:sp>
        <p:nvSpPr>
          <p:cNvPr id="11" name="Shape 8"/>
          <p:cNvSpPr/>
          <p:nvPr/>
        </p:nvSpPr>
        <p:spPr>
          <a:xfrm>
            <a:off x="685800" y="2112264"/>
            <a:ext cx="402336" cy="402336"/>
          </a:xfrm>
          <a:prstGeom prst="ellipse">
            <a:avLst/>
          </a:prstGeom>
          <a:solidFill>
            <a:schemeClr val="accent1"/>
          </a:solidFill>
          <a:ln w="12700">
            <a:solidFill>
              <a:schemeClr val="accent1"/>
            </a:solidFill>
            <a:prstDash val="solid"/>
          </a:ln>
        </p:spPr>
      </p:sp>
      <p:sp>
        <p:nvSpPr>
          <p:cNvPr id="12" name="Text 9"/>
          <p:cNvSpPr txBox="1"/>
          <p:nvPr/>
        </p:nvSpPr>
        <p:spPr>
          <a:xfrm>
            <a:off x="685800" y="211226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80160" y="2029968"/>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Wiring</a:t>
            </a:r>
            <a:endParaRPr lang="en-US" sz="1500" dirty="0"/>
          </a:p>
        </p:txBody>
      </p:sp>
      <p:sp>
        <p:nvSpPr>
          <p:cNvPr id="14" name="Text 11"/>
          <p:cNvSpPr txBox="1"/>
          <p:nvPr/>
        </p:nvSpPr>
        <p:spPr>
          <a:xfrm>
            <a:off x="3474720" y="2029968"/>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StateGraph, 11 nodes, conditional edges, checkpointer</a:t>
            </a:r>
            <a:endParaRPr lang="en-US" sz="1400" dirty="0"/>
          </a:p>
        </p:txBody>
      </p:sp>
      <p:sp>
        <p:nvSpPr>
          <p:cNvPr id="15" name="Text 12"/>
          <p:cNvSpPr txBox="1"/>
          <p:nvPr/>
        </p:nvSpPr>
        <p:spPr>
          <a:xfrm>
            <a:off x="9784080" y="2029968"/>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12</a:t>
            </a:r>
            <a:endParaRPr lang="en-US" sz="1300" dirty="0"/>
          </a:p>
        </p:txBody>
      </p:sp>
      <p:sp>
        <p:nvSpPr>
          <p:cNvPr id="16" name="Shape 13"/>
          <p:cNvSpPr/>
          <p:nvPr/>
        </p:nvSpPr>
        <p:spPr>
          <a:xfrm>
            <a:off x="548640" y="2688336"/>
            <a:ext cx="11064240" cy="566928"/>
          </a:xfrm>
          <a:prstGeom prst="roundRect">
            <a:avLst>
              <a:gd name="adj" fmla="val 19355"/>
            </a:avLst>
          </a:prstGeom>
          <a:solidFill>
            <a:schemeClr val="bg2"/>
          </a:solidFill>
          <a:ln w="12700">
            <a:solidFill>
              <a:srgbClr val="E2E7EE"/>
            </a:solidFill>
            <a:prstDash val="solid"/>
          </a:ln>
        </p:spPr>
      </p:sp>
      <p:sp>
        <p:nvSpPr>
          <p:cNvPr id="17" name="Shape 14"/>
          <p:cNvSpPr/>
          <p:nvPr/>
        </p:nvSpPr>
        <p:spPr>
          <a:xfrm>
            <a:off x="685800" y="2770632"/>
            <a:ext cx="402336" cy="402336"/>
          </a:xfrm>
          <a:prstGeom prst="ellipse">
            <a:avLst/>
          </a:prstGeom>
          <a:solidFill>
            <a:schemeClr val="accent1"/>
          </a:solidFill>
          <a:ln w="12700">
            <a:solidFill>
              <a:schemeClr val="accent1"/>
            </a:solidFill>
            <a:prstDash val="solid"/>
          </a:ln>
        </p:spPr>
      </p:sp>
      <p:sp>
        <p:nvSpPr>
          <p:cNvPr id="18" name="Text 15"/>
          <p:cNvSpPr txBox="1"/>
          <p:nvPr/>
        </p:nvSpPr>
        <p:spPr>
          <a:xfrm>
            <a:off x="685800" y="277063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280160" y="2688336"/>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Decide</a:t>
            </a:r>
            <a:endParaRPr lang="en-US" sz="1500" dirty="0"/>
          </a:p>
        </p:txBody>
      </p:sp>
      <p:sp>
        <p:nvSpPr>
          <p:cNvPr id="20" name="Text 17"/>
          <p:cNvSpPr txBox="1"/>
          <p:nvPr/>
        </p:nvSpPr>
        <p:spPr>
          <a:xfrm>
            <a:off x="3474720" y="2688336"/>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route (direct / clarify / simple / complex)</a:t>
            </a:r>
            <a:endParaRPr lang="en-US" sz="1400" dirty="0"/>
          </a:p>
        </p:txBody>
      </p:sp>
      <p:sp>
        <p:nvSpPr>
          <p:cNvPr id="21" name="Text 18"/>
          <p:cNvSpPr txBox="1"/>
          <p:nvPr/>
        </p:nvSpPr>
        <p:spPr>
          <a:xfrm>
            <a:off x="9784080" y="2688336"/>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3–4</a:t>
            </a:r>
            <a:endParaRPr lang="en-US" sz="1300" dirty="0"/>
          </a:p>
        </p:txBody>
      </p:sp>
      <p:sp>
        <p:nvSpPr>
          <p:cNvPr id="22" name="Shape 19"/>
          <p:cNvSpPr/>
          <p:nvPr/>
        </p:nvSpPr>
        <p:spPr>
          <a:xfrm>
            <a:off x="548640" y="3346704"/>
            <a:ext cx="11064240" cy="566928"/>
          </a:xfrm>
          <a:prstGeom prst="roundRect">
            <a:avLst>
              <a:gd name="adj" fmla="val 19355"/>
            </a:avLst>
          </a:prstGeom>
          <a:solidFill>
            <a:schemeClr val="bg1"/>
          </a:solidFill>
          <a:ln w="12700">
            <a:solidFill>
              <a:srgbClr val="E2E7EE"/>
            </a:solidFill>
            <a:prstDash val="solid"/>
          </a:ln>
        </p:spPr>
      </p:sp>
      <p:sp>
        <p:nvSpPr>
          <p:cNvPr id="23" name="Shape 20"/>
          <p:cNvSpPr/>
          <p:nvPr/>
        </p:nvSpPr>
        <p:spPr>
          <a:xfrm>
            <a:off x="685800" y="3429000"/>
            <a:ext cx="402336" cy="402336"/>
          </a:xfrm>
          <a:prstGeom prst="ellipse">
            <a:avLst/>
          </a:prstGeom>
          <a:solidFill>
            <a:schemeClr val="accent1"/>
          </a:solidFill>
          <a:ln w="12700">
            <a:solidFill>
              <a:schemeClr val="accent1"/>
            </a:solidFill>
            <a:prstDash val="solid"/>
          </a:ln>
        </p:spPr>
      </p:sp>
      <p:sp>
        <p:nvSpPr>
          <p:cNvPr id="24" name="Text 21"/>
          <p:cNvSpPr txBox="1"/>
          <p:nvPr/>
        </p:nvSpPr>
        <p:spPr>
          <a:xfrm>
            <a:off x="685800" y="342900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25" name="Text 22"/>
          <p:cNvSpPr txBox="1"/>
          <p:nvPr/>
        </p:nvSpPr>
        <p:spPr>
          <a:xfrm>
            <a:off x="1280160" y="3346704"/>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Plan &amp; fan out</a:t>
            </a:r>
            <a:endParaRPr lang="en-US" sz="1500" dirty="0"/>
          </a:p>
        </p:txBody>
      </p:sp>
      <p:sp>
        <p:nvSpPr>
          <p:cNvPr id="26" name="Text 23"/>
          <p:cNvSpPr txBox="1"/>
          <p:nvPr/>
        </p:nvSpPr>
        <p:spPr>
          <a:xfrm>
            <a:off x="3474720" y="3346704"/>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sub-questions, tool choice, Send in parallel</a:t>
            </a:r>
            <a:endParaRPr lang="en-US" sz="1400" dirty="0"/>
          </a:p>
        </p:txBody>
      </p:sp>
      <p:sp>
        <p:nvSpPr>
          <p:cNvPr id="27" name="Text 24"/>
          <p:cNvSpPr txBox="1"/>
          <p:nvPr/>
        </p:nvSpPr>
        <p:spPr>
          <a:xfrm>
            <a:off x="9784080" y="3346704"/>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5–7</a:t>
            </a:r>
            <a:endParaRPr lang="en-US" sz="1300" dirty="0"/>
          </a:p>
        </p:txBody>
      </p:sp>
      <p:sp>
        <p:nvSpPr>
          <p:cNvPr id="28" name="Shape 25"/>
          <p:cNvSpPr/>
          <p:nvPr/>
        </p:nvSpPr>
        <p:spPr>
          <a:xfrm>
            <a:off x="548640" y="4005072"/>
            <a:ext cx="11064240" cy="566928"/>
          </a:xfrm>
          <a:prstGeom prst="roundRect">
            <a:avLst>
              <a:gd name="adj" fmla="val 19355"/>
            </a:avLst>
          </a:prstGeom>
          <a:solidFill>
            <a:schemeClr val="bg2"/>
          </a:solidFill>
          <a:ln w="12700">
            <a:solidFill>
              <a:srgbClr val="E2E7EE"/>
            </a:solidFill>
            <a:prstDash val="solid"/>
          </a:ln>
        </p:spPr>
      </p:sp>
      <p:sp>
        <p:nvSpPr>
          <p:cNvPr id="29" name="Shape 26"/>
          <p:cNvSpPr/>
          <p:nvPr/>
        </p:nvSpPr>
        <p:spPr>
          <a:xfrm>
            <a:off x="685800" y="4087368"/>
            <a:ext cx="402336" cy="402336"/>
          </a:xfrm>
          <a:prstGeom prst="ellipse">
            <a:avLst/>
          </a:prstGeom>
          <a:solidFill>
            <a:schemeClr val="accent1"/>
          </a:solidFill>
          <a:ln w="12700">
            <a:solidFill>
              <a:schemeClr val="accent1"/>
            </a:solidFill>
            <a:prstDash val="solid"/>
          </a:ln>
        </p:spPr>
      </p:sp>
      <p:sp>
        <p:nvSpPr>
          <p:cNvPr id="30" name="Text 27"/>
          <p:cNvSpPr txBox="1"/>
          <p:nvPr/>
        </p:nvSpPr>
        <p:spPr>
          <a:xfrm>
            <a:off x="685800" y="408736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31" name="Text 28"/>
          <p:cNvSpPr txBox="1"/>
          <p:nvPr/>
        </p:nvSpPr>
        <p:spPr>
          <a:xfrm>
            <a:off x="1280160" y="4005072"/>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Correct &amp; loop</a:t>
            </a:r>
            <a:endParaRPr lang="en-US" sz="1500" dirty="0"/>
          </a:p>
        </p:txBody>
      </p:sp>
      <p:sp>
        <p:nvSpPr>
          <p:cNvPr id="32" name="Text 29"/>
          <p:cNvSpPr txBox="1"/>
          <p:nvPr/>
        </p:nvSpPr>
        <p:spPr>
          <a:xfrm>
            <a:off x="3474720" y="4005072"/>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grade chunks, follow-up hop, bounded</a:t>
            </a:r>
            <a:endParaRPr lang="en-US" sz="1400" dirty="0"/>
          </a:p>
        </p:txBody>
      </p:sp>
      <p:sp>
        <p:nvSpPr>
          <p:cNvPr id="33" name="Text 30"/>
          <p:cNvSpPr txBox="1"/>
          <p:nvPr/>
        </p:nvSpPr>
        <p:spPr>
          <a:xfrm>
            <a:off x="9784080" y="4005072"/>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8</a:t>
            </a:r>
            <a:endParaRPr lang="en-US" sz="1300" dirty="0"/>
          </a:p>
        </p:txBody>
      </p:sp>
      <p:sp>
        <p:nvSpPr>
          <p:cNvPr id="34" name="Shape 31"/>
          <p:cNvSpPr/>
          <p:nvPr/>
        </p:nvSpPr>
        <p:spPr>
          <a:xfrm>
            <a:off x="548640" y="4663440"/>
            <a:ext cx="11064240" cy="566928"/>
          </a:xfrm>
          <a:prstGeom prst="roundRect">
            <a:avLst>
              <a:gd name="adj" fmla="val 19355"/>
            </a:avLst>
          </a:prstGeom>
          <a:solidFill>
            <a:schemeClr val="bg1"/>
          </a:solidFill>
          <a:ln w="12700">
            <a:solidFill>
              <a:srgbClr val="E2E7EE"/>
            </a:solidFill>
            <a:prstDash val="solid"/>
          </a:ln>
        </p:spPr>
      </p:sp>
      <p:sp>
        <p:nvSpPr>
          <p:cNvPr id="35" name="Shape 32"/>
          <p:cNvSpPr/>
          <p:nvPr/>
        </p:nvSpPr>
        <p:spPr>
          <a:xfrm>
            <a:off x="685800" y="4745736"/>
            <a:ext cx="402336" cy="402336"/>
          </a:xfrm>
          <a:prstGeom prst="ellipse">
            <a:avLst/>
          </a:prstGeom>
          <a:solidFill>
            <a:schemeClr val="accent1"/>
          </a:solidFill>
          <a:ln w="12700">
            <a:solidFill>
              <a:schemeClr val="accent1"/>
            </a:solidFill>
            <a:prstDash val="solid"/>
          </a:ln>
        </p:spPr>
      </p:sp>
      <p:sp>
        <p:nvSpPr>
          <p:cNvPr id="36" name="Text 33"/>
          <p:cNvSpPr txBox="1"/>
          <p:nvPr/>
        </p:nvSpPr>
        <p:spPr>
          <a:xfrm>
            <a:off x="685800" y="474573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6</a:t>
            </a:r>
            <a:endParaRPr lang="en-US" sz="1300" dirty="0"/>
          </a:p>
        </p:txBody>
      </p:sp>
      <p:sp>
        <p:nvSpPr>
          <p:cNvPr id="37" name="Text 34"/>
          <p:cNvSpPr txBox="1"/>
          <p:nvPr/>
        </p:nvSpPr>
        <p:spPr>
          <a:xfrm>
            <a:off x="1280160" y="4663440"/>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Answer &amp; verify</a:t>
            </a:r>
            <a:endParaRPr lang="en-US" sz="1500" dirty="0"/>
          </a:p>
        </p:txBody>
      </p:sp>
      <p:sp>
        <p:nvSpPr>
          <p:cNvPr id="38" name="Text 35"/>
          <p:cNvSpPr txBox="1"/>
          <p:nvPr/>
        </p:nvSpPr>
        <p:spPr>
          <a:xfrm>
            <a:off x="3474720" y="4663440"/>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grounded answer with calculator, self-check, one rewrite</a:t>
            </a:r>
            <a:endParaRPr lang="en-US" sz="1400" dirty="0"/>
          </a:p>
        </p:txBody>
      </p:sp>
      <p:sp>
        <p:nvSpPr>
          <p:cNvPr id="39" name="Text 36"/>
          <p:cNvSpPr txBox="1"/>
          <p:nvPr/>
        </p:nvSpPr>
        <p:spPr>
          <a:xfrm>
            <a:off x="9784080" y="4663440"/>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9–10</a:t>
            </a:r>
            <a:endParaRPr lang="en-US" sz="1300" dirty="0"/>
          </a:p>
        </p:txBody>
      </p:sp>
      <p:sp>
        <p:nvSpPr>
          <p:cNvPr id="40" name="Shape 37"/>
          <p:cNvSpPr/>
          <p:nvPr/>
        </p:nvSpPr>
        <p:spPr>
          <a:xfrm>
            <a:off x="548640" y="5321808"/>
            <a:ext cx="11064240" cy="566928"/>
          </a:xfrm>
          <a:prstGeom prst="roundRect">
            <a:avLst>
              <a:gd name="adj" fmla="val 19355"/>
            </a:avLst>
          </a:prstGeom>
          <a:solidFill>
            <a:schemeClr val="bg2"/>
          </a:solidFill>
          <a:ln w="12700">
            <a:solidFill>
              <a:srgbClr val="E2E7EE"/>
            </a:solidFill>
            <a:prstDash val="solid"/>
          </a:ln>
        </p:spPr>
      </p:sp>
      <p:sp>
        <p:nvSpPr>
          <p:cNvPr id="41" name="Shape 38"/>
          <p:cNvSpPr/>
          <p:nvPr/>
        </p:nvSpPr>
        <p:spPr>
          <a:xfrm>
            <a:off x="685800" y="5404104"/>
            <a:ext cx="402336" cy="402336"/>
          </a:xfrm>
          <a:prstGeom prst="ellipse">
            <a:avLst/>
          </a:prstGeom>
          <a:solidFill>
            <a:schemeClr val="accent1"/>
          </a:solidFill>
          <a:ln w="12700">
            <a:solidFill>
              <a:schemeClr val="accent1"/>
            </a:solidFill>
            <a:prstDash val="solid"/>
          </a:ln>
        </p:spPr>
      </p:sp>
      <p:sp>
        <p:nvSpPr>
          <p:cNvPr id="42" name="Text 39"/>
          <p:cNvSpPr txBox="1"/>
          <p:nvPr/>
        </p:nvSpPr>
        <p:spPr>
          <a:xfrm>
            <a:off x="685800" y="540410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7</a:t>
            </a:r>
            <a:endParaRPr lang="en-US" sz="1300" dirty="0"/>
          </a:p>
        </p:txBody>
      </p:sp>
      <p:sp>
        <p:nvSpPr>
          <p:cNvPr id="43" name="Text 40"/>
          <p:cNvSpPr txBox="1"/>
          <p:nvPr/>
        </p:nvSpPr>
        <p:spPr>
          <a:xfrm>
            <a:off x="1280160" y="5321808"/>
            <a:ext cx="2194560"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Ask &amp; remember</a:t>
            </a:r>
            <a:endParaRPr lang="en-US" sz="1500" dirty="0"/>
          </a:p>
        </p:txBody>
      </p:sp>
      <p:sp>
        <p:nvSpPr>
          <p:cNvPr id="44" name="Text 41"/>
          <p:cNvSpPr txBox="1"/>
          <p:nvPr/>
        </p:nvSpPr>
        <p:spPr>
          <a:xfrm>
            <a:off x="3474720" y="5321808"/>
            <a:ext cx="6309360" cy="56692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interrupt / resume, memory per thread</a:t>
            </a:r>
            <a:endParaRPr lang="en-US" sz="1400" dirty="0"/>
          </a:p>
        </p:txBody>
      </p:sp>
      <p:sp>
        <p:nvSpPr>
          <p:cNvPr id="45" name="Text 42"/>
          <p:cNvSpPr txBox="1"/>
          <p:nvPr/>
        </p:nvSpPr>
        <p:spPr>
          <a:xfrm>
            <a:off x="9784080" y="5321808"/>
            <a:ext cx="1691640" cy="56692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TODO 11 + provided</a:t>
            </a:r>
            <a:endParaRPr lang="en-US" sz="1300" dirty="0"/>
          </a:p>
        </p:txBody>
      </p:sp>
      <p:sp>
        <p:nvSpPr>
          <p:cNvPr id="46" name="Text 43"/>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Done = 50 tests green, 8 scenarios behave as expected, and you can explain the cost.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731520" y="2514600"/>
            <a:ext cx="65836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Decide, retrieve, check, remember</a:t>
            </a:r>
            <a:endParaRPr lang="en-US" sz="4000" dirty="0"/>
          </a:p>
        </p:txBody>
      </p:sp>
      <p:sp>
        <p:nvSpPr>
          <p:cNvPr id="4" name="Text 0"/>
          <p:cNvSpPr/>
          <p:nvPr>
            <p:ph idx="100" type="body" hasCustomPrompt="1"/>
          </p:nvPr>
        </p:nvSpPr>
        <p:spPr>
          <a:xfrm>
            <a:off x="731520" y="2011680"/>
            <a:ext cx="6217920" cy="457200"/>
          </a:xfrm>
          <a:prstGeom prst="rect">
            <a:avLst/>
          </a:prstGeom>
          <a:noFill/>
          <a:ln/>
        </p:spPr>
        <p:txBody>
          <a:bodyPr wrap="square" rtlCol="0"/>
          <a:lstStyle/>
          <a:p>
            <a:pPr indent="0" marL="0">
              <a:buNone/>
            </a:pPr>
            <a:r>
              <a:rPr lang="en-US" sz="1600" b="1" spc="300" kern="0" dirty="0">
                <a:solidFill>
                  <a:schemeClr val="accent4"/>
                </a:solidFill>
              </a:rPr>
              <a:t>WRAP-UP</a:t>
            </a:r>
            <a:endParaRPr lang="en-US" sz="1600" dirty="0"/>
          </a:p>
        </p:txBody>
      </p:sp>
      <p:sp>
        <p:nvSpPr>
          <p:cNvPr id="5" name="Text 0"/>
          <p:cNvSpPr/>
          <p:nvPr>
            <p:ph idx="102" type="body" hasCustomPrompt="1"/>
          </p:nvPr>
        </p:nvSpPr>
        <p:spPr>
          <a:xfrm>
            <a:off x="731520" y="3931920"/>
            <a:ext cx="6400800" cy="1463040"/>
          </a:xfrm>
          <a:prstGeom prst="rect">
            <a:avLst/>
          </a:prstGeom>
          <a:noFill/>
          <a:ln/>
        </p:spPr>
        <p:txBody>
          <a:bodyPr wrap="square" rtlCol="0" anchor="t"/>
          <a:lstStyle/>
          <a:p>
            <a:pPr indent="0" marL="0">
              <a:buNone/>
            </a:pPr>
            <a:r>
              <a:rPr lang="en-US" sz="1800" dirty="0">
                <a:solidFill>
                  <a:srgbClr val="CFE9E5"/>
                </a:solidFill>
              </a:rPr>
              <a:t>Lab 1 made retrieval better. Lab 2 makes the decisions around retrieval better. Graph RAG makes the index see connections.</a:t>
            </a:r>
            <a:endParaRPr lang="en-US" sz="1800" dirty="0"/>
          </a:p>
        </p:txBody>
      </p:sp>
      <p:sp>
        <p:nvSpPr>
          <p:cNvPr id="6" name="Shape 3"/>
          <p:cNvSpPr/>
          <p:nvPr/>
        </p:nvSpPr>
        <p:spPr>
          <a:xfrm>
            <a:off x="7680960" y="1280160"/>
            <a:ext cx="3931920" cy="4480560"/>
          </a:xfrm>
          <a:prstGeom prst="roundRect">
            <a:avLst>
              <a:gd name="adj" fmla="val 2791"/>
            </a:avLst>
          </a:prstGeom>
          <a:solidFill>
            <a:srgbClr val="0E4A46"/>
          </a:solidFill>
          <a:ln w="12700">
            <a:solidFill>
              <a:srgbClr val="0E4A46"/>
            </a:solidFill>
            <a:prstDash val="solid"/>
          </a:ln>
        </p:spPr>
      </p:sp>
      <p:sp>
        <p:nvSpPr>
          <p:cNvPr id="7" name="Text 4"/>
          <p:cNvSpPr txBox="1"/>
          <p:nvPr/>
        </p:nvSpPr>
        <p:spPr>
          <a:xfrm>
            <a:off x="7955280" y="1463040"/>
            <a:ext cx="3474720" cy="411480"/>
          </a:xfrm>
          <a:prstGeom prst="rect">
            <a:avLst/>
          </a:prstGeom>
          <a:noFill/>
          <a:ln/>
        </p:spPr>
        <p:txBody>
          <a:bodyPr wrap="square" lIns="0" tIns="0" rIns="0" bIns="0" rtlCol="0" anchor="t"/>
          <a:lstStyle/>
          <a:p>
            <a:pPr indent="0" marL="0">
              <a:buNone/>
            </a:pPr>
            <a:r>
              <a:rPr lang="en-US" sz="1800" b="1" dirty="0">
                <a:solidFill>
                  <a:schemeClr val="accent4"/>
                </a:solidFill>
                <a:latin typeface="Calibri" pitchFamily="34" charset="0"/>
                <a:ea typeface="Calibri" pitchFamily="34" charset="-122"/>
                <a:cs typeface="Calibri" pitchFamily="34" charset="-120"/>
              </a:rPr>
              <a:t>Next: the build deck</a:t>
            </a:r>
            <a:endParaRPr lang="en-US" sz="1800" dirty="0"/>
          </a:p>
        </p:txBody>
      </p:sp>
      <p:sp>
        <p:nvSpPr>
          <p:cNvPr id="8" name="Text 5"/>
          <p:cNvSpPr txBox="1"/>
          <p:nvPr/>
        </p:nvSpPr>
        <p:spPr>
          <a:xfrm>
            <a:off x="7955280" y="2011680"/>
            <a:ext cx="3474720" cy="3566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tools first (TODO 1–2)</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wire the graph (TODO 12)</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nodes, one at a time (TODO 3–11)</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run the 8 scenarios</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compare with MQR + RRF</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discuss cost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B3"/>
                </a:solidFill>
              </a:defRPr>
            </a:lvl1pPr>
          </a:lstStyle>
          <a:p>
            <a:pPr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RAG Lab Teal">
  <a:themeElements>
    <a:clrScheme name="RAG Lab Teal">
      <a:dk1>
        <a:srgbClr val="0F1B2D"/>
      </a:dk1>
      <a:lt1>
        <a:srgbClr val="FFFFFF"/>
      </a:lt1>
      <a:dk2>
        <a:srgbClr val="0B3B38"/>
      </a:dk2>
      <a:lt2>
        <a:srgbClr val="F1F5F7"/>
      </a:lt2>
      <a:accent1>
        <a:srgbClr val="0F766E"/>
      </a:accent1>
      <a:accent2>
        <a:srgbClr val="B45309"/>
      </a:accent2>
      <a:accent3>
        <a:srgbClr val="64748B"/>
      </a:accent3>
      <a:accent4>
        <a:srgbClr val="2DD4BF"/>
      </a:accent4>
      <a:accent5>
        <a:srgbClr val="FDF3E4"/>
      </a:accent5>
      <a:accent6>
        <a:srgbClr val="E3F3F0"/>
      </a:accent6>
      <a:hlink>
        <a:srgbClr val="0F766E"/>
      </a:hlink>
      <a:folHlink>
        <a:srgbClr val="0B4F4A"/>
      </a:folHlink>
    </a:clrScheme>
    <a:fontScheme name="RAG Lab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RAG: concepts</dc:title>
  <dc:subject>PptxGenJS Presentation</dc:subject>
  <dc:creator>FIL Graduate AI Cohort</dc:creator>
  <cp:lastModifiedBy>FIL Graduate AI Cohort</cp:lastModifiedBy>
  <cp:revision>1</cp:revision>
  <dcterms:created xsi:type="dcterms:W3CDTF">2026-10-20T06:11:00Z</dcterms:created>
  <dcterms:modified xsi:type="dcterms:W3CDTF">2026-10-20T06:11:00Z</dcterms:modified>
</cp:coreProperties>
</file>